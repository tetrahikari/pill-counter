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85" r:id="rId36"/>
    <p:sldId id="286" r:id="rId37"/>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8" r:id="rId39"/>
    <p:sldId id="275" r:id="rId21"/>
    <p:sldId id="276" r:id="rId22"/>
    <p:sldId id="277" r:id="rId23"/>
    <p:sldId id="278" r:id="rId24"/>
    <p:sldId id="279" r:id="rId25"/>
    <p:sldId id="287" r:id="rId38"/>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6181b04-7a95-d4c4-dc77-82cb41305266}">
          <p14:sldIdLst>
            <p14:sldId id="256"/>
            <p14:sldId id="257"/>
          </p14:sldIdLst>
        </p14:section>
        <p14:section name="Problem" id="{2b797e37-3aa9-0ef3-36d3-25990e05a669}">
          <p14:sldIdLst>
            <p14:sldId id="258"/>
            <p14:sldId id="259"/>
          </p14:sldIdLst>
        </p14:section>
        <p14:section name="Live demo" id="{c550a4d0-08fb-ff59-467d-607463c06586}">
          <p14:sldIdLst>
            <p14:sldId id="260"/>
          </p14:sldIdLst>
        </p14:section>
        <p14:section name="Data" id="{7f744664-e46b-35cf-279d-b5fd29842c86}">
          <p14:sldIdLst>
            <p14:sldId id="261"/>
            <p14:sldId id="262"/>
          </p14:sldIdLst>
        </p14:section>
        <p14:section name="Model" id="{b5fab7f8-bfe1-7aec-84ee-ad1de03d477a}">
          <p14:sldIdLst>
            <p14:sldId id="263"/>
            <p14:sldId id="264"/>
            <p14:sldId id="265"/>
            <p14:sldId id="266"/>
            <p14:sldId id="267"/>
            <p14:sldId id="268"/>
            <p14:sldId id="269"/>
            <p14:sldId id="270"/>
            <p14:sldId id="271"/>
          </p14:sldIdLst>
        </p14:section>
        <p14:section name="Evaluation" id="{0ddd41d3-a5bb-a715-27bd-7d616b1c44df}">
          <p14:sldIdLst>
            <p14:sldId id="272"/>
            <p14:sldId id="273"/>
            <p14:sldId id="274"/>
            <p14:sldId id="275"/>
            <p14:sldId id="276"/>
            <p14:sldId id="277"/>
            <p14:sldId id="278"/>
            <p14:sldId id="279"/>
          </p14:sldIdLst>
        </p14:section>
        <p14:section name="Limits and next steps" id="{71c5a242-3a70-88d9-a211-e81f0fbbc29f}">
          <p14:sldIdLst>
            <p14:sldId id="280"/>
            <p14:sldId id="281"/>
          </p14:sldIdLst>
        </p14:section>
        <p14:section name="Appendix" id="{fa784929-d276-d3d7-cbd7-a82d3146ebe2}">
          <p14:sldIdLst>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8.xml"/><Relationship Id="rId27" Type="http://schemas.openxmlformats.org/officeDocument/2006/relationships/slide" Target="slides/slide29.xml"/><Relationship Id="rId28" Type="http://schemas.openxmlformats.org/officeDocument/2006/relationships/slide" Target="slides/slide30.xml"/><Relationship Id="rId29" Type="http://schemas.openxmlformats.org/officeDocument/2006/relationships/slide" Target="slides/slide31.xml"/><Relationship Id="rId30" Type="http://schemas.openxmlformats.org/officeDocument/2006/relationships/slide" Target="slides/slide32.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4.xml"/><Relationship Id="rId37" Type="http://schemas.openxmlformats.org/officeDocument/2006/relationships/slide" Target="slides/slide5.xml"/><Relationship Id="rId38" Type="http://schemas.openxmlformats.org/officeDocument/2006/relationships/slide" Target="slides/slide27.xml"/><Relationship Id="rId39" Type="http://schemas.openxmlformats.org/officeDocument/2006/relationships/slide" Target="slides/slide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3B43"/>
                </a:solidFill>
                <a:latin typeface="+mn-lt"/>
              </a:defRPr>
            </a:pPr>
            <a:r>
              <a:rPr sz="1300" b="0" i="0" u="none" strike="noStrike">
                <a:solidFill>
                  <a:srgbClr val="0E3B43"/>
                </a:solidFill>
                <a:latin typeface="+mn-lt"/>
              </a:rPr>
              <a:t>Parameters (millions)</a:t>
            </a:r>
          </a:p>
        </c:rich>
      </c:tx>
      <c:layout/>
      <c:overlay val="0"/>
    </c:title>
    <c:autoTitleDeleted val="0"/>
    <c:plotArea>
      <c:layout/>
      <c:barChart>
        <c:barDir val="col"/>
        <c:grouping val="clustered"/>
        <c:varyColors val="0"/>
        <c:ser>
          <c:idx val="0"/>
          <c:order val="0"/>
          <c:tx>
            <c:strRef>
              <c:f>Sheet1!$B$1</c:f>
              <c:strCache>
                <c:ptCount val="1"/>
                <c:pt idx="0">
                  <c:v>Parameters (millions)</c:v>
                </c:pt>
              </c:strCache>
            </c:strRef>
          </c:tx>
          <c:spPr>
            <a:solidFill>
              <a:srgbClr val="138A7E"/>
            </a:solidFill>
            <a:effectLst/>
          </c:spPr>
          <c:invertIfNegative val="0"/>
          <c:dLbls>
            <c:numFmt formatCode="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cat>
            <c:multiLvlStrRef>
              <c:f>Sheet1!$A$2:$A$6</c:f>
              <c:multiLvlStrCache>
                <c:ptCount val="5"/>
                <c:lvl>
                  <c:pt idx="0">
                    <c:v>11n</c:v>
                  </c:pt>
                  <c:pt idx="1">
                    <c:v>11s</c:v>
                  </c:pt>
                  <c:pt idx="2">
                    <c:v>11m</c:v>
                  </c:pt>
                  <c:pt idx="3">
                    <c:v>11l</c:v>
                  </c:pt>
                  <c:pt idx="4">
                    <c:v>11x</c:v>
                  </c:pt>
                </c:lvl>
              </c:multiLvlStrCache>
            </c:multiLvlStrRef>
          </c:cat>
          <c:val>
            <c:numRef>
              <c:f>Sheet1!$B$2:$B$6</c:f>
              <c:numCache>
                <c:formatCode>General</c:formatCode>
                <c:ptCount val="5"/>
                <c:pt idx="0">
                  <c:v>2.6</c:v>
                </c:pt>
                <c:pt idx="1">
                  <c:v>9.5</c:v>
                </c:pt>
                <c:pt idx="2">
                  <c:v>20.1</c:v>
                </c:pt>
                <c:pt idx="3">
                  <c:v>25.4</c:v>
                </c:pt>
                <c:pt idx="4">
                  <c:v>57</c:v>
                </c:pt>
              </c:numCache>
            </c:numRef>
          </c:val>
        </c:ser>
        <c:dLbls>
          <c:numFmt formatCode="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3B43"/>
                </a:solidFill>
                <a:latin typeface="+mn-lt"/>
              </a:defRPr>
            </a:pPr>
            <a:r>
              <a:rPr sz="1300" b="0" i="0" u="none" strike="noStrike">
                <a:solidFill>
                  <a:srgbClr val="0E3B43"/>
                </a:solidFill>
                <a:latin typeface="+mn-lt"/>
              </a:rPr>
              <a:t>Average miss per photo (MAE, pills)</a:t>
            </a:r>
          </a:p>
        </c:rich>
      </c:tx>
      <c:layout/>
      <c:overlay val="0"/>
    </c:title>
    <c:autoTitleDeleted val="0"/>
    <c:plotArea>
      <c:layout/>
      <c:barChart>
        <c:barDir val="bar"/>
        <c:grouping val="clustered"/>
        <c:varyColors val="0"/>
        <c:ser>
          <c:idx val="0"/>
          <c:order val="0"/>
          <c:tx>
            <c:strRef>
              <c:f>Sheet1!$B$1</c:f>
              <c:strCache>
                <c:ptCount val="1"/>
                <c:pt idx="0">
                  <c:v>MAE (pills)</c:v>
                </c:pt>
              </c:strCache>
            </c:strRef>
          </c:tx>
          <c:spPr>
            <a:solidFill>
              <a:srgbClr val="138A7E"/>
            </a:solidFill>
            <a:effectLst/>
          </c:spPr>
          <c:invertIfNegative val="0"/>
          <c:dLbls>
            <c:numFmt formatCode="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cat>
            <c:multiLvlStrRef>
              <c:f>Sheet1!$A$2:$A$6</c:f>
              <c:multiLvlStrCache>
                <c:ptCount val="5"/>
                <c:lvl>
                  <c:pt idx="0">
                    <c:v>L1 Guess average</c:v>
                  </c:pt>
                  <c:pt idx="1">
                    <c:v>L2 Classical</c:v>
                  </c:pt>
                  <c:pt idx="2">
                    <c:v>L3 Pretrained YOLO</c:v>
                  </c:pt>
                  <c:pt idx="3">
                    <c:v>L4 v4 pill model</c:v>
                  </c:pt>
                  <c:pt idx="4">
                    <c:v>L5 Fine-tuned</c:v>
                  </c:pt>
                </c:lvl>
              </c:multiLvlStrCache>
            </c:multiLvlStrRef>
          </c:cat>
          <c:val>
            <c:numRef>
              <c:f>Sheet1!$B$2:$B$6</c:f>
              <c:numCache>
                <c:formatCode>General</c:formatCode>
                <c:ptCount val="5"/>
                <c:pt idx="0">
                  <c:v>1</c:v>
                </c:pt>
                <c:pt idx="1">
                  <c:v>16.4</c:v>
                </c:pt>
                <c:pt idx="2">
                  <c:v>2.8</c:v>
                </c:pt>
                <c:pt idx="3">
                  <c:v>1</c:v>
                </c:pt>
                <c:pt idx="4">
                  <c:v>0</c:v>
                </c:pt>
              </c:numCache>
            </c:numRef>
          </c:val>
        </c:ser>
        <c:dLbls>
          <c:numFmt formatCode="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9"/>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thai_v2 · my photos</c:v>
                </c:pt>
              </c:strCache>
            </c:strRef>
          </c:tx>
          <c:spPr>
            <a:solidFill>
              <a:srgbClr val="5E6F78"/>
            </a:solidFill>
            <a:effectLst/>
          </c:spPr>
          <c:invertIfNegative val="0"/>
          <c:dLbls>
            <c:numFmt formatCode="0&quot;%&quot;"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strRef>
              <c:f>Sheet1!$A$2:$A$7</c:f>
              <c:strCache>
                <c:ptCount val="6"/>
                <c:pt idx="0">
                  <c:v>Tablets s06</c:v>
                </c:pt>
                <c:pt idx="1">
                  <c:v>Caplets s13</c:v>
                </c:pt>
                <c:pt idx="2">
                  <c:v>Minis s18</c:v>
                </c:pt>
                <c:pt idx="3">
                  <c:v>Tablets s23</c:v>
                </c:pt>
                <c:pt idx="4">
                  <c:v>Crowded s26</c:v>
                </c:pt>
                <c:pt idx="5">
                  <c:v>All</c:v>
                </c:pt>
              </c:strCache>
            </c:strRef>
          </c:cat>
          <c:val>
            <c:numRef>
              <c:f>Sheet1!$B$2:$B$7</c:f>
              <c:numCache>
                <c:formatCode>0"%"</c:formatCode>
                <c:ptCount val="6"/>
                <c:pt idx="0">
                  <c:v>100</c:v>
                </c:pt>
                <c:pt idx="1">
                  <c:v>70</c:v>
                </c:pt>
                <c:pt idx="2">
                  <c:v>100</c:v>
                </c:pt>
                <c:pt idx="3">
                  <c:v>100</c:v>
                </c:pt>
                <c:pt idx="4">
                  <c:v>63</c:v>
                </c:pt>
                <c:pt idx="5">
                  <c:v>77</c:v>
                </c:pt>
              </c:numCache>
            </c:numRef>
          </c:val>
        </c:ser>
        <c:ser>
          <c:idx val="1"/>
          <c:order val="1"/>
          <c:tx>
            <c:strRef>
              <c:f>Sheet1!$C$1</c:f>
              <c:strCache>
                <c:ptCount val="1"/>
                <c:pt idx="0">
                  <c:v>thai_mix_s1024 · + public multi-drug (now)</c:v>
                </c:pt>
              </c:strCache>
            </c:strRef>
          </c:tx>
          <c:spPr>
            <a:solidFill>
              <a:srgbClr val="138A7E"/>
            </a:solidFill>
            <a:effectLst/>
          </c:spPr>
          <c:invertIfNegative val="0"/>
          <c:dLbls>
            <c:numFmt formatCode="0&quot;%&quot;"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strRef>
              <c:f>Sheet1!$A$2:$A$7</c:f>
              <c:strCache>
                <c:ptCount val="6"/>
                <c:pt idx="0">
                  <c:v>Tablets s06</c:v>
                </c:pt>
                <c:pt idx="1">
                  <c:v>Caplets s13</c:v>
                </c:pt>
                <c:pt idx="2">
                  <c:v>Minis s18</c:v>
                </c:pt>
                <c:pt idx="3">
                  <c:v>Tablets s23</c:v>
                </c:pt>
                <c:pt idx="4">
                  <c:v>Crowded s26</c:v>
                </c:pt>
                <c:pt idx="5">
                  <c:v>All</c:v>
                </c:pt>
              </c:strCache>
            </c:strRef>
          </c:cat>
          <c:val>
            <c:numRef>
              <c:f>Sheet1!$C$2:$C$7</c:f>
              <c:numCache>
                <c:formatCode>0"%"</c:formatCode>
                <c:ptCount val="6"/>
                <c:pt idx="0">
                  <c:v>100</c:v>
                </c:pt>
                <c:pt idx="1">
                  <c:v>80</c:v>
                </c:pt>
                <c:pt idx="2">
                  <c:v>100</c:v>
                </c:pt>
                <c:pt idx="3">
                  <c:v>100</c:v>
                </c:pt>
                <c:pt idx="4">
                  <c:v>93</c:v>
                </c:pt>
                <c:pt idx="5">
                  <c:v>93</c:v>
                </c:pt>
              </c:numCache>
            </c:numRef>
          </c:val>
        </c:ser>
        <c:dLbls>
          <c:numFmt formatCode="0&quot;%&quot;"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3B43"/>
                </a:solidFill>
                <a:latin typeface="+mn-lt"/>
              </a:defRPr>
            </a:pPr>
            <a:r>
              <a:rPr sz="1200" b="0" i="0" u="none" strike="noStrike">
                <a:solidFill>
                  <a:srgbClr val="0E3B43"/>
                </a:solidFill>
                <a:latin typeface="+mn-lt"/>
              </a:rPr>
              <a:t>All three form counts exact (% of photos)</a:t>
            </a:r>
          </a:p>
        </c:rich>
      </c:tx>
      <c:layout/>
      <c:overlay val="0"/>
    </c:title>
    <c:autoTitleDeleted val="0"/>
    <c:plotArea>
      <c:layout/>
      <c:barChart>
        <c:barDir val="bar"/>
        <c:grouping val="clustered"/>
        <c:varyColors val="0"/>
        <c:ser>
          <c:idx val="0"/>
          <c:order val="0"/>
          <c:tx>
            <c:strRef>
              <c:f>Sheet1!$B$1</c:f>
              <c:strCache>
                <c:ptCount val="1"/>
                <c:pt idx="0">
                  <c:v>All three forms exact (% of photos)</c:v>
                </c:pt>
              </c:strCache>
            </c:strRef>
          </c:tx>
          <c:spPr>
            <a:solidFill>
              <a:srgbClr val="138A7E"/>
            </a:solidFill>
            <a:effectLst/>
          </c:spPr>
          <c:invertIfNegative val="0"/>
          <c:dLbls>
            <c:numFmt formatCode="0&quot;%&quot;"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strRef>
              <c:f>Sheet1!$A$2:$A$6</c:f>
              <c:strCache>
                <c:ptCount val="5"/>
                <c:pt idx="0">
                  <c:v>thai + classifier v1</c:v>
                </c:pt>
                <c:pt idx="1">
                  <c:v>thai + v2 (floor tablets)</c:v>
                </c:pt>
                <c:pt idx="2">
                  <c:v>thai_v2 + v2</c:v>
                </c:pt>
                <c:pt idx="3">
                  <c:v>thai_v2 + v3</c:v>
                </c:pt>
                <c:pt idx="4">
                  <c:v>thai_mix_s1024 + v3 (now)</c:v>
                </c:pt>
              </c:strCache>
            </c:strRef>
          </c:cat>
          <c:val>
            <c:numRef>
              <c:f>Sheet1!$B$2:$B$6</c:f>
              <c:numCache>
                <c:formatCode>0"%"</c:formatCode>
                <c:ptCount val="5"/>
                <c:pt idx="0">
                  <c:v>0</c:v>
                </c:pt>
                <c:pt idx="1">
                  <c:v>40</c:v>
                </c:pt>
                <c:pt idx="2">
                  <c:v>30</c:v>
                </c:pt>
                <c:pt idx="3">
                  <c:v>55</c:v>
                </c:pt>
                <c:pt idx="4">
                  <c:v>90</c:v>
                </c:pt>
              </c:numCache>
            </c:numRef>
          </c:val>
        </c:ser>
        <c:dLbls>
          <c:numFmt formatCode="0&quot;%&quot;"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By hand</c:v>
                </c:pt>
              </c:strCache>
            </c:strRef>
          </c:tx>
          <c:spPr>
            <a:solidFill>
              <a:srgbClr val="5E6F78"/>
            </a:solidFill>
          </c:spPr>
          <c:cat>
            <c:strRef>
              <c:f>Sheet1!$A$2:$A$4</c:f>
              <c:strCache>
                <c:ptCount val="3"/>
                <c:pt idx="0">
                  <c:v>10 pills</c:v>
                </c:pt>
                <c:pt idx="1">
                  <c:v>50 pills</c:v>
                </c:pt>
                <c:pt idx="2">
                  <c:v>100 pills</c:v>
                </c:pt>
              </c:strCache>
            </c:strRef>
          </c:cat>
          <c:val>
            <c:numRef>
              <c:f>Sheet1!$B$2:$B$4</c:f>
              <c:numCache>
                <c:formatCode>0.0" s"</c:formatCode>
                <c:ptCount val="3"/>
                <c:pt idx="0">
                  <c:v>3.55</c:v>
                </c:pt>
                <c:pt idx="1">
                  <c:v>22</c:v>
                </c:pt>
                <c:pt idx="2">
                  <c:v>48.81</c:v>
                </c:pt>
              </c:numCache>
            </c:numRef>
          </c:val>
        </c:ser>
        <c:ser>
          <c:idx val="1"/>
          <c:order val="1"/>
          <c:tx>
            <c:strRef>
              <c:f>Sheet1!$C$1</c:f>
              <c:strCache>
                <c:ptCount val="1"/>
                <c:pt idx="0">
                  <c:v>PillTally (processing)</c:v>
                </c:pt>
              </c:strCache>
            </c:strRef>
          </c:tx>
          <c:spPr>
            <a:solidFill>
              <a:srgbClr val="138A7E"/>
            </a:solidFill>
          </c:spPr>
          <c:cat>
            <c:strRef>
              <c:f>Sheet1!$A$2:$A$4</c:f>
              <c:strCache>
                <c:ptCount val="3"/>
                <c:pt idx="0">
                  <c:v>10 pills</c:v>
                </c:pt>
                <c:pt idx="1">
                  <c:v>50 pills</c:v>
                </c:pt>
                <c:pt idx="2">
                  <c:v>100 pills</c:v>
                </c:pt>
              </c:strCache>
            </c:strRef>
          </c:cat>
          <c:val>
            <c:numRef>
              <c:f>Sheet1!$C$2:$C$4</c:f>
              <c:numCache>
                <c:formatCode>0.0" s"</c:formatCode>
                <c:ptCount val="3"/>
                <c:pt idx="0">
                  <c:v>0.4</c:v>
                </c:pt>
                <c:pt idx="1">
                  <c:v>0.5</c:v>
                </c:pt>
                <c:pt idx="2">
                  <c:v>0.6</c:v>
                </c:pt>
              </c:numCache>
            </c:numRef>
          </c:val>
        </c:ser>
        <c:dLbls>
          <c:numFmt formatCode="0.0&quot; s&quot;" sourceLinked="0"/>
          <c:txPr>
            <a:bodyPr/>
            <a:lstStyle/>
            <a:p>
              <a:pPr>
                <a:defRPr sz="1100">
                  <a:solidFill>
                    <a:srgbClr val="1B2A33"/>
                  </a:solidFill>
                  <a:latin typeface="+mn-lt"/>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888888"/>
            </a:solidFill>
          </a:ln>
        </c:spPr>
        <c:txPr>
          <a:bodyPr/>
          <a:lstStyle/>
          <a:p>
            <a:pPr>
              <a:defRPr sz="1100">
                <a:solidFill>
                  <a:srgbClr val="1B2A33"/>
                </a:solidFill>
                <a:latin typeface="+mn-lt"/>
              </a:defRPr>
            </a:pPr>
          </a:p>
        </c:txPr>
        <c:crossAx val="-2113994440"/>
        <c:crosses val="autoZero"/>
        <c:auto val="1"/>
        <c:lblAlgn val="ctr"/>
        <c:lblOffset val="100"/>
        <c:noMultiLvlLbl val="0"/>
      </c:catAx>
      <c:valAx>
        <c:axId val="-2113994440"/>
        <c:scaling>
          <c:max val="56.0"/>
        </c:scaling>
        <c:delete/>
        <c:axPos val="l"/>
        <c:majorTickMark val="out"/>
        <c:minorTickMark val="none"/>
        <c:tickLblPos val="nextTo"/>
        <c:crossAx val="-2068027336"/>
        <c:crosses val="autoZero"/>
      </c:valAx>
    </c:plotArea>
    <c:legend>
      <c:legendPos val="b"/>
      <c:overlay val="0"/>
      <c:txPr>
        <a:bodyPr/>
        <a:lstStyle/>
        <a:p>
          <a:pPr>
            <a:defRPr sz="1100">
              <a:solidFill>
                <a:srgbClr val="1B2A33"/>
              </a:solidFill>
              <a:latin typeface="+mn-lt"/>
            </a:defRPr>
          </a:pPr>
        </a:p>
      </c:txPr>
    </c:legend>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Photos counted exactly</c:v>
                </c:pt>
              </c:strCache>
            </c:strRef>
          </c:tx>
          <c:dPt>
            <c:idx val="0"/>
            <c:spPr>
              <a:solidFill>
                <a:srgbClr val="5E6F78"/>
              </a:solidFill>
            </c:spPr>
          </c:dPt>
          <c:dPt>
            <c:idx val="1"/>
            <c:spPr>
              <a:solidFill>
                <a:srgbClr val="5E6F78"/>
              </a:solidFill>
            </c:spPr>
          </c:dPt>
          <c:dPt>
            <c:idx val="2"/>
            <c:spPr>
              <a:solidFill>
                <a:srgbClr val="5E6F78"/>
              </a:solidFill>
            </c:spPr>
          </c:dPt>
          <c:dPt>
            <c:idx val="3"/>
            <c:spPr>
              <a:solidFill>
                <a:srgbClr val="138A7E"/>
              </a:solidFill>
            </c:spPr>
          </c:dPt>
          <c:dPt>
            <c:idx val="4"/>
            <c:spPr>
              <a:solidFill>
                <a:srgbClr val="138A7E"/>
              </a:solidFill>
            </c:spPr>
          </c:dPt>
          <c:dPt>
            <c:idx val="5"/>
            <c:spPr>
              <a:solidFill>
                <a:srgbClr val="138A7E"/>
              </a:solidFill>
            </c:spPr>
          </c:dPt>
          <c:dPt>
            <c:idx val="6"/>
            <c:spPr>
              <a:solidFill>
                <a:srgbClr val="6C5CE7"/>
              </a:solidFill>
            </c:spPr>
          </c:dPt>
          <c:cat>
            <c:strRef>
              <c:f>Sheet1!$A$2:$A$8</c:f>
              <c:strCache>
                <c:ptCount val="7"/>
                <c:pt idx="0">
                  <c:v>L1 guess the average</c:v>
                </c:pt>
                <c:pt idx="1">
                  <c:v>L2 classical (no ML)</c:v>
                </c:pt>
                <c:pt idx="2">
                  <c:v>L3 pretrained YOLO</c:v>
                </c:pt>
                <c:pt idx="3">
                  <c:v>L4 public pill model</c:v>
                </c:pt>
                <c:pt idx="4">
                  <c:v>L5 thai_v2 (my photos)</c:v>
                </c:pt>
                <c:pt idx="5">
                  <c:v>L5 thai_v3_m1024 (m)</c:v>
                </c:pt>
                <c:pt idx="6">
                  <c:v>L5 app: thai_mix_s1024</c:v>
                </c:pt>
              </c:strCache>
            </c:strRef>
          </c:cat>
          <c:val>
            <c:numRef>
              <c:f>Sheet1!$B$2:$B$8</c:f>
              <c:numCache>
                <c:formatCode>0"%"</c:formatCode>
                <c:ptCount val="7"/>
                <c:pt idx="0">
                  <c:v>0</c:v>
                </c:pt>
                <c:pt idx="1">
                  <c:v>4</c:v>
                </c:pt>
                <c:pt idx="2">
                  <c:v>0</c:v>
                </c:pt>
                <c:pt idx="3">
                  <c:v>82</c:v>
                </c:pt>
                <c:pt idx="4">
                  <c:v>93</c:v>
                </c:pt>
                <c:pt idx="5">
                  <c:v>82</c:v>
                </c:pt>
                <c:pt idx="6">
                  <c:v>89</c:v>
                </c:pt>
              </c:numCache>
            </c:numRef>
          </c:val>
        </c:ser>
        <c:dLbls>
          <c:numFmt formatCode="0&quot;%&quot;" sourceLinked="0"/>
          <c:txPr>
            <a:bodyPr/>
            <a:lstStyle/>
            <a:p>
              <a:pPr>
                <a:defRPr sz="1100">
                  <a:solidFill>
                    <a:srgbClr val="1B2A33"/>
                  </a:solidFill>
                  <a:latin typeface="+mn-lt"/>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888888"/>
            </a:solidFill>
          </a:ln>
        </c:spPr>
        <c:txPr>
          <a:bodyPr/>
          <a:lstStyle/>
          <a:p>
            <a:pPr>
              <a:defRPr sz="1100">
                <a:solidFill>
                  <a:srgbClr val="1B2A33"/>
                </a:solidFill>
                <a:latin typeface="+mn-lt"/>
              </a:defRPr>
            </a:pPr>
          </a:p>
        </c:txPr>
        <c:crossAx val="-2113994440"/>
        <c:crosses val="autoZero"/>
        <c:auto val="1"/>
        <c:lblAlgn val="ctr"/>
        <c:lblOffset val="100"/>
        <c:noMultiLvlLbl val="0"/>
      </c:catAx>
      <c:valAx>
        <c:axId val="-2113994440"/>
        <c:scaling>
          <c:max val="11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Photos counted exactly</c:v>
                </c:pt>
              </c:strCache>
            </c:strRef>
          </c:tx>
          <c:dPt>
            <c:idx val="0"/>
            <c:spPr>
              <a:solidFill>
                <a:srgbClr val="5E6F78"/>
              </a:solidFill>
            </c:spPr>
          </c:dPt>
          <c:dPt>
            <c:idx val="1"/>
            <c:spPr>
              <a:solidFill>
                <a:srgbClr val="5E6F78"/>
              </a:solidFill>
            </c:spPr>
          </c:dPt>
          <c:dPt>
            <c:idx val="2"/>
            <c:spPr>
              <a:solidFill>
                <a:srgbClr val="138A7E"/>
              </a:solidFill>
            </c:spPr>
          </c:dPt>
          <c:dPt>
            <c:idx val="3"/>
            <c:spPr>
              <a:solidFill>
                <a:srgbClr val="6C5CE7"/>
              </a:solidFill>
            </c:spPr>
          </c:dPt>
          <c:cat>
            <c:strRef>
              <c:f>Sheet1!$A$2:$A$5</c:f>
              <c:strCache>
                <c:ptCount val="4"/>
                <c:pt idx="0">
                  <c:v>thai_v3_m1024 (my 3 drugs, m)</c:v>
                </c:pt>
                <c:pt idx="1">
                  <c:v>thai_v2 (my 3 drugs, s)</c:v>
                </c:pt>
                <c:pt idx="2">
                  <c:v>thai_v4m (m, + v4 trays)</c:v>
                </c:pt>
                <c:pt idx="3">
                  <c:v>app: thai_mix_s1024 (+ 110 drugs)</c:v>
                </c:pt>
              </c:strCache>
            </c:strRef>
          </c:cat>
          <c:val>
            <c:numRef>
              <c:f>Sheet1!$B$2:$B$5</c:f>
              <c:numCache>
                <c:formatCode>0"%"</c:formatCode>
                <c:ptCount val="4"/>
                <c:pt idx="0">
                  <c:v>17</c:v>
                </c:pt>
                <c:pt idx="1">
                  <c:v>23</c:v>
                </c:pt>
                <c:pt idx="2">
                  <c:v>37</c:v>
                </c:pt>
                <c:pt idx="3">
                  <c:v>58</c:v>
                </c:pt>
              </c:numCache>
            </c:numRef>
          </c:val>
        </c:ser>
        <c:dLbls>
          <c:numFmt formatCode="0&quot;%&quot;" sourceLinked="0"/>
          <c:txPr>
            <a:bodyPr/>
            <a:lstStyle/>
            <a:p>
              <a:pPr>
                <a:defRPr sz="1100">
                  <a:solidFill>
                    <a:srgbClr val="1B2A33"/>
                  </a:solidFill>
                  <a:latin typeface="+mn-lt"/>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888888"/>
            </a:solidFill>
          </a:ln>
        </c:spPr>
        <c:txPr>
          <a:bodyPr/>
          <a:lstStyle/>
          <a:p>
            <a:pPr>
              <a:defRPr sz="1100">
                <a:solidFill>
                  <a:srgbClr val="1B2A33"/>
                </a:solidFill>
                <a:latin typeface="+mn-lt"/>
              </a:defRPr>
            </a:pPr>
          </a:p>
        </c:txPr>
        <c:crossAx val="-2113994440"/>
        <c:crosses val="autoZero"/>
        <c:auto val="1"/>
        <c:lblAlgn val="ctr"/>
        <c:lblOffset val="100"/>
        <c:noMultiLvlLbl val="0"/>
      </c:catAx>
      <c:valAx>
        <c:axId val="-2113994440"/>
        <c:scaling>
          <c:max val="75.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Peeranat. My project is PillTally: you spread pills on a tray, take one photo with a phone, and it gives the count with a box around every pill, so the pharmacist can check the result at a glance. The photo on the right is one of my own test photos: 45 pills, and the model found all 45. I'll show you the problem briefly, then the live demo, then how the data, model and evaluation work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About a minute on the problem, then the live demo early so you can try it yourself. After that I'll go under the hood: the data, the model and how I trained it, how I evaluated it against five baselines, and finally what works and what doesn't yet. Please interrupt any time to try your own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pharmacy, staff count 30, 60 or 90 tablets for long-term prescriptions, sliding them five at a time on a tray. It's slow and a miscount either shortchanges the patient or loses stock. The alternative is a counting machine, which is expensive. Counting ten separated pills is easy for any method. It gets hard when pills touch, when they're identical, when the background is busy like a granite counter, and when photos come from different phones and distances. Those four conditions are what my evaluation focuses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framed counting as object detection: the model draws a box around each pill, and the count is simply the number of boxes. I could have used a regression or density-map model that outputs only a number, but then the pharmacist can't see what was counted. With boxes, every pill is visible and the uncertain ones are flagged in orange, so the pharmacist always confirms. Then a second, small model looks at each pill on its own and says its form: tablet, caplet or mini tablet. If the pharmacist picks the expected form, any pill that doesn't match gets a red box. That safety point was in my proposal: the tool assists the check, it doesn't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 [Open http://&lt;Mac IP&gt;:3000 on the phone.] The page runs in the phone's browser. When I take a photo, the browser sends it at full resolution to Next.js, which forwards it to a FastAPI server running the two models: the counter and the form classifier, which needs the detail. [Take a photo.] The same photo is counted by two methods at once. The AI tab: green boxes are confident, orange ones are worth a second look. The Old way tab is a classical image-processing method with no machine learning, which I'll explain in the evaluation. If I type the hand count, each tab shows how far off it is. [Pick a pill form, e.g. caplet, then add one tablet: it gets a red box.] [Invite the reviewer to try: a mixed tray, touching pills, distance.] The server takes about half a second; the rest is upload time. Every photo is also saved locally, so failures can become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used public data and my own photos. First, Pill Counting v4 from Roboflow Universe: 1,236 photos of pharmacy counting trays with 71 thousand labeled pills. Later I added a second public set, Pill-Counter v2: 1,255 photos of 110 different drugs, because a counter trained only on my three medicines counted other medicines badly. Second, my own photos: 22 single-form sessions plus 4 crowded mixed trays of 90 to 97 pills, 256 photos, every pile counted by hand, plus one mixed tray, s20, used only for testing.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Labeling 1,880 pills by hand would be slow, so I pre-labeled: the v4 model suggested 1,937 boxes, and I corrected them in Roboflow. (Roboflow is a web platform for computer-vision datasets: I used its annotation editor to fix boxes and its export to get YOLO-format labels. I did not train on Roboflow; training ran in Colab and on my Mac.) After my corrections 47 of 50 photos matched the hand count. A script then flagged unusually small boxes; I looked at each one and removed 4 boxes sitting on granite specks. Final result: every one of the 50 photos has exactly as many boxes as its hand count. For the later caplet, mini-tablet and floor-tile tablet sessions, the current model pre-labeled them and was already exact on 68 of 80 photos; after corrections all 159 photos match their hand counts. The four crowded mixed trays were recounted by hand and checked the same way: with the mixed tray s20, all 276 labeled photos match. For the split, the important thing is leakage: each pile was photographed 5 times, so if photos of the same pile were in train and test, the test would be too easy. So I split by session: 15 piles for training, including three crowded mixed trays, 5 for validation, including one crowded tray, 6 for test, and the same split for both models. Two test piles are blue tablets on brown cloth in warm light, a condition never seen in training. The mixed tray is only for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counter is YOLO11s, trained with supervised transfer learning in steps. I start from yolo11s.pt, pretrained on COCO: Level 3. Then I fine-tune on the public v4 pill dataset: Level 4, a general pill model. Then Level 5, the app's counter: fine-tuned on my own photos together with public photos of 110 other drugs. My photos are repeated six times so they're about a third of every epoch, and the public ones keep it general. Key choices: 1024-pixel input because pills are small; freeze the backbone first, then unfreeze at a low learning rate; rotation and flips; max_det 500 so big piles aren't capped.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going into my model, what is a CNN? To a computer, an image is just a grid of numbers. A normal fully connected network would connect every pixel to every neuron: for a 224 by 224 color image that's 150 thousand inputs, so one layer of 1,000 neurons already needs 150 million weights. That's too much memory and it overfits. A CNN fixes this with small filters, for example 3 by 3, so only 9 weights, that slide across the image and are reused everywhere. 
READING THE PICTURE, left to right: Input image: the pixels. Convolution + ReLU: many filters slide over the image; each produces a feature map that is high where its pattern appears, and ReLU keeps only the positive responses. Pooling: shrinks each feature map, keeping the strongest signal in each small region. Repeated several times: this is the feature extraction part. Early layers find edges, later layers combine them into shapes and then whole objects, and each layer sees a wider area of the image. Flatten + fully connected layer: in a classification CNN, the final features are flattened into one long list and a small fully connected layer turns them into class probabilities, like the 0.3, 0.1, 0.2, 0.9 on the right. 
THE 4 STEPS on the right: 1 slide a filter (multiply and add, move one step). 2 stack layers (edges, then shapes, then objects). 3 shrink as you go (stride 2 or max pooling). 4 learn the filters (backpropagation sets the weights, nobody writes them by hand). 
SAY THIS: this picture is a classification CNN, it outputs one label for the whole image. YOLO uses the same feature extraction part, but it does not flatten. It keeps the spatial grid and predicts a box and a score at every grid cell. That's what I show in Inside YOLO11s. 
IF ASKED "Your picture has a fully connected layer, but you said CNNs avoid them?": The fully connected layer is only at the very end, on a small set of features, so it's cheap. The expensive part, connecting every pixel, is what the convolutions replace. And YOLO has no fully connected layer at all. 
Next, I'll show what these filters actually learned inside my own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YOLO11 is exactly this kind of network, so here is what its filters learned. These are real feature maps from my trained model on one of my photos. Layer 1, still at 256 by 256, reacts to simple things: the pills' brightness and the stamp texture. By layer 4, at 128 by 128, a channel responds to curved pill outlines. By layer 6, at 64 by 64, a channel gives one spot per pill: the network has learned the concept 'pill here'. This is the edges-to-objects idea from the previous slide, inside my own model. Weight sharing is why the whole of YOLO11s has 9.5 million weights, while one fully connected layer of 1,000 neurons on a 1024 by 1024 color image would need 3.1 billion. And the contrast with my Level 2 baseline: there I wrote the rule 'bright and round is a pill' by hand, and it broke on shadows and granite. Here, backpropagation learned the filters from labeled examples. How I chose these channels: each layer has 64 to 256 channels; for each I picked the one that best matches a target, edges, pill discs or pill centres. So they're real channels, chosen to illustrate.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happens inside YOLO11 in one forward pass. The s and m sizes have exactly these layers; m is just wider and deeper. The photo is resized to 1024 by 1024. The backbone is a convolutional network: five convolutions with stride 2 shrink the image by 32 while building richer features; C3k2 blocks are its main feature extractors, C3k2 blocks use residual connections, the ResNet idea from class. SPPF is repeated 5 by 5 max pooling, which captures context at several sizes, and C2PSA adds a small attention block. The neck is a feature pyramid: it combines the fine, high-resolution features with the coarse, context-rich ones, top-down and bottom-up. The head is anchor-free and predicts at three scales. The finest grid is 128 by 128 with 8-pixel cells, which is the one that matters for small pills. Every cell predicts a box and a pill score: that's 21,504 candidates, which the confidence threshold and NMS reduce to the final boxes. This is why I use 1024 input: my pills are about 54 pixels wide, roughly 7 cells on the finest grid. At the default 640 they'd only cover 4 cells. And when I froze 10 layers during fine-tuning, that's layers 0 to 9, the backbone up to SPPF.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is supervised. First, the model has to decide which of its 21 thousand predictions should be responsible for each labeled pill. YOLO11 uses the Task-Aligned Assigner: for each labeled pill it picks the 10 cells whose predictions have the best combination of class score and overlap with the label. Those are trained to predict that pill; all other cells are trained to say 'no pill'. Second, the loss has three parts. CIoU loss, weighted 7.5, scores how well the predicted box overlaps the label, including centre distance and shape. Distribution Focal Loss, weighted 1.5: each side of the box is predicted as a 16-bin distribution rather than one number, which gives sharper edges. And binary cross-entropy, weighted 0.5, for the pill-or-not score, since I have one class. Third, SGD updates the weights; my learning rates were 0.005 while frozen and 0.001 unfrozen. Augmentation creates variety each batch: mosaic tiles four photos, plus rotation, flips, scale and brightness. The best epoch on validation is kept, and training stops after 25 epochs without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kind of model? I compared it with the alternatives. Classical rules need no training, but my Level 2 results show they break. Density-map regression is good for counting huge crowds, but it only gives a number, so the pharmacist can't check it. Two-stage detectors like Faster R-CNN are accurate but slower and heavier to serve. Transformer detectors like RT-DETR remove NMS, but they use a fixed set of about 300 queries, which caps the count right where my target piles are, and they need more data. Segmentation would give pill outlines but needs polygon labels, which is far slower to label. A one-stage YOLO detector is fast, gives boxes, and fine-tunes well from little data. Its weakness is NMS with touching objects, which is exactly why I tune the IoU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YOLO11 comes in five sizes. I tried both small and medium. The medium model trained on my photos only looked best on my own crowded trays, but it counted other people's medicines exactly on only 17 percent of photos. The small model trained on my photos plus public photos of 110 drugs beat every medium model: 93 percent on validation, 93 on the crowded tray, and it's twice as fast, 0.2 seconds per photo. So data mattered more than model size here. A medium model on the same mixed data is the obvious next experiment.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pill forms I added a second model instead of giving the detector three classes. Step one, the counter draws a box on every pill, with one class, pill, so it learns from every pill I have. Step two, each box is cut out of the full-resolution photo, and everything outside the pill is grayed out, so the classifier only sees the pill itself. These are real crops from my test set. Step three, a small classifier, YOLO11n-cls pretrained on ImageNet, says tablet, caplet or mini tablet. This needs no extra labels: each session holds one form, so every crop gets its form from the session name. And adding a new form only means retraining the small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detector outputs many candidate boxes, each with a confidence score. Two settings decide which boxes become the count. The confidence cut-off: too low and shadows count, too high and real pills are dropped. The NMS overlap limit: when two boxes overlap more than this, only the stronger one is kept. Too low and touching pills merge; too high and one pill gets two boxes. This matters a lot for crowded scenes: on the v4 validation set, just tuning these two numbers took exact counts from 34.6% to 76.4% without retraining. I tune them on validation only, never on test. I choose by lowest average error, which is steadier than the exact rate on a few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evaluate five levels, each adding one ingredient. Level 1 guesses the average count: the floor. Level 2 is classical image processing with no machine learning: threshold the colors, split touching pills with the watershed method, count regions. I tuned its settings on the training photos only, same rule as the model. Level 3 is the pretrained YOLO with no pill training. Level 4 is the public-data pill model. Level 5 is my fine-tuned model. The main metric is exact count rate, because a pharmacy needs the exact number; I also report average error in pills. Confidence intervals resample whole sessions, not single photos, because five photos of the same pile aren't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validation results, on one pile of 39 pills on granite, the hardest surface. The fine-tuned model counted all five photos exactly. The public-data model got one of five, off by one or two pills. The classical method got none and missed 16 pills per photo on average. The pretrained model with no pill training missed almost 3. Notice Level 1, guessing the average, misses only 1 pill: that's because all my piles are 25 to 50 pills, so the average is close by luck. With piles of 10 to 300 that would fail badly. I want to be clear that this is optimistic: it's one pile and the thresholds were tuned on it. The test set, three held-out piles, is the real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validation comparison, with every photo scored one at a time, exactly as the app runs. thai_v2 was trained on my photos; the new counter, thai_mix_s1024, also learned from public photos of 110 other drugs. It counts 93 percent of validation photos exactly against 77, and the crowded 90-pill tray goes from 63 to 93 percent. An honest note: for a while my tuning script scored photos differently from the app, because mixed photo sizes made the library pad every photo to a square. Fixing that changed the best overlap setting from 0.4 to 0.6, and that's one reason the crowded caplets are now counted. I come back to that on the lessons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5 ended with a minimum viable evaluation checklist, so here's where I stand on each point. Metric: exact count rate, because, as the lecture said, the metric is a product decision, and a pharmacy needs the exact number. MAE tells me how far off I am when I'm wrong. Baselines: I have the types from the lecture: predict the mean, a simple heuristic, and previous versions of my own model. Proper evaluation: split by session to avoid the same-session leakage pitfall, thresholds tuned only on validation, and the test set is guarded in code so it can only run once. Confidence: I compute bootstrap confidence intervals over whole sessions, but with one validation pile and three test piles they're wide. The lecture also says to be suspicious of perfect results: my 100% on validation is exactly that, which is why I treat the test set as the real number. The fix is more sessions, or leave-one-session-out cross-validation, which the lecture recommends for small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why the classical method fails, on the same validation photo. Left is my model: 39 out of 39, with a few orange boxes where it's less sure. Right is the classical method: 12. Its rules say a pill is a bright round region of a certain size. Shadows attach to pills and make long blobs, touching pills merge, and this photo was taken a bit farther away so the pills are smaller than the size it was tuned for, and most are ignored. The learned model handles all three because it learned what a pill looks like at any size. This is the core claim of my proposal: a learned detector beats classical image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fine-tune at all, if v4 already knows pills? Before any training on my data, the v4 model got 68% exact on my 50 photos. On plain surfaces it was almost perfect, 24 of 25, but every error was on granite: it counted bright specks as pills and gave real pills low scores, in the same score range, so no single threshold could fix both. After fine-tuning on my photos, that problem disappears. To be honest about this slide: s05 is a training session, so I'm showing it to explain the mechanism, not as an evaluation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lesson of this project. Three times the form classifier looked perfect, and three times a harder test showed it was using a shortcut. First, background: with the whole crop visible, a blue pill surrounded by white pills was called white 89 percent of the time. I found it by pasting pills onto the other class's background, and fixed it by masking everything except the pill: 100 percent. Second, lighting: all my caplets and mini tablets were photographed on one floor tile, and no tablets were, so it learned that this floor's light means caplet. The pasted test missed it, because a pasted pill keeps its own lighting. Only the real mixed tray showed it: zero of 20 photos had the right tablet count. I photographed tablets on the same floor, and it went to 18 of 20. Third, box size: it was trained on my hand-checked boxes, and the new counter draws slightly different boxes, so tablets dropped to 84 percent. Training on randomly resized and shifted boxes fixed it: 99.7 percent. This is Lecture 5's warning in practice: be suspicious of near-perfect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honest end-to-end test is a real mixed tray: 20 tablets, 40 caplets and 22 mini tablets, photographed 20 times, never used for training or choosing. The bars show how often all three form counts were exactly right: zero with the first classifier, 55 percent with thai_v2, and 90 percent now. The total count is exact on 19 of 20 photos. The earlier misses were caplets in a heap: the model saw them, but the overlap filter removed them. With the overlap setting chosen correctly on validation, they're counted. Caveat: it's one tray, so 20 photos.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works: the counter is exact on 93 percent of validation photos and 89 percent of test photos, the mixed tray is fully right on 90 percent of photos, the form classifier is right on 99.9 percent of pills, and a photo goes in and the count comes out in about a second. What doesn't yet: I tested up to 100 pills; 150 to 300 is untested. On other people's medicines it's 58 percent exact: much better than before, not yet good enough. The test set has only 6 sessions, so confidence intervals are wide, and I used it twice, which I've disclosed. The classifier can't see real pill size, and the server runs on my Mac.</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Next steps. First, more data: the app already saves every photo, so real mistakes become new labeled sessions, and the crowded trays need more surfaces, since they're all on one beige tray now. Second, more medicines: capsules, colored and scored tablets. Because counting and form are separate models, a new form only means retraining the small classifier. Third, the look-alike problem: a reference card in the photo gives real pill size, and for truly identical drugs the answer isn't vision, it's scanning the stock bottle's barcode. Fourth, export the model to run on the phone itself, offline. And finally a pilot at one dispensing counter, measuring time and miscounts against today's hand counting. Thank you. I'm happy to take questions or walk through any of the code.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technical Q&amp;A: use it to jump to the right file when the reviewer asks how a part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maps each lecture to where it appears in the project, to show the techniques come from the course. Lecture 4 (time series, recommender systems) doesn't apply to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answers to questions the reviewer is likely to ask. Be ready to open the matching file from the code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does it actually save time? I timed the same piles both ways. By hand, counting five at a time like a pharmacy, 10 pills took 3.6 seconds, 50 took 22 and 100 took 49. Per pill that's 0.46 seconds, and it gets slower as the pile grows, because you have to keep track. PillTally's processing took 0.4 to 0.6 seconds per photo, almost the same for 10 or 100 pills: 9 milliseconds per pill, about 50 times faster. And it counted all three piles exactly.</a:t>
            </a:r>
          </a:p>
          <a:p/>
          <a:p>
            <a:r>
              <a:t>To be fair: the PillTally time is processing after the photo; picking up the phone and taking the photo adds a few seconds. Even with 10 seconds added, 100 pills take about a fifth of the hand time, which beats my proposal's target of 50 percent less time. These are single timings on my own piles, so a pilot should measure it properly.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alternative to hand counting today is a counting machine. List prices: a camera-based GSE Eyecon from about 7,500 dollars, a Kirby Lester KL1 from about 4,700, a budget RxCount Rx-4 at 2,499, and counters sold in Thailand from 49,000 to 126,000 baht, though those are mostly bottling counters for factories. That's per counter, and it takes counter space.</a:t>
            </a:r>
          </a:p>
          <a:p/>
          <a:p>
            <a:r>
              <a:t>PillTally runs on the phones the staff already carry. The model server can run on a PC the pharmacy already has, so no extra hardware, or on a small cloud server: about 7 cents an hour in AWS's Thailand region, roughly 15 dollars a month for opening hours. One server serves every counter.</a:t>
            </a:r>
          </a:p>
          <a:p/>
          <a:p>
            <a:r>
              <a:t>To be fair to the machines: they're certified, supported and don't need a network. PillTally is an assistant the pharmacist checks, not a certified device, and I haven't measured its speed on a small cloud CPU yet.</a:t>
            </a:r>
          </a:p>
          <a:p/>
          <a:p>
            <a:r>
              <a:t>Sources: rxcount.com/2019/03/12/how-much-do-pill-counters-cost (Eyecon, KL1, Rx-4; 2019 prices); ebay.com/p/25044062330 (KL1 Plus); dotmed.com (used Eyecon 9400); panyachemipan.com (DXS-2A 125,900 baht; SPN400 49,000 baht); compute.doit.com (AWS c7g.large, ap-southeast-7 Thailand, $0.0708 per hour on demand).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was chosen on validation, then scored on the held-out test set: 45 photos of 6 piles, including blue tablets on brown cloth never seen in training. To be transparent: I used the test set twice. Run 1 scored my earlier models; after I added public multi-drug data and fixed how validation photos were scored, run 2 scored the final model. Both runs are logged and reported.</a:t>
            </a:r>
          </a:p>
          <a:p/>
          <a:p>
            <a:r>
              <a:t>The baselines fail: guessing the average and the pretrained YOLO get nothing exact, the classical method 4 percent. The learned counters get 82 to 93 percent. The app's counter gets 89, slightly below thai_v2's 93; its 5 misses are 1 or 2 pills, and the confidence intervals overlap. I kept the app counter because it was chosen on validation, and because it counts other people's medicines far better: 58 against 23 percent exact on 187 photos no model trained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Would it work on someone else's medicines? I counted 187 public photos of drugs I never photographed, which no model trained on. The medium model trained only on my three medicines got 17 percent exact, thai_v2 23. Adding public pill data helps: the medium model through the v4 trays gets 37, and the app's counter, trained with public photos of 110 drugs, gets 58 percent, with an average miss of 0.7 pills. Caveat: these photos are unseen, but come from the same public source as part of its training data.</a:t>
            </a:r>
          </a:p>
          <a:p/>
          <a:p>
            <a:r>
              <a:t>Two lessons. First, data variety mattered more than model size. Second, evaluate the way you deploy: my tuning script fed validation photos as one batch, and because some photos had a different size, the library padded all of them to a square, unlike the app. That picked an overlap setting of 0.4, which merged heaped caplets. Scoring photos one at a time, like the app, picked 0.6 and fixed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48056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423160"/>
            <a:ext cx="448056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1051560"/>
            <a:ext cx="8046720" cy="41148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
        <p:nvSpPr>
          <p:cNvPr id="4"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accent6"/>
                </a:solidFill>
              </a:rPr>
              <a:t>PillTally · Applied AI demo</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 Id="rId3" Type="http://schemas.openxmlformats.org/officeDocument/2006/relationships/notesSlide" Target="../notesSlides/notesSlide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6.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chart" Target="../charts/chart4.xml"/><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6.xml"/><Relationship Id="rId3" Type="http://schemas.openxmlformats.org/officeDocument/2006/relationships/notesSlide" Target="../notesSlides/notesSlide32.xml"/></Relationships>
</file>

<file path=ppt/slides/_rels/slide28.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7.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480560" cy="1097280"/>
          </a:xfrm>
          <a:prstGeom prst="rect">
            <a:avLst/>
          </a:prstGeom>
          <a:noFill/>
          <a:ln/>
        </p:spPr>
        <p:txBody>
          <a:bodyPr wrap="square" lIns="0" tIns="0" rIns="0" bIns="0" rtlCol="0" anchor="b"/>
          <a:lstStyle/>
          <a:p>
            <a:pPr algn="l" indent="0" marL="0">
              <a:buNone/>
            </a:pPr>
            <a:r>
              <a:rPr lang="en-US" sz="4800" b="1" dirty="0">
                <a:solidFill>
                  <a:schemeClr val="bg1"/>
                </a:solidFill>
              </a:rPr>
              <a:t>PillTally</a:t>
            </a:r>
            <a:endParaRPr lang="en-US" sz="4800" dirty="0"/>
          </a:p>
        </p:txBody>
      </p:sp>
      <p:sp>
        <p:nvSpPr>
          <p:cNvPr id="3" name="Text 0"/>
          <p:cNvSpPr/>
          <p:nvPr>
            <p:ph idx="101" type="body" hasCustomPrompt="1"/>
          </p:nvPr>
        </p:nvSpPr>
        <p:spPr>
          <a:xfrm>
            <a:off x="548640" y="2423160"/>
            <a:ext cx="4480560" cy="1463040"/>
          </a:xfrm>
          <a:prstGeom prst="rect">
            <a:avLst/>
          </a:prstGeom>
          <a:noFill/>
          <a:ln/>
        </p:spPr>
        <p:txBody>
          <a:bodyPr wrap="square" lIns="0" tIns="0" rIns="0" bIns="0" rtlCol="0" anchor="t"/>
          <a:lstStyle/>
          <a:p>
            <a:pPr indent="0" marL="0">
              <a:buNone/>
            </a:pPr>
            <a:r>
              <a:rPr lang="en-US" sz="1800" dirty="0">
                <a:solidFill>
                  <a:schemeClr val="bg2"/>
                </a:solidFill>
              </a:rPr>
              <a:t>Counting pills from one phone photo</a:t>
            </a:r>
            <a:endParaRPr lang="en-US" sz="1800" dirty="0"/>
          </a:p>
          <a:p>
            <a:pPr indent="0" marL="0">
              <a:buNone/>
            </a:pPr>
            <a:r>
              <a:rPr lang="en-US" sz="1000" dirty="0">
                <a:solidFill>
                  <a:schemeClr val="bg2"/>
                </a:solidFill>
              </a:rPr>
              <a:t> </a:t>
            </a:r>
            <a:endParaRPr lang="en-US" sz="1800" dirty="0"/>
          </a:p>
          <a:p>
            <a:pPr indent="0" marL="0">
              <a:buNone/>
            </a:pPr>
            <a:r>
              <a:rPr lang="en-US" sz="1400" dirty="0">
                <a:solidFill>
                  <a:schemeClr val="bg2"/>
                </a:solidFill>
              </a:rPr>
              <a:t>Applied AI · computer vision · live demo</a:t>
            </a:r>
            <a:endParaRPr lang="en-US" sz="1800" dirty="0"/>
          </a:p>
          <a:p>
            <a:pPr indent="0" marL="0">
              <a:buNone/>
            </a:pPr>
            <a:r>
              <a:rPr lang="en-US" sz="1400" dirty="0">
                <a:solidFill>
                  <a:schemeClr val="bg2"/>
                </a:solidFill>
              </a:rPr>
              <a:t>Peeranat Patarakittisopol</a:t>
            </a:r>
            <a:endParaRPr lang="en-US" sz="1800" dirty="0"/>
          </a:p>
        </p:txBody>
      </p:sp>
      <p:pic>
        <p:nvPicPr>
          <p:cNvPr id="4" name="Image 0" descr="/private/tmp/claude-501/-Users-pee-Documents-projectss/830d9427-1c57-4896-95df-e61c1a8daabe/scratchpad/deck/img/hero.jpg">    </p:cNvPr>
          <p:cNvPicPr>
            <a:picLocks noChangeAspect="1"/>
          </p:cNvPicPr>
          <p:nvPr/>
        </p:nvPicPr>
        <p:blipFill>
          <a:blip r:embed="rId1"/>
          <a:stretch>
            <a:fillRect/>
          </a:stretch>
        </p:blipFill>
        <p:spPr>
          <a:xfrm>
            <a:off x="5394960" y="502920"/>
            <a:ext cx="3291840" cy="3291840"/>
          </a:xfrm>
          <a:prstGeom prst="rect">
            <a:avLst/>
          </a:prstGeom>
        </p:spPr>
      </p:pic>
      <p:sp>
        <p:nvSpPr>
          <p:cNvPr id="5" name="Text 2"/>
          <p:cNvSpPr txBox="1"/>
          <p:nvPr/>
        </p:nvSpPr>
        <p:spPr>
          <a:xfrm>
            <a:off x="5394960" y="3977640"/>
            <a:ext cx="32918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45 pills found · 45 on the tray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The next 11 minutes</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A short setup, the live demo, then what is under the hood</a:t>
            </a:r>
            <a:endParaRPr lang="en-US" sz="1500" dirty="0"/>
          </a:p>
        </p:txBody>
      </p:sp>
      <p:sp>
        <p:nvSpPr>
          <p:cNvPr id="4" name="Shape 2"/>
          <p:cNvSpPr/>
          <p:nvPr/>
        </p:nvSpPr>
        <p:spPr>
          <a:xfrm>
            <a:off x="457200" y="1508760"/>
            <a:ext cx="1261872" cy="2651760"/>
          </a:xfrm>
          <a:prstGeom prst="roundRect">
            <a:avLst>
              <a:gd name="adj" fmla="val 8696"/>
            </a:avLst>
          </a:prstGeom>
          <a:solidFill>
            <a:schemeClr val="bg2"/>
          </a:solidFill>
          <a:ln/>
        </p:spPr>
      </p:sp>
      <p:sp>
        <p:nvSpPr>
          <p:cNvPr id="5" name="Shape 3"/>
          <p:cNvSpPr/>
          <p:nvPr/>
        </p:nvSpPr>
        <p:spPr>
          <a:xfrm>
            <a:off x="859536" y="1691640"/>
            <a:ext cx="457200" cy="457200"/>
          </a:xfrm>
          <a:prstGeom prst="ellipse">
            <a:avLst/>
          </a:prstGeom>
          <a:solidFill>
            <a:schemeClr val="accent1"/>
          </a:solidFill>
          <a:ln/>
        </p:spPr>
      </p:sp>
      <p:sp>
        <p:nvSpPr>
          <p:cNvPr id="6" name="Text 4"/>
          <p:cNvSpPr txBox="1"/>
          <p:nvPr/>
        </p:nvSpPr>
        <p:spPr>
          <a:xfrm>
            <a:off x="859536"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548640" y="2331720"/>
            <a:ext cx="1078992" cy="365760"/>
          </a:xfrm>
          <a:prstGeom prst="rect">
            <a:avLst/>
          </a:prstGeom>
          <a:noFill/>
          <a:ln/>
        </p:spPr>
        <p:txBody>
          <a:bodyPr wrap="square" lIns="0" tIns="0" rIns="0" bIns="0" rtlCol="0" anchor="t"/>
          <a:lstStyle/>
          <a:p>
            <a:pPr algn="ctr" indent="0" marL="0">
              <a:buNone/>
            </a:pPr>
            <a:r>
              <a:rPr lang="en-US" sz="1600" b="1" dirty="0">
                <a:solidFill>
                  <a:schemeClr val="tx2"/>
                </a:solidFill>
              </a:rPr>
              <a:t>Problem</a:t>
            </a:r>
            <a:endParaRPr lang="en-US" sz="1600" dirty="0"/>
          </a:p>
        </p:txBody>
      </p:sp>
      <p:sp>
        <p:nvSpPr>
          <p:cNvPr id="8" name="Text 6"/>
          <p:cNvSpPr txBox="1"/>
          <p:nvPr/>
        </p:nvSpPr>
        <p:spPr>
          <a:xfrm>
            <a:off x="548640" y="2743200"/>
            <a:ext cx="1078992" cy="731520"/>
          </a:xfrm>
          <a:prstGeom prst="rect">
            <a:avLst/>
          </a:prstGeom>
          <a:noFill/>
          <a:ln/>
        </p:spPr>
        <p:txBody>
          <a:bodyPr wrap="square" lIns="0" tIns="0" rIns="0" bIns="0" rtlCol="0" anchor="t"/>
          <a:lstStyle/>
          <a:p>
            <a:pPr algn="ctr" indent="0" marL="0">
              <a:buNone/>
            </a:pPr>
            <a:r>
              <a:rPr lang="en-US" sz="1200" dirty="0">
                <a:solidFill>
                  <a:schemeClr val="tx1"/>
                </a:solidFill>
              </a:rPr>
              <a:t>Why counting is hard</a:t>
            </a:r>
            <a:endParaRPr lang="en-US" sz="1200" dirty="0"/>
          </a:p>
        </p:txBody>
      </p:sp>
      <p:sp>
        <p:nvSpPr>
          <p:cNvPr id="9" name="Text 7"/>
          <p:cNvSpPr txBox="1"/>
          <p:nvPr/>
        </p:nvSpPr>
        <p:spPr>
          <a:xfrm>
            <a:off x="676656" y="3657600"/>
            <a:ext cx="822960" cy="292608"/>
          </a:xfrm>
          <a:prstGeom prst="roundRect">
            <a:avLst>
              <a:gd name="adj" fmla="val 50000"/>
            </a:avLst>
          </a:prstGeom>
          <a:solidFill>
            <a:schemeClr val="accent6"/>
          </a:solidFill>
          <a:ln/>
        </p:spPr>
        <p:txBody>
          <a:bodyPr wrap="square" lIns="0" tIns="0" rIns="0" bIns="0" rtlCol="0" anchor="ctr"/>
          <a:lstStyle/>
          <a:p>
            <a:pPr algn="ctr" indent="0" marL="0">
              <a:buNone/>
            </a:pPr>
            <a:r>
              <a:rPr lang="en-US" sz="1000" b="1" dirty="0">
                <a:solidFill>
                  <a:schemeClr val="bg1"/>
                </a:solidFill>
              </a:rPr>
              <a:t>1 min</a:t>
            </a:r>
            <a:endParaRPr lang="en-US" sz="1000" dirty="0"/>
          </a:p>
        </p:txBody>
      </p:sp>
      <p:sp>
        <p:nvSpPr>
          <p:cNvPr id="10" name="Shape 8"/>
          <p:cNvSpPr/>
          <p:nvPr/>
        </p:nvSpPr>
        <p:spPr>
          <a:xfrm>
            <a:off x="1856232" y="1508760"/>
            <a:ext cx="1261872" cy="2651760"/>
          </a:xfrm>
          <a:prstGeom prst="roundRect">
            <a:avLst>
              <a:gd name="adj" fmla="val 8696"/>
            </a:avLst>
          </a:prstGeom>
          <a:solidFill>
            <a:schemeClr val="bg2"/>
          </a:solidFill>
          <a:ln/>
        </p:spPr>
      </p:sp>
      <p:sp>
        <p:nvSpPr>
          <p:cNvPr id="11" name="Shape 9"/>
          <p:cNvSpPr/>
          <p:nvPr/>
        </p:nvSpPr>
        <p:spPr>
          <a:xfrm>
            <a:off x="2258568" y="1691640"/>
            <a:ext cx="457200" cy="457200"/>
          </a:xfrm>
          <a:prstGeom prst="ellipse">
            <a:avLst/>
          </a:prstGeom>
          <a:solidFill>
            <a:schemeClr val="accent2"/>
          </a:solidFill>
          <a:ln/>
        </p:spPr>
      </p:sp>
      <p:sp>
        <p:nvSpPr>
          <p:cNvPr id="12" name="Text 10"/>
          <p:cNvSpPr txBox="1"/>
          <p:nvPr/>
        </p:nvSpPr>
        <p:spPr>
          <a:xfrm>
            <a:off x="2258568"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1"/>
          <p:cNvSpPr txBox="1"/>
          <p:nvPr/>
        </p:nvSpPr>
        <p:spPr>
          <a:xfrm>
            <a:off x="1947672" y="2331720"/>
            <a:ext cx="1078992" cy="365760"/>
          </a:xfrm>
          <a:prstGeom prst="rect">
            <a:avLst/>
          </a:prstGeom>
          <a:noFill/>
          <a:ln/>
        </p:spPr>
        <p:txBody>
          <a:bodyPr wrap="square" lIns="0" tIns="0" rIns="0" bIns="0" rtlCol="0" anchor="t"/>
          <a:lstStyle/>
          <a:p>
            <a:pPr algn="ctr" indent="0" marL="0">
              <a:buNone/>
            </a:pPr>
            <a:r>
              <a:rPr lang="en-US" sz="1600" b="1" dirty="0">
                <a:solidFill>
                  <a:schemeClr val="tx2"/>
                </a:solidFill>
              </a:rPr>
              <a:t>Live demo</a:t>
            </a:r>
            <a:endParaRPr lang="en-US" sz="1600" dirty="0"/>
          </a:p>
        </p:txBody>
      </p:sp>
      <p:sp>
        <p:nvSpPr>
          <p:cNvPr id="14" name="Text 12"/>
          <p:cNvSpPr txBox="1"/>
          <p:nvPr/>
        </p:nvSpPr>
        <p:spPr>
          <a:xfrm>
            <a:off x="1947672" y="2743200"/>
            <a:ext cx="1078992" cy="731520"/>
          </a:xfrm>
          <a:prstGeom prst="rect">
            <a:avLst/>
          </a:prstGeom>
          <a:noFill/>
          <a:ln/>
        </p:spPr>
        <p:txBody>
          <a:bodyPr wrap="square" lIns="0" tIns="0" rIns="0" bIns="0" rtlCol="0" anchor="t"/>
          <a:lstStyle/>
          <a:p>
            <a:pPr algn="ctr" indent="0" marL="0">
              <a:buNone/>
            </a:pPr>
            <a:r>
              <a:rPr lang="en-US" sz="1200" dirty="0">
                <a:solidFill>
                  <a:schemeClr val="tx1"/>
                </a:solidFill>
              </a:rPr>
              <a:t>Phone photo in, count out</a:t>
            </a:r>
            <a:endParaRPr lang="en-US" sz="1200" dirty="0"/>
          </a:p>
        </p:txBody>
      </p:sp>
      <p:sp>
        <p:nvSpPr>
          <p:cNvPr id="15" name="Text 13"/>
          <p:cNvSpPr txBox="1"/>
          <p:nvPr/>
        </p:nvSpPr>
        <p:spPr>
          <a:xfrm>
            <a:off x="2075688" y="3657600"/>
            <a:ext cx="822960" cy="292608"/>
          </a:xfrm>
          <a:prstGeom prst="roundRect">
            <a:avLst>
              <a:gd name="adj" fmla="val 50000"/>
            </a:avLst>
          </a:prstGeom>
          <a:solidFill>
            <a:schemeClr val="accent6"/>
          </a:solidFill>
          <a:ln/>
        </p:spPr>
        <p:txBody>
          <a:bodyPr wrap="square" lIns="0" tIns="0" rIns="0" bIns="0" rtlCol="0" anchor="ctr"/>
          <a:lstStyle/>
          <a:p>
            <a:pPr algn="ctr" indent="0" marL="0">
              <a:buNone/>
            </a:pPr>
            <a:r>
              <a:rPr lang="en-US" sz="1000" b="1" dirty="0">
                <a:solidFill>
                  <a:schemeClr val="bg1"/>
                </a:solidFill>
              </a:rPr>
              <a:t>3 min</a:t>
            </a:r>
            <a:endParaRPr lang="en-US" sz="1000" dirty="0"/>
          </a:p>
        </p:txBody>
      </p:sp>
      <p:sp>
        <p:nvSpPr>
          <p:cNvPr id="16" name="Shape 14"/>
          <p:cNvSpPr/>
          <p:nvPr/>
        </p:nvSpPr>
        <p:spPr>
          <a:xfrm>
            <a:off x="3255264" y="1508760"/>
            <a:ext cx="1261872" cy="2651760"/>
          </a:xfrm>
          <a:prstGeom prst="roundRect">
            <a:avLst>
              <a:gd name="adj" fmla="val 8696"/>
            </a:avLst>
          </a:prstGeom>
          <a:solidFill>
            <a:schemeClr val="bg2"/>
          </a:solidFill>
          <a:ln/>
        </p:spPr>
      </p:sp>
      <p:sp>
        <p:nvSpPr>
          <p:cNvPr id="17" name="Shape 15"/>
          <p:cNvSpPr/>
          <p:nvPr/>
        </p:nvSpPr>
        <p:spPr>
          <a:xfrm>
            <a:off x="3657600" y="1691640"/>
            <a:ext cx="457200" cy="457200"/>
          </a:xfrm>
          <a:prstGeom prst="ellipse">
            <a:avLst/>
          </a:prstGeom>
          <a:solidFill>
            <a:schemeClr val="accent1"/>
          </a:solidFill>
          <a:ln/>
        </p:spPr>
      </p:sp>
      <p:sp>
        <p:nvSpPr>
          <p:cNvPr id="18" name="Text 16"/>
          <p:cNvSpPr txBox="1"/>
          <p:nvPr/>
        </p:nvSpPr>
        <p:spPr>
          <a:xfrm>
            <a:off x="3657600"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9" name="Text 17"/>
          <p:cNvSpPr txBox="1"/>
          <p:nvPr/>
        </p:nvSpPr>
        <p:spPr>
          <a:xfrm>
            <a:off x="3346704" y="2331720"/>
            <a:ext cx="1078992" cy="365760"/>
          </a:xfrm>
          <a:prstGeom prst="rect">
            <a:avLst/>
          </a:prstGeom>
          <a:noFill/>
          <a:ln/>
        </p:spPr>
        <p:txBody>
          <a:bodyPr wrap="square" lIns="0" tIns="0" rIns="0" bIns="0" rtlCol="0" anchor="t"/>
          <a:lstStyle/>
          <a:p>
            <a:pPr algn="ctr" indent="0" marL="0">
              <a:buNone/>
            </a:pPr>
            <a:r>
              <a:rPr lang="en-US" sz="1600" b="1" dirty="0">
                <a:solidFill>
                  <a:schemeClr val="tx2"/>
                </a:solidFill>
              </a:rPr>
              <a:t>Data</a:t>
            </a:r>
            <a:endParaRPr lang="en-US" sz="1600" dirty="0"/>
          </a:p>
        </p:txBody>
      </p:sp>
      <p:sp>
        <p:nvSpPr>
          <p:cNvPr id="20" name="Text 18"/>
          <p:cNvSpPr txBox="1"/>
          <p:nvPr/>
        </p:nvSpPr>
        <p:spPr>
          <a:xfrm>
            <a:off x="3346704" y="2743200"/>
            <a:ext cx="1078992" cy="731520"/>
          </a:xfrm>
          <a:prstGeom prst="rect">
            <a:avLst/>
          </a:prstGeom>
          <a:noFill/>
          <a:ln/>
        </p:spPr>
        <p:txBody>
          <a:bodyPr wrap="square" lIns="0" tIns="0" rIns="0" bIns="0" rtlCol="0" anchor="t"/>
          <a:lstStyle/>
          <a:p>
            <a:pPr algn="ctr" indent="0" marL="0">
              <a:buNone/>
            </a:pPr>
            <a:r>
              <a:rPr lang="en-US" sz="1200" dirty="0">
                <a:solidFill>
                  <a:schemeClr val="tx1"/>
                </a:solidFill>
              </a:rPr>
              <a:t>Public + own photos, labels</a:t>
            </a:r>
            <a:endParaRPr lang="en-US" sz="1200" dirty="0"/>
          </a:p>
        </p:txBody>
      </p:sp>
      <p:sp>
        <p:nvSpPr>
          <p:cNvPr id="21" name="Text 19"/>
          <p:cNvSpPr txBox="1"/>
          <p:nvPr/>
        </p:nvSpPr>
        <p:spPr>
          <a:xfrm>
            <a:off x="3474720" y="3657600"/>
            <a:ext cx="822960" cy="292608"/>
          </a:xfrm>
          <a:prstGeom prst="roundRect">
            <a:avLst>
              <a:gd name="adj" fmla="val 50000"/>
            </a:avLst>
          </a:prstGeom>
          <a:solidFill>
            <a:schemeClr val="accent6"/>
          </a:solidFill>
          <a:ln/>
        </p:spPr>
        <p:txBody>
          <a:bodyPr wrap="square" lIns="0" tIns="0" rIns="0" bIns="0" rtlCol="0" anchor="ctr"/>
          <a:lstStyle/>
          <a:p>
            <a:pPr algn="ctr" indent="0" marL="0">
              <a:buNone/>
            </a:pPr>
            <a:r>
              <a:rPr lang="en-US" sz="1000" b="1" dirty="0">
                <a:solidFill>
                  <a:schemeClr val="bg1"/>
                </a:solidFill>
              </a:rPr>
              <a:t>1 min</a:t>
            </a:r>
            <a:endParaRPr lang="en-US" sz="1000" dirty="0"/>
          </a:p>
        </p:txBody>
      </p:sp>
      <p:sp>
        <p:nvSpPr>
          <p:cNvPr id="22" name="Shape 20"/>
          <p:cNvSpPr/>
          <p:nvPr/>
        </p:nvSpPr>
        <p:spPr>
          <a:xfrm>
            <a:off x="4654296" y="1508760"/>
            <a:ext cx="1261872" cy="2651760"/>
          </a:xfrm>
          <a:prstGeom prst="roundRect">
            <a:avLst>
              <a:gd name="adj" fmla="val 8696"/>
            </a:avLst>
          </a:prstGeom>
          <a:solidFill>
            <a:schemeClr val="bg2"/>
          </a:solidFill>
          <a:ln/>
        </p:spPr>
      </p:sp>
      <p:sp>
        <p:nvSpPr>
          <p:cNvPr id="23" name="Shape 21"/>
          <p:cNvSpPr/>
          <p:nvPr/>
        </p:nvSpPr>
        <p:spPr>
          <a:xfrm>
            <a:off x="5056632" y="1691640"/>
            <a:ext cx="457200" cy="457200"/>
          </a:xfrm>
          <a:prstGeom prst="ellipse">
            <a:avLst/>
          </a:prstGeom>
          <a:solidFill>
            <a:schemeClr val="accent1"/>
          </a:solidFill>
          <a:ln/>
        </p:spPr>
      </p:sp>
      <p:sp>
        <p:nvSpPr>
          <p:cNvPr id="24" name="Text 22"/>
          <p:cNvSpPr txBox="1"/>
          <p:nvPr/>
        </p:nvSpPr>
        <p:spPr>
          <a:xfrm>
            <a:off x="5056632"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5" name="Text 23"/>
          <p:cNvSpPr txBox="1"/>
          <p:nvPr/>
        </p:nvSpPr>
        <p:spPr>
          <a:xfrm>
            <a:off x="4745736" y="2331720"/>
            <a:ext cx="1078992" cy="365760"/>
          </a:xfrm>
          <a:prstGeom prst="rect">
            <a:avLst/>
          </a:prstGeom>
          <a:noFill/>
          <a:ln/>
        </p:spPr>
        <p:txBody>
          <a:bodyPr wrap="square" lIns="0" tIns="0" rIns="0" bIns="0" rtlCol="0" anchor="t"/>
          <a:lstStyle/>
          <a:p>
            <a:pPr algn="ctr" indent="0" marL="0">
              <a:buNone/>
            </a:pPr>
            <a:r>
              <a:rPr lang="en-US" sz="1600" b="1" dirty="0">
                <a:solidFill>
                  <a:schemeClr val="tx2"/>
                </a:solidFill>
              </a:rPr>
              <a:t>Model</a:t>
            </a:r>
            <a:endParaRPr lang="en-US" sz="1600" dirty="0"/>
          </a:p>
        </p:txBody>
      </p:sp>
      <p:sp>
        <p:nvSpPr>
          <p:cNvPr id="26" name="Text 24"/>
          <p:cNvSpPr txBox="1"/>
          <p:nvPr/>
        </p:nvSpPr>
        <p:spPr>
          <a:xfrm>
            <a:off x="4745736" y="2743200"/>
            <a:ext cx="1078992" cy="731520"/>
          </a:xfrm>
          <a:prstGeom prst="rect">
            <a:avLst/>
          </a:prstGeom>
          <a:noFill/>
          <a:ln/>
        </p:spPr>
        <p:txBody>
          <a:bodyPr wrap="square" lIns="0" tIns="0" rIns="0" bIns="0" rtlCol="0" anchor="t"/>
          <a:lstStyle/>
          <a:p>
            <a:pPr algn="ctr" indent="0" marL="0">
              <a:buNone/>
            </a:pPr>
            <a:r>
              <a:rPr lang="en-US" sz="1200" dirty="0">
                <a:solidFill>
                  <a:schemeClr val="tx1"/>
                </a:solidFill>
              </a:rPr>
              <a:t>Counter + form classifier, how they learn</a:t>
            </a:r>
            <a:endParaRPr lang="en-US" sz="1200" dirty="0"/>
          </a:p>
        </p:txBody>
      </p:sp>
      <p:sp>
        <p:nvSpPr>
          <p:cNvPr id="27" name="Text 25"/>
          <p:cNvSpPr txBox="1"/>
          <p:nvPr/>
        </p:nvSpPr>
        <p:spPr>
          <a:xfrm>
            <a:off x="4873752" y="3657600"/>
            <a:ext cx="822960" cy="292608"/>
          </a:xfrm>
          <a:prstGeom prst="roundRect">
            <a:avLst>
              <a:gd name="adj" fmla="val 50000"/>
            </a:avLst>
          </a:prstGeom>
          <a:solidFill>
            <a:schemeClr val="accent6"/>
          </a:solidFill>
          <a:ln/>
        </p:spPr>
        <p:txBody>
          <a:bodyPr wrap="square" lIns="0" tIns="0" rIns="0" bIns="0" rtlCol="0" anchor="ctr"/>
          <a:lstStyle/>
          <a:p>
            <a:pPr algn="ctr" indent="0" marL="0">
              <a:buNone/>
            </a:pPr>
            <a:r>
              <a:rPr lang="en-US" sz="1000" b="1" dirty="0">
                <a:solidFill>
                  <a:schemeClr val="bg1"/>
                </a:solidFill>
              </a:rPr>
              <a:t>3 min</a:t>
            </a:r>
            <a:endParaRPr lang="en-US" sz="1000" dirty="0"/>
          </a:p>
        </p:txBody>
      </p:sp>
      <p:sp>
        <p:nvSpPr>
          <p:cNvPr id="28" name="Shape 26"/>
          <p:cNvSpPr/>
          <p:nvPr/>
        </p:nvSpPr>
        <p:spPr>
          <a:xfrm>
            <a:off x="6053328" y="1508760"/>
            <a:ext cx="1261872" cy="2651760"/>
          </a:xfrm>
          <a:prstGeom prst="roundRect">
            <a:avLst>
              <a:gd name="adj" fmla="val 8696"/>
            </a:avLst>
          </a:prstGeom>
          <a:solidFill>
            <a:schemeClr val="bg2"/>
          </a:solidFill>
          <a:ln/>
        </p:spPr>
      </p:sp>
      <p:sp>
        <p:nvSpPr>
          <p:cNvPr id="29" name="Shape 27"/>
          <p:cNvSpPr/>
          <p:nvPr/>
        </p:nvSpPr>
        <p:spPr>
          <a:xfrm>
            <a:off x="6455664" y="1691640"/>
            <a:ext cx="457200" cy="457200"/>
          </a:xfrm>
          <a:prstGeom prst="ellipse">
            <a:avLst/>
          </a:prstGeom>
          <a:solidFill>
            <a:schemeClr val="accent1"/>
          </a:solidFill>
          <a:ln/>
        </p:spPr>
      </p:sp>
      <p:sp>
        <p:nvSpPr>
          <p:cNvPr id="30" name="Text 28"/>
          <p:cNvSpPr txBox="1"/>
          <p:nvPr/>
        </p:nvSpPr>
        <p:spPr>
          <a:xfrm>
            <a:off x="6455664"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1" name="Text 29"/>
          <p:cNvSpPr txBox="1"/>
          <p:nvPr/>
        </p:nvSpPr>
        <p:spPr>
          <a:xfrm>
            <a:off x="6144768" y="2331720"/>
            <a:ext cx="1078992" cy="365760"/>
          </a:xfrm>
          <a:prstGeom prst="rect">
            <a:avLst/>
          </a:prstGeom>
          <a:noFill/>
          <a:ln/>
        </p:spPr>
        <p:txBody>
          <a:bodyPr wrap="square" lIns="0" tIns="0" rIns="0" bIns="0" rtlCol="0" anchor="t"/>
          <a:lstStyle/>
          <a:p>
            <a:pPr algn="ctr" indent="0" marL="0">
              <a:buNone/>
            </a:pPr>
            <a:r>
              <a:rPr lang="en-US" sz="1600" b="1" dirty="0">
                <a:solidFill>
                  <a:schemeClr val="tx2"/>
                </a:solidFill>
              </a:rPr>
              <a:t>Evaluation</a:t>
            </a:r>
            <a:endParaRPr lang="en-US" sz="1600" dirty="0"/>
          </a:p>
        </p:txBody>
      </p:sp>
      <p:sp>
        <p:nvSpPr>
          <p:cNvPr id="32" name="Text 30"/>
          <p:cNvSpPr txBox="1"/>
          <p:nvPr/>
        </p:nvSpPr>
        <p:spPr>
          <a:xfrm>
            <a:off x="6144768" y="2743200"/>
            <a:ext cx="1078992" cy="731520"/>
          </a:xfrm>
          <a:prstGeom prst="rect">
            <a:avLst/>
          </a:prstGeom>
          <a:noFill/>
          <a:ln/>
        </p:spPr>
        <p:txBody>
          <a:bodyPr wrap="square" lIns="0" tIns="0" rIns="0" bIns="0" rtlCol="0" anchor="t"/>
          <a:lstStyle/>
          <a:p>
            <a:pPr algn="ctr" indent="0" marL="0">
              <a:buNone/>
            </a:pPr>
            <a:r>
              <a:rPr lang="en-US" sz="1200" dirty="0">
                <a:solidFill>
                  <a:schemeClr val="tx1"/>
                </a:solidFill>
              </a:rPr>
              <a:t>Baselines, shortcuts, mixed tray</a:t>
            </a:r>
            <a:endParaRPr lang="en-US" sz="1200" dirty="0"/>
          </a:p>
        </p:txBody>
      </p:sp>
      <p:sp>
        <p:nvSpPr>
          <p:cNvPr id="33" name="Text 31"/>
          <p:cNvSpPr txBox="1"/>
          <p:nvPr/>
        </p:nvSpPr>
        <p:spPr>
          <a:xfrm>
            <a:off x="6272784" y="3657600"/>
            <a:ext cx="822960" cy="292608"/>
          </a:xfrm>
          <a:prstGeom prst="roundRect">
            <a:avLst>
              <a:gd name="adj" fmla="val 50000"/>
            </a:avLst>
          </a:prstGeom>
          <a:solidFill>
            <a:schemeClr val="accent6"/>
          </a:solidFill>
          <a:ln/>
        </p:spPr>
        <p:txBody>
          <a:bodyPr wrap="square" lIns="0" tIns="0" rIns="0" bIns="0" rtlCol="0" anchor="ctr"/>
          <a:lstStyle/>
          <a:p>
            <a:pPr algn="ctr" indent="0" marL="0">
              <a:buNone/>
            </a:pPr>
            <a:r>
              <a:rPr lang="en-US" sz="1000" b="1" dirty="0">
                <a:solidFill>
                  <a:schemeClr val="bg1"/>
                </a:solidFill>
              </a:rPr>
              <a:t>2.5 min</a:t>
            </a:r>
            <a:endParaRPr lang="en-US" sz="1000" dirty="0"/>
          </a:p>
        </p:txBody>
      </p:sp>
      <p:sp>
        <p:nvSpPr>
          <p:cNvPr id="34" name="Shape 32"/>
          <p:cNvSpPr/>
          <p:nvPr/>
        </p:nvSpPr>
        <p:spPr>
          <a:xfrm>
            <a:off x="7452360" y="1508760"/>
            <a:ext cx="1261872" cy="2651760"/>
          </a:xfrm>
          <a:prstGeom prst="roundRect">
            <a:avLst>
              <a:gd name="adj" fmla="val 8696"/>
            </a:avLst>
          </a:prstGeom>
          <a:solidFill>
            <a:schemeClr val="bg2"/>
          </a:solidFill>
          <a:ln/>
        </p:spPr>
      </p:sp>
      <p:sp>
        <p:nvSpPr>
          <p:cNvPr id="35" name="Shape 33"/>
          <p:cNvSpPr/>
          <p:nvPr/>
        </p:nvSpPr>
        <p:spPr>
          <a:xfrm>
            <a:off x="7854696" y="1691640"/>
            <a:ext cx="457200" cy="457200"/>
          </a:xfrm>
          <a:prstGeom prst="ellipse">
            <a:avLst/>
          </a:prstGeom>
          <a:solidFill>
            <a:schemeClr val="accent1"/>
          </a:solidFill>
          <a:ln/>
        </p:spPr>
      </p:sp>
      <p:sp>
        <p:nvSpPr>
          <p:cNvPr id="36" name="Text 34"/>
          <p:cNvSpPr txBox="1"/>
          <p:nvPr/>
        </p:nvSpPr>
        <p:spPr>
          <a:xfrm>
            <a:off x="7854696"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7" name="Text 35"/>
          <p:cNvSpPr txBox="1"/>
          <p:nvPr/>
        </p:nvSpPr>
        <p:spPr>
          <a:xfrm>
            <a:off x="7543800" y="2331720"/>
            <a:ext cx="1078992" cy="365760"/>
          </a:xfrm>
          <a:prstGeom prst="rect">
            <a:avLst/>
          </a:prstGeom>
          <a:noFill/>
          <a:ln/>
        </p:spPr>
        <p:txBody>
          <a:bodyPr wrap="square" lIns="0" tIns="0" rIns="0" bIns="0" rtlCol="0" anchor="t"/>
          <a:lstStyle/>
          <a:p>
            <a:pPr algn="ctr" indent="0" marL="0">
              <a:buNone/>
            </a:pPr>
            <a:r>
              <a:rPr lang="en-US" sz="1600" b="1" dirty="0">
                <a:solidFill>
                  <a:schemeClr val="tx2"/>
                </a:solidFill>
              </a:rPr>
              <a:t>Limits</a:t>
            </a:r>
            <a:endParaRPr lang="en-US" sz="1600" dirty="0"/>
          </a:p>
        </p:txBody>
      </p:sp>
      <p:sp>
        <p:nvSpPr>
          <p:cNvPr id="38" name="Text 36"/>
          <p:cNvSpPr txBox="1"/>
          <p:nvPr/>
        </p:nvSpPr>
        <p:spPr>
          <a:xfrm>
            <a:off x="7543800" y="2743200"/>
            <a:ext cx="1078992" cy="731520"/>
          </a:xfrm>
          <a:prstGeom prst="rect">
            <a:avLst/>
          </a:prstGeom>
          <a:noFill/>
          <a:ln/>
        </p:spPr>
        <p:txBody>
          <a:bodyPr wrap="square" lIns="0" tIns="0" rIns="0" bIns="0" rtlCol="0" anchor="t"/>
          <a:lstStyle/>
          <a:p>
            <a:pPr algn="ctr" indent="0" marL="0">
              <a:buNone/>
            </a:pPr>
            <a:r>
              <a:rPr lang="en-US" sz="1200" dirty="0">
                <a:solidFill>
                  <a:schemeClr val="tx1"/>
                </a:solidFill>
              </a:rPr>
              <a:t>What works, what doesn't yet</a:t>
            </a:r>
            <a:endParaRPr lang="en-US" sz="1200" dirty="0"/>
          </a:p>
        </p:txBody>
      </p:sp>
      <p:sp>
        <p:nvSpPr>
          <p:cNvPr id="39" name="Text 37"/>
          <p:cNvSpPr txBox="1"/>
          <p:nvPr/>
        </p:nvSpPr>
        <p:spPr>
          <a:xfrm>
            <a:off x="7671816" y="3657600"/>
            <a:ext cx="822960" cy="292608"/>
          </a:xfrm>
          <a:prstGeom prst="roundRect">
            <a:avLst>
              <a:gd name="adj" fmla="val 50000"/>
            </a:avLst>
          </a:prstGeom>
          <a:solidFill>
            <a:schemeClr val="accent6"/>
          </a:solidFill>
          <a:ln/>
        </p:spPr>
        <p:txBody>
          <a:bodyPr wrap="square" lIns="0" tIns="0" rIns="0" bIns="0" rtlCol="0" anchor="ctr"/>
          <a:lstStyle/>
          <a:p>
            <a:pPr algn="ctr" indent="0" marL="0">
              <a:buNone/>
            </a:pPr>
            <a:r>
              <a:rPr lang="en-US" sz="1000" b="1" dirty="0">
                <a:solidFill>
                  <a:schemeClr val="bg1"/>
                </a:solidFill>
              </a:rPr>
              <a:t>1 min</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Counting by hand is slow and risky</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Pharmacies count 30, 60 or 90 tablets per prescription, five at a time, on a tray</a:t>
            </a:r>
            <a:endParaRPr lang="en-US" sz="1500" dirty="0"/>
          </a:p>
        </p:txBody>
      </p:sp>
      <p:sp>
        <p:nvSpPr>
          <p:cNvPr id="4" name="Shape 2"/>
          <p:cNvSpPr/>
          <p:nvPr/>
        </p:nvSpPr>
        <p:spPr>
          <a:xfrm>
            <a:off x="457200" y="1417320"/>
            <a:ext cx="3291840" cy="3108960"/>
          </a:xfrm>
          <a:prstGeom prst="roundRect">
            <a:avLst>
              <a:gd name="adj" fmla="val 3529"/>
            </a:avLst>
          </a:prstGeom>
          <a:solidFill>
            <a:schemeClr val="tx2"/>
          </a:solidFill>
          <a:ln/>
        </p:spPr>
      </p:sp>
      <p:sp>
        <p:nvSpPr>
          <p:cNvPr id="5" name="Text 3"/>
          <p:cNvSpPr txBox="1"/>
          <p:nvPr/>
        </p:nvSpPr>
        <p:spPr>
          <a:xfrm>
            <a:off x="685800" y="1600200"/>
            <a:ext cx="2834640" cy="365760"/>
          </a:xfrm>
          <a:prstGeom prst="rect">
            <a:avLst/>
          </a:prstGeom>
          <a:noFill/>
          <a:ln/>
        </p:spPr>
        <p:txBody>
          <a:bodyPr wrap="square" lIns="0" tIns="0" rIns="0" bIns="0" rtlCol="0" anchor="t"/>
          <a:lstStyle/>
          <a:p>
            <a:pPr indent="0" marL="0">
              <a:buNone/>
            </a:pPr>
            <a:r>
              <a:rPr lang="en-US" sz="1600" b="1" dirty="0">
                <a:solidFill>
                  <a:schemeClr val="bg1"/>
                </a:solidFill>
              </a:rPr>
              <a:t>A wrong count means</a:t>
            </a:r>
            <a:endParaRPr lang="en-US" sz="1600" dirty="0"/>
          </a:p>
        </p:txBody>
      </p:sp>
      <p:sp>
        <p:nvSpPr>
          <p:cNvPr id="6" name="Text 4"/>
          <p:cNvSpPr txBox="1"/>
          <p:nvPr/>
        </p:nvSpPr>
        <p:spPr>
          <a:xfrm>
            <a:off x="685800" y="2057400"/>
            <a:ext cx="283464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2"/>
                </a:solidFill>
              </a:rPr>
              <a:t>the patient gets too few pills, or</a:t>
            </a:r>
            <a:endParaRPr lang="en-US" sz="1400" dirty="0"/>
          </a:p>
          <a:p>
            <a:pPr marL="342900" indent="-342900">
              <a:spcAft>
                <a:spcPts val="600"/>
              </a:spcAft>
              <a:buSzPct val="100000"/>
              <a:buChar char="•"/>
            </a:pPr>
            <a:r>
              <a:rPr lang="en-US" sz="1400" dirty="0">
                <a:solidFill>
                  <a:schemeClr val="bg2"/>
                </a:solidFill>
              </a:rPr>
              <a:t>the pharmacy loses stock</a:t>
            </a:r>
            <a:endParaRPr lang="en-US" sz="1400" dirty="0"/>
          </a:p>
          <a:p>
            <a:pPr marL="342900" indent="-342900">
              <a:spcAft>
                <a:spcPts val="600"/>
              </a:spcAft>
              <a:buSzPct val="100000"/>
              <a:buChar char="•"/>
            </a:pPr>
            <a:r>
              <a:rPr lang="en-US" sz="1400" dirty="0">
                <a:solidFill>
                  <a:schemeClr val="bg2"/>
                </a:solidFill>
              </a:rPr>
              <a:t>and the pharmacist spends time on a repetitive task instead of checking prescriptions</a:t>
            </a:r>
            <a:endParaRPr lang="en-US" sz="1400" dirty="0"/>
          </a:p>
        </p:txBody>
      </p:sp>
      <p:sp>
        <p:nvSpPr>
          <p:cNvPr id="7" name="Text 5"/>
          <p:cNvSpPr txBox="1"/>
          <p:nvPr/>
        </p:nvSpPr>
        <p:spPr>
          <a:xfrm>
            <a:off x="685800" y="3794760"/>
            <a:ext cx="2834640" cy="594360"/>
          </a:xfrm>
          <a:prstGeom prst="rect">
            <a:avLst/>
          </a:prstGeom>
          <a:noFill/>
          <a:ln/>
        </p:spPr>
        <p:txBody>
          <a:bodyPr wrap="square" lIns="0" tIns="0" rIns="0" bIns="0" rtlCol="0" anchor="t"/>
          <a:lstStyle/>
          <a:p>
            <a:pPr indent="0" marL="0">
              <a:buNone/>
            </a:pPr>
            <a:r>
              <a:rPr lang="en-US" sz="1200" i="1" dirty="0">
                <a:solidFill>
                  <a:schemeClr val="bg2"/>
                </a:solidFill>
              </a:rPr>
              <a:t>Alternative today: a dedicated counting machine, which is expensive and takes counter space</a:t>
            </a:r>
            <a:endParaRPr lang="en-US" sz="1200" dirty="0"/>
          </a:p>
        </p:txBody>
      </p:sp>
      <p:sp>
        <p:nvSpPr>
          <p:cNvPr id="8" name="Text 6"/>
          <p:cNvSpPr txBox="1"/>
          <p:nvPr/>
        </p:nvSpPr>
        <p:spPr>
          <a:xfrm>
            <a:off x="4114800" y="1417320"/>
            <a:ext cx="4572000" cy="365760"/>
          </a:xfrm>
          <a:prstGeom prst="rect">
            <a:avLst/>
          </a:prstGeom>
          <a:noFill/>
          <a:ln/>
        </p:spPr>
        <p:txBody>
          <a:bodyPr wrap="square" lIns="0" tIns="0" rIns="0" bIns="0" rtlCol="0" anchor="t"/>
          <a:lstStyle/>
          <a:p>
            <a:pPr indent="0" marL="0">
              <a:buNone/>
            </a:pPr>
            <a:r>
              <a:rPr lang="en-US" sz="1800" b="1" dirty="0">
                <a:solidFill>
                  <a:schemeClr val="tx2"/>
                </a:solidFill>
              </a:rPr>
              <a:t>Why it isn't trivial</a:t>
            </a:r>
            <a:endParaRPr lang="en-US" sz="1800" dirty="0"/>
          </a:p>
        </p:txBody>
      </p:sp>
      <p:sp>
        <p:nvSpPr>
          <p:cNvPr id="9" name="Shape 7"/>
          <p:cNvSpPr/>
          <p:nvPr/>
        </p:nvSpPr>
        <p:spPr>
          <a:xfrm>
            <a:off x="4114800" y="1874520"/>
            <a:ext cx="502920" cy="502920"/>
          </a:xfrm>
          <a:prstGeom prst="ellipse">
            <a:avLst/>
          </a:prstGeom>
          <a:solidFill>
            <a:schemeClr val="accent1"/>
          </a:solidFill>
          <a:ln/>
        </p:spPr>
      </p:sp>
      <p:pic>
        <p:nvPicPr>
          <p:cNvPr id="10" name="Image 0" descr="preencoded.png">    </p:cNvPr>
          <p:cNvPicPr>
            <a:picLocks noChangeAspect="1"/>
          </p:cNvPicPr>
          <p:nvPr/>
        </p:nvPicPr>
        <p:blipFill>
          <a:blip r:embed="rId1"/>
          <a:stretch>
            <a:fillRect/>
          </a:stretch>
        </p:blipFill>
        <p:spPr>
          <a:xfrm>
            <a:off x="4240530" y="2000250"/>
            <a:ext cx="251460" cy="251460"/>
          </a:xfrm>
          <a:prstGeom prst="rect">
            <a:avLst/>
          </a:prstGeom>
        </p:spPr>
      </p:pic>
      <p:sp>
        <p:nvSpPr>
          <p:cNvPr id="11" name="Text 8"/>
          <p:cNvSpPr txBox="1"/>
          <p:nvPr/>
        </p:nvSpPr>
        <p:spPr>
          <a:xfrm>
            <a:off x="4754880" y="1856232"/>
            <a:ext cx="3931920" cy="274320"/>
          </a:xfrm>
          <a:prstGeom prst="rect">
            <a:avLst/>
          </a:prstGeom>
          <a:noFill/>
          <a:ln/>
        </p:spPr>
        <p:txBody>
          <a:bodyPr wrap="square" lIns="0" tIns="0" rIns="0" bIns="0" rtlCol="0" anchor="t"/>
          <a:lstStyle/>
          <a:p>
            <a:pPr indent="0" marL="0">
              <a:buNone/>
            </a:pPr>
            <a:r>
              <a:rPr lang="en-US" sz="1500" b="1" dirty="0">
                <a:solidFill>
                  <a:schemeClr val="tx1"/>
                </a:solidFill>
              </a:rPr>
              <a:t>Pills touch</a:t>
            </a:r>
            <a:endParaRPr lang="en-US" sz="1500" dirty="0"/>
          </a:p>
        </p:txBody>
      </p:sp>
      <p:sp>
        <p:nvSpPr>
          <p:cNvPr id="12" name="Text 9"/>
          <p:cNvSpPr txBox="1"/>
          <p:nvPr/>
        </p:nvSpPr>
        <p:spPr>
          <a:xfrm>
            <a:off x="4754880" y="2130552"/>
            <a:ext cx="3931920" cy="274320"/>
          </a:xfrm>
          <a:prstGeom prst="rect">
            <a:avLst/>
          </a:prstGeom>
          <a:noFill/>
          <a:ln/>
        </p:spPr>
        <p:txBody>
          <a:bodyPr wrap="square" lIns="0" tIns="0" rIns="0" bIns="0" rtlCol="0" anchor="t"/>
          <a:lstStyle/>
          <a:p>
            <a:pPr indent="0" marL="0">
              <a:buNone/>
            </a:pPr>
            <a:r>
              <a:rPr lang="en-US" sz="1300" dirty="0">
                <a:solidFill>
                  <a:schemeClr val="accent6"/>
                </a:solidFill>
              </a:rPr>
              <a:t>Edges blend, so two pills look like one blob</a:t>
            </a:r>
            <a:endParaRPr lang="en-US" sz="1300" dirty="0"/>
          </a:p>
        </p:txBody>
      </p:sp>
      <p:sp>
        <p:nvSpPr>
          <p:cNvPr id="13" name="Shape 10"/>
          <p:cNvSpPr/>
          <p:nvPr/>
        </p:nvSpPr>
        <p:spPr>
          <a:xfrm>
            <a:off x="4114800" y="2560320"/>
            <a:ext cx="502920" cy="502920"/>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4240530" y="2686050"/>
            <a:ext cx="251460" cy="251460"/>
          </a:xfrm>
          <a:prstGeom prst="rect">
            <a:avLst/>
          </a:prstGeom>
        </p:spPr>
      </p:pic>
      <p:sp>
        <p:nvSpPr>
          <p:cNvPr id="15" name="Text 11"/>
          <p:cNvSpPr txBox="1"/>
          <p:nvPr/>
        </p:nvSpPr>
        <p:spPr>
          <a:xfrm>
            <a:off x="4754880" y="2542032"/>
            <a:ext cx="3931920" cy="274320"/>
          </a:xfrm>
          <a:prstGeom prst="rect">
            <a:avLst/>
          </a:prstGeom>
          <a:noFill/>
          <a:ln/>
        </p:spPr>
        <p:txBody>
          <a:bodyPr wrap="square" lIns="0" tIns="0" rIns="0" bIns="0" rtlCol="0" anchor="t"/>
          <a:lstStyle/>
          <a:p>
            <a:pPr indent="0" marL="0">
              <a:buNone/>
            </a:pPr>
            <a:r>
              <a:rPr lang="en-US" sz="1500" b="1" dirty="0">
                <a:solidFill>
                  <a:schemeClr val="tx1"/>
                </a:solidFill>
              </a:rPr>
              <a:t>Pills are identical</a:t>
            </a:r>
            <a:endParaRPr lang="en-US" sz="1500" dirty="0"/>
          </a:p>
        </p:txBody>
      </p:sp>
      <p:sp>
        <p:nvSpPr>
          <p:cNvPr id="16" name="Text 12"/>
          <p:cNvSpPr txBox="1"/>
          <p:nvPr/>
        </p:nvSpPr>
        <p:spPr>
          <a:xfrm>
            <a:off x="4754880" y="2816352"/>
            <a:ext cx="3931920" cy="274320"/>
          </a:xfrm>
          <a:prstGeom prst="rect">
            <a:avLst/>
          </a:prstGeom>
          <a:noFill/>
          <a:ln/>
        </p:spPr>
        <p:txBody>
          <a:bodyPr wrap="square" lIns="0" tIns="0" rIns="0" bIns="0" rtlCol="0" anchor="t"/>
          <a:lstStyle/>
          <a:p>
            <a:pPr indent="0" marL="0">
              <a:buNone/>
            </a:pPr>
            <a:r>
              <a:rPr lang="en-US" sz="1300" dirty="0">
                <a:solidFill>
                  <a:schemeClr val="accent6"/>
                </a:solidFill>
              </a:rPr>
              <a:t>Small, round, all the same: no unique features</a:t>
            </a:r>
            <a:endParaRPr lang="en-US" sz="1300" dirty="0"/>
          </a:p>
        </p:txBody>
      </p:sp>
      <p:sp>
        <p:nvSpPr>
          <p:cNvPr id="17" name="Shape 13"/>
          <p:cNvSpPr/>
          <p:nvPr/>
        </p:nvSpPr>
        <p:spPr>
          <a:xfrm>
            <a:off x="4114800" y="3246120"/>
            <a:ext cx="502920" cy="502920"/>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4240530" y="3371850"/>
            <a:ext cx="251460" cy="251460"/>
          </a:xfrm>
          <a:prstGeom prst="rect">
            <a:avLst/>
          </a:prstGeom>
        </p:spPr>
      </p:pic>
      <p:sp>
        <p:nvSpPr>
          <p:cNvPr id="19" name="Text 14"/>
          <p:cNvSpPr txBox="1"/>
          <p:nvPr/>
        </p:nvSpPr>
        <p:spPr>
          <a:xfrm>
            <a:off x="4754880" y="3227832"/>
            <a:ext cx="3931920" cy="274320"/>
          </a:xfrm>
          <a:prstGeom prst="rect">
            <a:avLst/>
          </a:prstGeom>
          <a:noFill/>
          <a:ln/>
        </p:spPr>
        <p:txBody>
          <a:bodyPr wrap="square" lIns="0" tIns="0" rIns="0" bIns="0" rtlCol="0" anchor="t"/>
          <a:lstStyle/>
          <a:p>
            <a:pPr indent="0" marL="0">
              <a:buNone/>
            </a:pPr>
            <a:r>
              <a:rPr lang="en-US" sz="1500" b="1" dirty="0">
                <a:solidFill>
                  <a:schemeClr val="tx1"/>
                </a:solidFill>
              </a:rPr>
              <a:t>Background and light</a:t>
            </a:r>
            <a:endParaRPr lang="en-US" sz="1500" dirty="0"/>
          </a:p>
        </p:txBody>
      </p:sp>
      <p:sp>
        <p:nvSpPr>
          <p:cNvPr id="20" name="Text 15"/>
          <p:cNvSpPr txBox="1"/>
          <p:nvPr/>
        </p:nvSpPr>
        <p:spPr>
          <a:xfrm>
            <a:off x="4754880" y="3502152"/>
            <a:ext cx="3931920" cy="274320"/>
          </a:xfrm>
          <a:prstGeom prst="rect">
            <a:avLst/>
          </a:prstGeom>
          <a:noFill/>
          <a:ln/>
        </p:spPr>
        <p:txBody>
          <a:bodyPr wrap="square" lIns="0" tIns="0" rIns="0" bIns="0" rtlCol="0" anchor="t"/>
          <a:lstStyle/>
          <a:p>
            <a:pPr indent="0" marL="0">
              <a:buNone/>
            </a:pPr>
            <a:r>
              <a:rPr lang="en-US" sz="1300" dirty="0">
                <a:solidFill>
                  <a:schemeClr val="accent6"/>
                </a:solidFill>
              </a:rPr>
              <a:t>Speckled counters, shadows, glare</a:t>
            </a:r>
            <a:endParaRPr lang="en-US" sz="1300" dirty="0"/>
          </a:p>
        </p:txBody>
      </p:sp>
      <p:sp>
        <p:nvSpPr>
          <p:cNvPr id="21" name="Shape 16"/>
          <p:cNvSpPr/>
          <p:nvPr/>
        </p:nvSpPr>
        <p:spPr>
          <a:xfrm>
            <a:off x="4114800" y="3931920"/>
            <a:ext cx="502920" cy="50292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4240530" y="4057650"/>
            <a:ext cx="251460" cy="251460"/>
          </a:xfrm>
          <a:prstGeom prst="rect">
            <a:avLst/>
          </a:prstGeom>
        </p:spPr>
      </p:pic>
      <p:sp>
        <p:nvSpPr>
          <p:cNvPr id="23" name="Text 17"/>
          <p:cNvSpPr txBox="1"/>
          <p:nvPr/>
        </p:nvSpPr>
        <p:spPr>
          <a:xfrm>
            <a:off x="4754880" y="3913632"/>
            <a:ext cx="3931920" cy="274320"/>
          </a:xfrm>
          <a:prstGeom prst="rect">
            <a:avLst/>
          </a:prstGeom>
          <a:noFill/>
          <a:ln/>
        </p:spPr>
        <p:txBody>
          <a:bodyPr wrap="square" lIns="0" tIns="0" rIns="0" bIns="0" rtlCol="0" anchor="t"/>
          <a:lstStyle/>
          <a:p>
            <a:pPr indent="0" marL="0">
              <a:buNone/>
            </a:pPr>
            <a:r>
              <a:rPr lang="en-US" sz="1500" b="1" dirty="0">
                <a:solidFill>
                  <a:schemeClr val="tx1"/>
                </a:solidFill>
              </a:rPr>
              <a:t>Phones and distance</a:t>
            </a:r>
            <a:endParaRPr lang="en-US" sz="1500" dirty="0"/>
          </a:p>
        </p:txBody>
      </p:sp>
      <p:sp>
        <p:nvSpPr>
          <p:cNvPr id="24" name="Text 18"/>
          <p:cNvSpPr txBox="1"/>
          <p:nvPr/>
        </p:nvSpPr>
        <p:spPr>
          <a:xfrm>
            <a:off x="4754880" y="4187952"/>
            <a:ext cx="3931920" cy="274320"/>
          </a:xfrm>
          <a:prstGeom prst="rect">
            <a:avLst/>
          </a:prstGeom>
          <a:noFill/>
          <a:ln/>
        </p:spPr>
        <p:txBody>
          <a:bodyPr wrap="square" lIns="0" tIns="0" rIns="0" bIns="0" rtlCol="0" anchor="t"/>
          <a:lstStyle/>
          <a:p>
            <a:pPr indent="0" marL="0">
              <a:buNone/>
            </a:pPr>
            <a:r>
              <a:rPr lang="en-US" sz="1300" dirty="0">
                <a:solidFill>
                  <a:schemeClr val="accent6"/>
                </a:solidFill>
              </a:rPr>
              <a:t>Different cameras, angles, pill sizes in pixels</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50× faster per pill than hand counting</a:t>
            </a:r>
            <a:endParaRPr lang="en-US" sz="3200" dirty="0"/>
          </a:p>
        </p:txBody>
      </p:sp>
      <p:sp>
        <p:nvSpPr>
          <p:cNvPr id="4"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Same piles timed by hand (five at a time) and with PillTally: the app counted all three exactly</a:t>
            </a:r>
            <a:endParaRPr lang="en-US" sz="1500" dirty="0"/>
          </a:p>
        </p:txBody>
      </p:sp>
      <p:sp>
        <p:nvSpPr>
          <p:cNvPr id="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graphicFrame>
        <p:nvGraphicFramePr>
          <p:cNvPr id="6" name="Chart 25"/>
          <p:cNvGraphicFramePr>
            <a:graphicFrameLocks noGrp="1"/>
          </p:cNvGraphicFramePr>
          <p:nvPr/>
        </p:nvGraphicFramePr>
        <p:xfrm>
          <a:off x="457200" y="1325880"/>
          <a:ext cx="5486400" cy="3017520"/>
        </p:xfrm>
        <a:graphic>
          <a:graphicData uri="http://schemas.openxmlformats.org/drawingml/2006/chart">
            <c:chart xmlns:c="http://schemas.openxmlformats.org/drawingml/2006/chart" r:id="rId2"/>
          </a:graphicData>
        </a:graphic>
      </p:graphicFrame>
      <p:sp>
        <p:nvSpPr>
          <p:cNvPr id="7" name="Text 7"/>
          <p:cNvSpPr txBox="1"/>
          <p:nvPr/>
        </p:nvSpPr>
        <p:spPr>
          <a:xfrm>
            <a:off x="457200" y="4407408"/>
            <a:ext cx="5486400" cy="274320"/>
          </a:xfrm>
          <a:prstGeom prst="rect">
            <a:avLst/>
          </a:prstGeom>
          <a:noFill/>
          <a:ln/>
        </p:spPr>
        <p:txBody>
          <a:bodyPr wrap="square" lIns="0" tIns="0" rIns="0" bIns="0" rtlCol="0" anchor="t"/>
          <a:lstStyle/>
          <a:p>
            <a:pPr indent="0" marL="0">
              <a:buNone/>
            </a:pPr>
            <a:r>
              <a:rPr lang="en-US" sz="1000" dirty="0">
                <a:solidFill>
                  <a:schemeClr val="tx1"/>
                </a:solidFill>
              </a:rPr>
              <a:t>PillTally time = processing after the photo is taken; taking the photo adds a few seconds.</a:t>
            </a:r>
            <a:endParaRPr lang="en-US" sz="1100" dirty="0"/>
          </a:p>
        </p:txBody>
      </p:sp>
      <p:sp>
        <p:nvSpPr>
          <p:cNvPr id="8" name="Shape 2"/>
          <p:cNvSpPr/>
          <p:nvPr/>
        </p:nvSpPr>
        <p:spPr>
          <a:xfrm>
            <a:off x="6217920" y="1371600"/>
            <a:ext cx="2468880" cy="914400"/>
          </a:xfrm>
          <a:prstGeom prst="roundRect">
            <a:avLst>
              <a:gd name="adj" fmla="val 12000"/>
            </a:avLst>
          </a:prstGeom>
          <a:solidFill>
            <a:schemeClr val="accent1"/>
          </a:solidFill>
          <a:ln/>
        </p:spPr>
        <p:txBody>
          <a:bodyPr/>
          <a:p/>
        </p:txBody>
      </p:sp>
      <p:sp>
        <p:nvSpPr>
          <p:cNvPr id="9" name="Text 3"/>
          <p:cNvSpPr txBox="1"/>
          <p:nvPr/>
        </p:nvSpPr>
        <p:spPr>
          <a:xfrm>
            <a:off x="6355080" y="1444752"/>
            <a:ext cx="2194560" cy="411480"/>
          </a:xfrm>
          <a:prstGeom prst="rect">
            <a:avLst/>
          </a:prstGeom>
          <a:noFill/>
          <a:ln/>
        </p:spPr>
        <p:txBody>
          <a:bodyPr wrap="square" lIns="0" tIns="0" rIns="0" bIns="0" rtlCol="0" anchor="t"/>
          <a:lstStyle/>
          <a:p>
            <a:pPr indent="0" marL="0">
              <a:buNone/>
            </a:pPr>
            <a:r>
              <a:rPr lang="en-US" sz="2000" b="1" dirty="0">
                <a:solidFill>
                  <a:schemeClr val="bg1"/>
                </a:solidFill>
              </a:rPr>
              <a:t>0.46 → 0.009 s</a:t>
            </a:r>
            <a:endParaRPr lang="en-US" sz="2000" dirty="0"/>
          </a:p>
        </p:txBody>
      </p:sp>
      <p:sp>
        <p:nvSpPr>
          <p:cNvPr id="10" name="Text 4"/>
          <p:cNvSpPr txBox="1"/>
          <p:nvPr/>
        </p:nvSpPr>
        <p:spPr>
          <a:xfrm>
            <a:off x="6355080" y="1847088"/>
            <a:ext cx="2194560" cy="384048"/>
          </a:xfrm>
          <a:prstGeom prst="rect">
            <a:avLst/>
          </a:prstGeom>
          <a:noFill/>
          <a:ln/>
        </p:spPr>
        <p:txBody>
          <a:bodyPr wrap="square" lIns="0" tIns="0" rIns="0" bIns="0" rtlCol="0" anchor="t"/>
          <a:lstStyle/>
          <a:p>
            <a:pPr indent="0" marL="0">
              <a:buNone/>
            </a:pPr>
            <a:r>
              <a:rPr lang="en-US" sz="1100" dirty="0">
                <a:solidFill>
                  <a:schemeClr val="bg1"/>
                </a:solidFill>
              </a:rPr>
              <a:t>per pill: hand vs PillTally, all 160 pills</a:t>
            </a:r>
            <a:endParaRPr lang="en-US" sz="1100" dirty="0"/>
          </a:p>
        </p:txBody>
      </p:sp>
      <p:sp>
        <p:nvSpPr>
          <p:cNvPr id="11" name="Shape 5"/>
          <p:cNvSpPr/>
          <p:nvPr/>
        </p:nvSpPr>
        <p:spPr>
          <a:xfrm>
            <a:off x="6217920" y="2450591"/>
            <a:ext cx="2468880" cy="914400"/>
          </a:xfrm>
          <a:prstGeom prst="roundRect">
            <a:avLst>
              <a:gd name="adj" fmla="val 12000"/>
            </a:avLst>
          </a:prstGeom>
          <a:solidFill>
            <a:schemeClr val="bg2"/>
          </a:solidFill>
          <a:ln/>
        </p:spPr>
        <p:txBody>
          <a:bodyPr/>
          <a:p/>
        </p:txBody>
      </p:sp>
      <p:sp>
        <p:nvSpPr>
          <p:cNvPr id="12" name="Text 6"/>
          <p:cNvSpPr txBox="1"/>
          <p:nvPr/>
        </p:nvSpPr>
        <p:spPr>
          <a:xfrm>
            <a:off x="6355080" y="2523744"/>
            <a:ext cx="2194560" cy="411480"/>
          </a:xfrm>
          <a:prstGeom prst="rect">
            <a:avLst/>
          </a:prstGeom>
          <a:noFill/>
          <a:ln/>
        </p:spPr>
        <p:txBody>
          <a:bodyPr wrap="square" lIns="0" tIns="0" rIns="0" bIns="0" rtlCol="0" anchor="t"/>
          <a:lstStyle/>
          <a:p>
            <a:pPr indent="0" marL="0">
              <a:buNone/>
            </a:pPr>
            <a:r>
              <a:rPr lang="en-US" sz="2000" b="1" dirty="0">
                <a:solidFill>
                  <a:schemeClr val="tx2"/>
                </a:solidFill>
              </a:rPr>
              <a:t>48.8 s → 0.6 s</a:t>
            </a:r>
            <a:endParaRPr lang="en-US" sz="2000" dirty="0"/>
          </a:p>
        </p:txBody>
      </p:sp>
      <p:sp>
        <p:nvSpPr>
          <p:cNvPr id="13" name="Text 7"/>
          <p:cNvSpPr txBox="1"/>
          <p:nvPr/>
        </p:nvSpPr>
        <p:spPr>
          <a:xfrm>
            <a:off x="6355080" y="2926079"/>
            <a:ext cx="2194560" cy="384048"/>
          </a:xfrm>
          <a:prstGeom prst="rect">
            <a:avLst/>
          </a:prstGeom>
          <a:noFill/>
          <a:ln/>
        </p:spPr>
        <p:txBody>
          <a:bodyPr wrap="square" lIns="0" tIns="0" rIns="0" bIns="0" rtlCol="0" anchor="t"/>
          <a:lstStyle/>
          <a:p>
            <a:pPr indent="0" marL="0">
              <a:buNone/>
            </a:pPr>
            <a:r>
              <a:rPr lang="en-US" sz="1100" dirty="0">
                <a:solidFill>
                  <a:schemeClr val="tx1"/>
                </a:solidFill>
              </a:rPr>
              <a:t>one pile of 100 pills</a:t>
            </a:r>
            <a:endParaRPr lang="en-US" sz="1100" dirty="0"/>
          </a:p>
        </p:txBody>
      </p:sp>
      <p:sp>
        <p:nvSpPr>
          <p:cNvPr id="14" name="Shape 5"/>
          <p:cNvSpPr/>
          <p:nvPr/>
        </p:nvSpPr>
        <p:spPr>
          <a:xfrm>
            <a:off x="6217920" y="3529584"/>
            <a:ext cx="2468880" cy="914400"/>
          </a:xfrm>
          <a:prstGeom prst="roundRect">
            <a:avLst>
              <a:gd name="adj" fmla="val 12000"/>
            </a:avLst>
          </a:prstGeom>
          <a:solidFill>
            <a:schemeClr val="bg2"/>
          </a:solidFill>
          <a:ln/>
        </p:spPr>
        <p:txBody>
          <a:bodyPr/>
          <a:p/>
        </p:txBody>
      </p:sp>
      <p:sp>
        <p:nvSpPr>
          <p:cNvPr id="15" name="Text 6"/>
          <p:cNvSpPr txBox="1"/>
          <p:nvPr/>
        </p:nvSpPr>
        <p:spPr>
          <a:xfrm>
            <a:off x="6355080" y="3602736"/>
            <a:ext cx="2194560" cy="411480"/>
          </a:xfrm>
          <a:prstGeom prst="rect">
            <a:avLst/>
          </a:prstGeom>
          <a:noFill/>
          <a:ln/>
        </p:spPr>
        <p:txBody>
          <a:bodyPr wrap="square" lIns="0" tIns="0" rIns="0" bIns="0" rtlCol="0" anchor="t"/>
          <a:lstStyle/>
          <a:p>
            <a:pPr indent="0" marL="0">
              <a:buNone/>
            </a:pPr>
            <a:r>
              <a:rPr lang="en-US" sz="2000" b="1" dirty="0">
                <a:solidFill>
                  <a:schemeClr val="tx2"/>
                </a:solidFill>
              </a:rPr>
              <a:t>3 / 3</a:t>
            </a:r>
            <a:endParaRPr lang="en-US" sz="2000" dirty="0"/>
          </a:p>
        </p:txBody>
      </p:sp>
      <p:sp>
        <p:nvSpPr>
          <p:cNvPr id="16" name="Text 7"/>
          <p:cNvSpPr txBox="1"/>
          <p:nvPr/>
        </p:nvSpPr>
        <p:spPr>
          <a:xfrm>
            <a:off x="6355080" y="4005072"/>
            <a:ext cx="2194560" cy="384048"/>
          </a:xfrm>
          <a:prstGeom prst="rect">
            <a:avLst/>
          </a:prstGeom>
          <a:noFill/>
          <a:ln/>
        </p:spPr>
        <p:txBody>
          <a:bodyPr wrap="square" lIns="0" tIns="0" rIns="0" bIns="0" rtlCol="0" anchor="t"/>
          <a:lstStyle/>
          <a:p>
            <a:pPr indent="0" marL="0">
              <a:buNone/>
            </a:pPr>
            <a:r>
              <a:rPr lang="en-US" sz="1100" dirty="0">
                <a:solidFill>
                  <a:schemeClr val="tx1"/>
                </a:solidFill>
              </a:rPr>
              <a:t>piles counted exactly by the app: 10, 50, 100</a:t>
            </a:r>
            <a:endParaRPr lang="en-US" sz="11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A fraction of a counting machine's cost</a:t>
            </a:r>
            <a:endParaRPr lang="en-US" sz="3200" dirty="0"/>
          </a:p>
        </p:txBody>
      </p:sp>
      <p:sp>
        <p:nvSpPr>
          <p:cNvPr id="4"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Pharmacy counting machines vs phones the staff already carry, plus a small server</a:t>
            </a:r>
            <a:endParaRPr lang="en-US" sz="1500" dirty="0"/>
          </a:p>
        </p:txBody>
      </p:sp>
      <p:sp>
        <p:nvSpPr>
          <p:cNvPr id="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
        <p:nvSpPr>
          <p:cNvPr id="6" name="Text 6"/>
          <p:cNvSpPr txBox="1"/>
          <p:nvPr/>
        </p:nvSpPr>
        <p:spPr>
          <a:xfrm>
            <a:off x="457200" y="1325880"/>
            <a:ext cx="3886200" cy="320040"/>
          </a:xfrm>
          <a:prstGeom prst="rect">
            <a:avLst/>
          </a:prstGeom>
          <a:noFill/>
          <a:ln/>
        </p:spPr>
        <p:txBody>
          <a:bodyPr wrap="square" lIns="0" tIns="0" rIns="0" bIns="0" rtlCol="0" anchor="t"/>
          <a:lstStyle/>
          <a:p>
            <a:pPr indent="0" marL="0">
              <a:buNone/>
            </a:pPr>
            <a:r>
              <a:rPr lang="en-US" sz="1500" b="1" dirty="0">
                <a:solidFill>
                  <a:schemeClr val="tx2"/>
                </a:solidFill>
              </a:rPr>
              <a:t>Counting machines (list prices, about)</a:t>
            </a:r>
            <a:endParaRPr lang="en-US" sz="1800" dirty="0"/>
          </a:p>
        </p:txBody>
      </p:sp>
      <p:sp>
        <p:nvSpPr>
          <p:cNvPr id="7" name="Shape 5"/>
          <p:cNvSpPr/>
          <p:nvPr/>
        </p:nvSpPr>
        <p:spPr>
          <a:xfrm>
            <a:off x="457200" y="1737360"/>
            <a:ext cx="1874519" cy="914400"/>
          </a:xfrm>
          <a:prstGeom prst="roundRect">
            <a:avLst>
              <a:gd name="adj" fmla="val 12000"/>
            </a:avLst>
          </a:prstGeom>
          <a:solidFill>
            <a:schemeClr val="bg2"/>
          </a:solidFill>
          <a:ln/>
        </p:spPr>
        <p:txBody>
          <a:bodyPr/>
          <a:p/>
        </p:txBody>
      </p:sp>
      <p:sp>
        <p:nvSpPr>
          <p:cNvPr id="8" name="Text 6"/>
          <p:cNvSpPr txBox="1"/>
          <p:nvPr/>
        </p:nvSpPr>
        <p:spPr>
          <a:xfrm>
            <a:off x="594360" y="1810512"/>
            <a:ext cx="1645920" cy="411480"/>
          </a:xfrm>
          <a:prstGeom prst="rect">
            <a:avLst/>
          </a:prstGeom>
          <a:noFill/>
          <a:ln/>
        </p:spPr>
        <p:txBody>
          <a:bodyPr wrap="square" lIns="0" tIns="0" rIns="0" bIns="0" rtlCol="0" anchor="t"/>
          <a:lstStyle/>
          <a:p>
            <a:pPr indent="0" marL="0">
              <a:buNone/>
            </a:pPr>
            <a:r>
              <a:rPr lang="en-US" sz="2000" b="1" dirty="0">
                <a:solidFill>
                  <a:schemeClr val="tx2"/>
                </a:solidFill>
              </a:rPr>
              <a:t>$7,500+</a:t>
            </a:r>
            <a:endParaRPr lang="en-US" sz="2000" dirty="0"/>
          </a:p>
        </p:txBody>
      </p:sp>
      <p:sp>
        <p:nvSpPr>
          <p:cNvPr id="9" name="Text 7"/>
          <p:cNvSpPr txBox="1"/>
          <p:nvPr/>
        </p:nvSpPr>
        <p:spPr>
          <a:xfrm>
            <a:off x="594360" y="2212848"/>
            <a:ext cx="1645920" cy="384048"/>
          </a:xfrm>
          <a:prstGeom prst="rect">
            <a:avLst/>
          </a:prstGeom>
          <a:noFill/>
          <a:ln/>
        </p:spPr>
        <p:txBody>
          <a:bodyPr wrap="square" lIns="0" tIns="0" rIns="0" bIns="0" rtlCol="0" anchor="t"/>
          <a:lstStyle/>
          <a:p>
            <a:pPr indent="0" marL="0">
              <a:buNone/>
            </a:pPr>
            <a:r>
              <a:rPr lang="en-US" sz="1100" dirty="0">
                <a:solidFill>
                  <a:schemeClr val="tx1"/>
                </a:solidFill>
              </a:rPr>
              <a:t>GSE Eyecon (camera)</a:t>
            </a:r>
            <a:endParaRPr lang="en-US" sz="1100" dirty="0"/>
          </a:p>
        </p:txBody>
      </p:sp>
      <p:sp>
        <p:nvSpPr>
          <p:cNvPr id="10" name="Shape 5"/>
          <p:cNvSpPr/>
          <p:nvPr/>
        </p:nvSpPr>
        <p:spPr>
          <a:xfrm>
            <a:off x="2468880" y="1737360"/>
            <a:ext cx="1874519" cy="914400"/>
          </a:xfrm>
          <a:prstGeom prst="roundRect">
            <a:avLst>
              <a:gd name="adj" fmla="val 12000"/>
            </a:avLst>
          </a:prstGeom>
          <a:solidFill>
            <a:schemeClr val="bg2"/>
          </a:solidFill>
          <a:ln/>
        </p:spPr>
        <p:txBody>
          <a:bodyPr/>
          <a:p/>
        </p:txBody>
      </p:sp>
      <p:sp>
        <p:nvSpPr>
          <p:cNvPr id="11" name="Text 6"/>
          <p:cNvSpPr txBox="1"/>
          <p:nvPr/>
        </p:nvSpPr>
        <p:spPr>
          <a:xfrm>
            <a:off x="2606040" y="1810512"/>
            <a:ext cx="1645920" cy="411480"/>
          </a:xfrm>
          <a:prstGeom prst="rect">
            <a:avLst/>
          </a:prstGeom>
          <a:noFill/>
          <a:ln/>
        </p:spPr>
        <p:txBody>
          <a:bodyPr wrap="square" lIns="0" tIns="0" rIns="0" bIns="0" rtlCol="0" anchor="t"/>
          <a:lstStyle/>
          <a:p>
            <a:pPr indent="0" marL="0">
              <a:buNone/>
            </a:pPr>
            <a:r>
              <a:rPr lang="en-US" sz="2000" b="1" dirty="0">
                <a:solidFill>
                  <a:schemeClr val="tx2"/>
                </a:solidFill>
              </a:rPr>
              <a:t>$4,700+</a:t>
            </a:r>
            <a:endParaRPr lang="en-US" sz="2000" dirty="0"/>
          </a:p>
        </p:txBody>
      </p:sp>
      <p:sp>
        <p:nvSpPr>
          <p:cNvPr id="12" name="Text 7"/>
          <p:cNvSpPr txBox="1"/>
          <p:nvPr/>
        </p:nvSpPr>
        <p:spPr>
          <a:xfrm>
            <a:off x="2606040" y="2212848"/>
            <a:ext cx="1645920" cy="384048"/>
          </a:xfrm>
          <a:prstGeom prst="rect">
            <a:avLst/>
          </a:prstGeom>
          <a:noFill/>
          <a:ln/>
        </p:spPr>
        <p:txBody>
          <a:bodyPr wrap="square" lIns="0" tIns="0" rIns="0" bIns="0" rtlCol="0" anchor="t"/>
          <a:lstStyle/>
          <a:p>
            <a:pPr indent="0" marL="0">
              <a:buNone/>
            </a:pPr>
            <a:r>
              <a:rPr lang="en-US" sz="1100" dirty="0">
                <a:solidFill>
                  <a:schemeClr val="tx1"/>
                </a:solidFill>
              </a:rPr>
              <a:t>Kirby Lester KL1</a:t>
            </a:r>
            <a:endParaRPr lang="en-US" sz="1100" dirty="0"/>
          </a:p>
        </p:txBody>
      </p:sp>
      <p:sp>
        <p:nvSpPr>
          <p:cNvPr id="13" name="Shape 5"/>
          <p:cNvSpPr/>
          <p:nvPr/>
        </p:nvSpPr>
        <p:spPr>
          <a:xfrm>
            <a:off x="457200" y="2816352"/>
            <a:ext cx="1874519" cy="914400"/>
          </a:xfrm>
          <a:prstGeom prst="roundRect">
            <a:avLst>
              <a:gd name="adj" fmla="val 12000"/>
            </a:avLst>
          </a:prstGeom>
          <a:solidFill>
            <a:schemeClr val="bg2"/>
          </a:solidFill>
          <a:ln/>
        </p:spPr>
        <p:txBody>
          <a:bodyPr/>
          <a:p/>
        </p:txBody>
      </p:sp>
      <p:sp>
        <p:nvSpPr>
          <p:cNvPr id="14" name="Text 6"/>
          <p:cNvSpPr txBox="1"/>
          <p:nvPr/>
        </p:nvSpPr>
        <p:spPr>
          <a:xfrm>
            <a:off x="594360" y="2889504"/>
            <a:ext cx="1645920" cy="411480"/>
          </a:xfrm>
          <a:prstGeom prst="rect">
            <a:avLst/>
          </a:prstGeom>
          <a:noFill/>
          <a:ln/>
        </p:spPr>
        <p:txBody>
          <a:bodyPr wrap="square" lIns="0" tIns="0" rIns="0" bIns="0" rtlCol="0" anchor="t"/>
          <a:lstStyle/>
          <a:p>
            <a:pPr indent="0" marL="0">
              <a:buNone/>
            </a:pPr>
            <a:r>
              <a:rPr lang="en-US" sz="2000" b="1" dirty="0">
                <a:solidFill>
                  <a:schemeClr val="tx2"/>
                </a:solidFill>
              </a:rPr>
              <a:t>$2,499</a:t>
            </a:r>
            <a:endParaRPr lang="en-US" sz="2000" dirty="0"/>
          </a:p>
        </p:txBody>
      </p:sp>
      <p:sp>
        <p:nvSpPr>
          <p:cNvPr id="15" name="Text 7"/>
          <p:cNvSpPr txBox="1"/>
          <p:nvPr/>
        </p:nvSpPr>
        <p:spPr>
          <a:xfrm>
            <a:off x="594360" y="3291840"/>
            <a:ext cx="1645920" cy="384048"/>
          </a:xfrm>
          <a:prstGeom prst="rect">
            <a:avLst/>
          </a:prstGeom>
          <a:noFill/>
          <a:ln/>
        </p:spPr>
        <p:txBody>
          <a:bodyPr wrap="square" lIns="0" tIns="0" rIns="0" bIns="0" rtlCol="0" anchor="t"/>
          <a:lstStyle/>
          <a:p>
            <a:pPr indent="0" marL="0">
              <a:buNone/>
            </a:pPr>
            <a:r>
              <a:rPr lang="en-US" sz="1100" dirty="0">
                <a:solidFill>
                  <a:schemeClr val="tx1"/>
                </a:solidFill>
              </a:rPr>
              <a:t>RxCount Rx-4</a:t>
            </a:r>
            <a:endParaRPr lang="en-US" sz="1100" dirty="0"/>
          </a:p>
        </p:txBody>
      </p:sp>
      <p:sp>
        <p:nvSpPr>
          <p:cNvPr id="16" name="Shape 5"/>
          <p:cNvSpPr/>
          <p:nvPr/>
        </p:nvSpPr>
        <p:spPr>
          <a:xfrm>
            <a:off x="2468880" y="2816352"/>
            <a:ext cx="1874519" cy="914400"/>
          </a:xfrm>
          <a:prstGeom prst="roundRect">
            <a:avLst>
              <a:gd name="adj" fmla="val 12000"/>
            </a:avLst>
          </a:prstGeom>
          <a:solidFill>
            <a:schemeClr val="bg2"/>
          </a:solidFill>
          <a:ln/>
        </p:spPr>
        <p:txBody>
          <a:bodyPr/>
          <a:p/>
        </p:txBody>
      </p:sp>
      <p:sp>
        <p:nvSpPr>
          <p:cNvPr id="17" name="Text 6"/>
          <p:cNvSpPr txBox="1"/>
          <p:nvPr/>
        </p:nvSpPr>
        <p:spPr>
          <a:xfrm>
            <a:off x="2606040" y="2889504"/>
            <a:ext cx="1645920" cy="411480"/>
          </a:xfrm>
          <a:prstGeom prst="rect">
            <a:avLst/>
          </a:prstGeom>
          <a:noFill/>
          <a:ln/>
        </p:spPr>
        <p:txBody>
          <a:bodyPr wrap="square" lIns="0" tIns="0" rIns="0" bIns="0" rtlCol="0" anchor="t"/>
          <a:lstStyle/>
          <a:p>
            <a:pPr indent="0" marL="0">
              <a:buNone/>
            </a:pPr>
            <a:r>
              <a:rPr lang="en-US" sz="2000" b="1" dirty="0">
                <a:solidFill>
                  <a:schemeClr val="tx2"/>
                </a:solidFill>
              </a:rPr>
              <a:t>฿49k–126k</a:t>
            </a:r>
            <a:endParaRPr lang="en-US" sz="2000" dirty="0"/>
          </a:p>
        </p:txBody>
      </p:sp>
      <p:sp>
        <p:nvSpPr>
          <p:cNvPr id="18" name="Text 7"/>
          <p:cNvSpPr txBox="1"/>
          <p:nvPr/>
        </p:nvSpPr>
        <p:spPr>
          <a:xfrm>
            <a:off x="2606040" y="3291840"/>
            <a:ext cx="1645920" cy="384048"/>
          </a:xfrm>
          <a:prstGeom prst="rect">
            <a:avLst/>
          </a:prstGeom>
          <a:noFill/>
          <a:ln/>
        </p:spPr>
        <p:txBody>
          <a:bodyPr wrap="square" lIns="0" tIns="0" rIns="0" bIns="0" rtlCol="0" anchor="t"/>
          <a:lstStyle/>
          <a:p>
            <a:pPr indent="0" marL="0">
              <a:buNone/>
            </a:pPr>
            <a:r>
              <a:rPr lang="en-US" sz="1100" dirty="0">
                <a:solidFill>
                  <a:schemeClr val="tx1"/>
                </a:solidFill>
              </a:rPr>
              <a:t>counters sold in Thailand</a:t>
            </a:r>
            <a:endParaRPr lang="en-US" sz="1100" dirty="0"/>
          </a:p>
        </p:txBody>
      </p:sp>
      <p:sp>
        <p:nvSpPr>
          <p:cNvPr id="19" name="Text 6"/>
          <p:cNvSpPr txBox="1"/>
          <p:nvPr/>
        </p:nvSpPr>
        <p:spPr>
          <a:xfrm>
            <a:off x="4709160" y="1325880"/>
            <a:ext cx="3977639" cy="320040"/>
          </a:xfrm>
          <a:prstGeom prst="rect">
            <a:avLst/>
          </a:prstGeom>
          <a:noFill/>
          <a:ln/>
        </p:spPr>
        <p:txBody>
          <a:bodyPr wrap="square" lIns="0" tIns="0" rIns="0" bIns="0" rtlCol="0" anchor="t"/>
          <a:lstStyle/>
          <a:p>
            <a:pPr indent="0" marL="0">
              <a:buNone/>
            </a:pPr>
            <a:r>
              <a:rPr lang="en-US" sz="1500" b="1" dirty="0">
                <a:solidFill>
                  <a:schemeClr val="tx2"/>
                </a:solidFill>
              </a:rPr>
              <a:t>PillTally</a:t>
            </a:r>
            <a:endParaRPr lang="en-US" sz="1800" dirty="0"/>
          </a:p>
        </p:txBody>
      </p:sp>
      <p:sp>
        <p:nvSpPr>
          <p:cNvPr id="20" name="Shape 2"/>
          <p:cNvSpPr/>
          <p:nvPr/>
        </p:nvSpPr>
        <p:spPr>
          <a:xfrm>
            <a:off x="4709160" y="1737360"/>
            <a:ext cx="3977639" cy="914400"/>
          </a:xfrm>
          <a:prstGeom prst="roundRect">
            <a:avLst>
              <a:gd name="adj" fmla="val 12000"/>
            </a:avLst>
          </a:prstGeom>
          <a:solidFill>
            <a:schemeClr val="accent1"/>
          </a:solidFill>
          <a:ln/>
        </p:spPr>
        <p:txBody>
          <a:bodyPr/>
          <a:p/>
        </p:txBody>
      </p:sp>
      <p:sp>
        <p:nvSpPr>
          <p:cNvPr id="21" name="Text 3"/>
          <p:cNvSpPr txBox="1"/>
          <p:nvPr/>
        </p:nvSpPr>
        <p:spPr>
          <a:xfrm>
            <a:off x="4846320" y="1810512"/>
            <a:ext cx="3703320" cy="411480"/>
          </a:xfrm>
          <a:prstGeom prst="rect">
            <a:avLst/>
          </a:prstGeom>
          <a:noFill/>
          <a:ln/>
        </p:spPr>
        <p:txBody>
          <a:bodyPr wrap="square" lIns="0" tIns="0" rIns="0" bIns="0" rtlCol="0" anchor="t"/>
          <a:lstStyle/>
          <a:p>
            <a:pPr indent="0" marL="0">
              <a:buNone/>
            </a:pPr>
            <a:r>
              <a:rPr lang="en-US" sz="2000" b="1" dirty="0">
                <a:solidFill>
                  <a:schemeClr val="bg1"/>
                </a:solidFill>
              </a:rPr>
              <a:t>$0 extra hardware</a:t>
            </a:r>
            <a:endParaRPr lang="en-US" sz="2000" dirty="0"/>
          </a:p>
        </p:txBody>
      </p:sp>
      <p:sp>
        <p:nvSpPr>
          <p:cNvPr id="22" name="Text 4"/>
          <p:cNvSpPr txBox="1"/>
          <p:nvPr/>
        </p:nvSpPr>
        <p:spPr>
          <a:xfrm>
            <a:off x="4846320" y="2212848"/>
            <a:ext cx="3703320" cy="384048"/>
          </a:xfrm>
          <a:prstGeom prst="rect">
            <a:avLst/>
          </a:prstGeom>
          <a:noFill/>
          <a:ln/>
        </p:spPr>
        <p:txBody>
          <a:bodyPr wrap="square" lIns="0" tIns="0" rIns="0" bIns="0" rtlCol="0" anchor="t"/>
          <a:lstStyle/>
          <a:p>
            <a:pPr indent="0" marL="0">
              <a:buNone/>
            </a:pPr>
            <a:r>
              <a:rPr lang="en-US" sz="1100" dirty="0">
                <a:solidFill>
                  <a:schemeClr val="bg1"/>
                </a:solidFill>
              </a:rPr>
              <a:t>self-hosted: staff phones + a PC the pharmacy already has</a:t>
            </a:r>
            <a:endParaRPr lang="en-US" sz="1100" dirty="0"/>
          </a:p>
        </p:txBody>
      </p:sp>
      <p:sp>
        <p:nvSpPr>
          <p:cNvPr id="23" name="Shape 5"/>
          <p:cNvSpPr/>
          <p:nvPr/>
        </p:nvSpPr>
        <p:spPr>
          <a:xfrm>
            <a:off x="4709160" y="2816352"/>
            <a:ext cx="3977639" cy="914400"/>
          </a:xfrm>
          <a:prstGeom prst="roundRect">
            <a:avLst>
              <a:gd name="adj" fmla="val 12000"/>
            </a:avLst>
          </a:prstGeom>
          <a:solidFill>
            <a:schemeClr val="bg2"/>
          </a:solidFill>
          <a:ln/>
        </p:spPr>
        <p:txBody>
          <a:bodyPr/>
          <a:p/>
        </p:txBody>
      </p:sp>
      <p:sp>
        <p:nvSpPr>
          <p:cNvPr id="24" name="Text 6"/>
          <p:cNvSpPr txBox="1"/>
          <p:nvPr/>
        </p:nvSpPr>
        <p:spPr>
          <a:xfrm>
            <a:off x="4846320" y="2889504"/>
            <a:ext cx="3703320" cy="411480"/>
          </a:xfrm>
          <a:prstGeom prst="rect">
            <a:avLst/>
          </a:prstGeom>
          <a:noFill/>
          <a:ln/>
        </p:spPr>
        <p:txBody>
          <a:bodyPr wrap="square" lIns="0" tIns="0" rIns="0" bIns="0" rtlCol="0" anchor="t"/>
          <a:lstStyle/>
          <a:p>
            <a:pPr indent="0" marL="0">
              <a:buNone/>
            </a:pPr>
            <a:r>
              <a:rPr lang="en-US" sz="2000" b="1" dirty="0">
                <a:solidFill>
                  <a:schemeClr val="tx2"/>
                </a:solidFill>
              </a:rPr>
              <a:t>≈ $15 / month</a:t>
            </a:r>
            <a:endParaRPr lang="en-US" sz="2000" dirty="0"/>
          </a:p>
        </p:txBody>
      </p:sp>
      <p:sp>
        <p:nvSpPr>
          <p:cNvPr id="25" name="Text 7"/>
          <p:cNvSpPr txBox="1"/>
          <p:nvPr/>
        </p:nvSpPr>
        <p:spPr>
          <a:xfrm>
            <a:off x="4846320" y="3291840"/>
            <a:ext cx="3703320" cy="384048"/>
          </a:xfrm>
          <a:prstGeom prst="rect">
            <a:avLst/>
          </a:prstGeom>
          <a:noFill/>
          <a:ln/>
        </p:spPr>
        <p:txBody>
          <a:bodyPr wrap="square" lIns="0" tIns="0" rIns="0" bIns="0" rtlCol="0" anchor="t"/>
          <a:lstStyle/>
          <a:p>
            <a:pPr indent="0" marL="0">
              <a:buNone/>
            </a:pPr>
            <a:r>
              <a:rPr lang="en-US" sz="1100" dirty="0">
                <a:solidFill>
                  <a:schemeClr val="tx1"/>
                </a:solidFill>
              </a:rPr>
              <a:t>cloud: small server in AWS Thailand, 8 h a day, 26 days</a:t>
            </a:r>
            <a:endParaRPr lang="en-US" sz="1100" dirty="0"/>
          </a:p>
        </p:txBody>
      </p:sp>
      <p:sp>
        <p:nvSpPr>
          <p:cNvPr id="26" name="Text 7"/>
          <p:cNvSpPr txBox="1"/>
          <p:nvPr/>
        </p:nvSpPr>
        <p:spPr>
          <a:xfrm>
            <a:off x="457200" y="3931920"/>
            <a:ext cx="8229600" cy="548640"/>
          </a:xfrm>
          <a:prstGeom prst="rect">
            <a:avLst/>
          </a:prstGeom>
          <a:noFill/>
          <a:ln/>
        </p:spPr>
        <p:txBody>
          <a:bodyPr wrap="square" lIns="0" tIns="0" rIns="0" bIns="0" rtlCol="0" anchor="t"/>
          <a:lstStyle/>
          <a:p>
            <a:pPr indent="0" marL="0">
              <a:buNone/>
            </a:pPr>
            <a:r>
              <a:rPr lang="en-US" sz="1100" dirty="0">
                <a:solidFill>
                  <a:schemeClr val="tx1"/>
                </a:solidFill>
              </a:rPr>
              <a:t>Machines are certified products with support and need no network. PillTally is an assistant, not a certified device, and its speed on a small cloud server is not measured yet.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The count is the number of boxes</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Object detection counts; a second model checks each pill's form; the pharmacist sees everything</a:t>
            </a:r>
            <a:endParaRPr lang="en-US" sz="1500" dirty="0"/>
          </a:p>
        </p:txBody>
      </p:sp>
      <p:sp>
        <p:nvSpPr>
          <p:cNvPr id="4" name="Shape 2"/>
          <p:cNvSpPr/>
          <p:nvPr/>
        </p:nvSpPr>
        <p:spPr>
          <a:xfrm>
            <a:off x="457200" y="1463040"/>
            <a:ext cx="1783080" cy="1828800"/>
          </a:xfrm>
          <a:prstGeom prst="roundRect">
            <a:avLst>
              <a:gd name="adj" fmla="val 6154"/>
            </a:avLst>
          </a:prstGeom>
          <a:solidFill>
            <a:schemeClr val="bg2"/>
          </a:solidFill>
          <a:ln/>
        </p:spPr>
        <p:txBody>
          <a:bodyPr/>
          <a:p/>
        </p:txBody>
      </p:sp>
      <p:sp>
        <p:nvSpPr>
          <p:cNvPr id="5" name="Shape 3"/>
          <p:cNvSpPr/>
          <p:nvPr/>
        </p:nvSpPr>
        <p:spPr>
          <a:xfrm>
            <a:off x="1097280" y="1627632"/>
            <a:ext cx="502920" cy="502920"/>
          </a:xfrm>
          <a:prstGeom prst="ellipse">
            <a:avLst/>
          </a:prstGeom>
          <a:solidFill>
            <a:schemeClr val="accent1"/>
          </a:solidFill>
          <a:ln/>
        </p:spPr>
        <p:txBody>
          <a:bodyPr/>
          <a:p/>
        </p:txBody>
      </p:sp>
      <p:pic>
        <p:nvPicPr>
          <p:cNvPr id="6" name="Image 0" descr="preencoded.png">    </p:cNvPr>
          <p:cNvPicPr>
            <a:picLocks noChangeAspect="1"/>
          </p:cNvPicPr>
          <p:nvPr/>
        </p:nvPicPr>
        <p:blipFill>
          <a:blip r:embed="rId1"/>
          <a:stretch>
            <a:fillRect/>
          </a:stretch>
        </p:blipFill>
        <p:spPr>
          <a:xfrm>
            <a:off x="1223010" y="1753362"/>
            <a:ext cx="251460" cy="251460"/>
          </a:xfrm>
          <a:prstGeom prst="rect">
            <a:avLst/>
          </a:prstGeom>
        </p:spPr>
      </p:pic>
      <p:sp>
        <p:nvSpPr>
          <p:cNvPr id="7" name="Text 4"/>
          <p:cNvSpPr txBox="1"/>
          <p:nvPr/>
        </p:nvSpPr>
        <p:spPr>
          <a:xfrm>
            <a:off x="548640" y="2240280"/>
            <a:ext cx="1600200" cy="320040"/>
          </a:xfrm>
          <a:prstGeom prst="rect">
            <a:avLst/>
          </a:prstGeom>
          <a:noFill/>
          <a:ln/>
        </p:spPr>
        <p:txBody>
          <a:bodyPr wrap="square" lIns="0" tIns="0" rIns="0" bIns="0" rtlCol="0" anchor="t"/>
          <a:lstStyle/>
          <a:p>
            <a:pPr algn="ctr" indent="0" marL="0">
              <a:buNone/>
            </a:pPr>
            <a:r>
              <a:rPr lang="en-US" sz="1500" b="1" dirty="0">
                <a:solidFill>
                  <a:schemeClr val="tx2"/>
                </a:solidFill>
              </a:rPr>
              <a:t>Photo</a:t>
            </a:r>
            <a:endParaRPr lang="en-US" sz="1500" dirty="0"/>
          </a:p>
        </p:txBody>
      </p:sp>
      <p:sp>
        <p:nvSpPr>
          <p:cNvPr id="8" name="Text 5"/>
          <p:cNvSpPr txBox="1"/>
          <p:nvPr/>
        </p:nvSpPr>
        <p:spPr>
          <a:xfrm>
            <a:off x="566928" y="2578608"/>
            <a:ext cx="1563624" cy="685800"/>
          </a:xfrm>
          <a:prstGeom prst="rect">
            <a:avLst/>
          </a:prstGeom>
          <a:noFill/>
          <a:ln/>
        </p:spPr>
        <p:txBody>
          <a:bodyPr wrap="square" lIns="0" tIns="0" rIns="0" bIns="0" rtlCol="0" anchor="t"/>
          <a:lstStyle/>
          <a:p>
            <a:pPr algn="ctr" indent="0" marL="0">
              <a:buNone/>
            </a:pPr>
            <a:r>
              <a:rPr lang="en-US" sz="1200" dirty="0">
                <a:solidFill>
                  <a:schemeClr val="tx1"/>
                </a:solidFill>
              </a:rPr>
              <a:t>One type of pill, one layer, on a tray or table</a:t>
            </a:r>
            <a:endParaRPr lang="en-US" sz="1200" dirty="0"/>
          </a:p>
        </p:txBody>
      </p:sp>
      <p:sp>
        <p:nvSpPr>
          <p:cNvPr id="9" name="Shape 6"/>
          <p:cNvSpPr/>
          <p:nvPr/>
        </p:nvSpPr>
        <p:spPr>
          <a:xfrm>
            <a:off x="2286000" y="2377440"/>
            <a:ext cx="274320" cy="0"/>
          </a:xfrm>
          <a:prstGeom prst="line">
            <a:avLst/>
          </a:prstGeom>
          <a:noFill/>
          <a:ln w="25400">
            <a:solidFill>
              <a:schemeClr val="accent6"/>
            </a:solidFill>
            <a:prstDash val="solid"/>
            <a:tailEnd type="triangle"/>
          </a:ln>
        </p:spPr>
        <p:txBody>
          <a:bodyPr/>
          <a:p/>
        </p:txBody>
      </p:sp>
      <p:sp>
        <p:nvSpPr>
          <p:cNvPr id="10" name="Shape 7"/>
          <p:cNvSpPr/>
          <p:nvPr/>
        </p:nvSpPr>
        <p:spPr>
          <a:xfrm>
            <a:off x="2606040" y="1463040"/>
            <a:ext cx="1783080" cy="1828800"/>
          </a:xfrm>
          <a:prstGeom prst="roundRect">
            <a:avLst>
              <a:gd name="adj" fmla="val 6154"/>
            </a:avLst>
          </a:prstGeom>
          <a:solidFill>
            <a:schemeClr val="bg2"/>
          </a:solidFill>
          <a:ln/>
        </p:spPr>
        <p:txBody>
          <a:bodyPr/>
          <a:p/>
        </p:txBody>
      </p:sp>
      <p:sp>
        <p:nvSpPr>
          <p:cNvPr id="11" name="Shape 8"/>
          <p:cNvSpPr/>
          <p:nvPr/>
        </p:nvSpPr>
        <p:spPr>
          <a:xfrm>
            <a:off x="3246120" y="1627632"/>
            <a:ext cx="502920" cy="502920"/>
          </a:xfrm>
          <a:prstGeom prst="ellipse">
            <a:avLst/>
          </a:prstGeom>
          <a:solidFill>
            <a:schemeClr val="accent1"/>
          </a:solidFill>
          <a:ln/>
        </p:spPr>
        <p:txBody>
          <a:bodyPr/>
          <a:p/>
        </p:txBody>
      </p:sp>
      <p:pic>
        <p:nvPicPr>
          <p:cNvPr id="12" name="Image 1" descr="preencoded.png">    </p:cNvPr>
          <p:cNvPicPr>
            <a:picLocks noChangeAspect="1"/>
          </p:cNvPicPr>
          <p:nvPr/>
        </p:nvPicPr>
        <p:blipFill>
          <a:blip r:embed="rId2"/>
          <a:stretch>
            <a:fillRect/>
          </a:stretch>
        </p:blipFill>
        <p:spPr>
          <a:xfrm>
            <a:off x="3371850" y="1753362"/>
            <a:ext cx="251460" cy="251460"/>
          </a:xfrm>
          <a:prstGeom prst="rect">
            <a:avLst/>
          </a:prstGeom>
        </p:spPr>
      </p:pic>
      <p:sp>
        <p:nvSpPr>
          <p:cNvPr id="13" name="Text 9"/>
          <p:cNvSpPr txBox="1"/>
          <p:nvPr/>
        </p:nvSpPr>
        <p:spPr>
          <a:xfrm>
            <a:off x="2697480" y="2240280"/>
            <a:ext cx="1600200" cy="320040"/>
          </a:xfrm>
          <a:prstGeom prst="rect">
            <a:avLst/>
          </a:prstGeom>
          <a:noFill/>
          <a:ln/>
        </p:spPr>
        <p:txBody>
          <a:bodyPr wrap="square" lIns="0" tIns="0" rIns="0" bIns="0" rtlCol="0" anchor="t"/>
          <a:lstStyle/>
          <a:p>
            <a:pPr algn="ctr" indent="0" marL="0">
              <a:buNone/>
            </a:pPr>
            <a:r>
              <a:rPr lang="en-US" sz="1500" b="1" dirty="0">
                <a:solidFill>
                  <a:schemeClr val="tx2"/>
                </a:solidFill>
              </a:rPr>
              <a:t>Counter</a:t>
            </a:r>
            <a:endParaRPr lang="en-US" sz="1500" dirty="0"/>
          </a:p>
        </p:txBody>
      </p:sp>
      <p:sp>
        <p:nvSpPr>
          <p:cNvPr id="14" name="Text 10"/>
          <p:cNvSpPr txBox="1"/>
          <p:nvPr/>
        </p:nvSpPr>
        <p:spPr>
          <a:xfrm>
            <a:off x="2715768" y="2578608"/>
            <a:ext cx="1563624" cy="685800"/>
          </a:xfrm>
          <a:prstGeom prst="rect">
            <a:avLst/>
          </a:prstGeom>
          <a:noFill/>
          <a:ln/>
        </p:spPr>
        <p:txBody>
          <a:bodyPr wrap="square" lIns="0" tIns="0" rIns="0" bIns="0" rtlCol="0" anchor="t"/>
          <a:lstStyle/>
          <a:p>
            <a:pPr algn="ctr" indent="0" marL="0">
              <a:buNone/>
            </a:pPr>
            <a:r>
              <a:rPr lang="en-US" sz="1200" dirty="0">
                <a:solidFill>
                  <a:schemeClr val="tx1"/>
                </a:solidFill>
              </a:rPr>
              <a:t>YOLO11s draws a box on every pill: count = boxes</a:t>
            </a:r>
            <a:endParaRPr lang="en-US" sz="1200" dirty="0"/>
          </a:p>
        </p:txBody>
      </p:sp>
      <p:sp>
        <p:nvSpPr>
          <p:cNvPr id="15" name="Shape 11"/>
          <p:cNvSpPr/>
          <p:nvPr/>
        </p:nvSpPr>
        <p:spPr>
          <a:xfrm>
            <a:off x="4434840" y="2377440"/>
            <a:ext cx="274320" cy="0"/>
          </a:xfrm>
          <a:prstGeom prst="line">
            <a:avLst/>
          </a:prstGeom>
          <a:noFill/>
          <a:ln w="25400">
            <a:solidFill>
              <a:schemeClr val="accent6"/>
            </a:solidFill>
            <a:prstDash val="solid"/>
            <a:tailEnd type="triangle"/>
          </a:ln>
        </p:spPr>
        <p:txBody>
          <a:bodyPr/>
          <a:p/>
        </p:txBody>
      </p:sp>
      <p:sp>
        <p:nvSpPr>
          <p:cNvPr id="16" name="Shape 12"/>
          <p:cNvSpPr/>
          <p:nvPr/>
        </p:nvSpPr>
        <p:spPr>
          <a:xfrm>
            <a:off x="4754880" y="1463040"/>
            <a:ext cx="1783080" cy="1828800"/>
          </a:xfrm>
          <a:prstGeom prst="roundRect">
            <a:avLst>
              <a:gd name="adj" fmla="val 6154"/>
            </a:avLst>
          </a:prstGeom>
          <a:solidFill>
            <a:schemeClr val="bg2"/>
          </a:solidFill>
          <a:ln/>
        </p:spPr>
        <p:txBody>
          <a:bodyPr/>
          <a:p/>
        </p:txBody>
      </p:sp>
      <p:sp>
        <p:nvSpPr>
          <p:cNvPr id="17" name="Shape 13"/>
          <p:cNvSpPr/>
          <p:nvPr/>
        </p:nvSpPr>
        <p:spPr>
          <a:xfrm>
            <a:off x="5394960" y="1627632"/>
            <a:ext cx="502920" cy="502920"/>
          </a:xfrm>
          <a:prstGeom prst="ellipse">
            <a:avLst/>
          </a:prstGeom>
          <a:solidFill>
            <a:schemeClr val="accent2"/>
          </a:solidFill>
          <a:ln/>
        </p:spPr>
        <p:txBody>
          <a:bodyPr/>
          <a:p/>
        </p:txBody>
      </p:sp>
      <p:pic>
        <p:nvPicPr>
          <p:cNvPr id="18" name="Image 2" descr="preencoded.png">    </p:cNvPr>
          <p:cNvPicPr>
            <a:picLocks noChangeAspect="1"/>
          </p:cNvPicPr>
          <p:nvPr/>
        </p:nvPicPr>
        <p:blipFill>
          <a:blip r:embed="rId3"/>
          <a:stretch>
            <a:fillRect/>
          </a:stretch>
        </p:blipFill>
        <p:spPr>
          <a:xfrm>
            <a:off x="5520690" y="1753362"/>
            <a:ext cx="251460" cy="251460"/>
          </a:xfrm>
          <a:prstGeom prst="rect">
            <a:avLst/>
          </a:prstGeom>
        </p:spPr>
      </p:pic>
      <p:sp>
        <p:nvSpPr>
          <p:cNvPr id="19" name="Text 14"/>
          <p:cNvSpPr txBox="1"/>
          <p:nvPr/>
        </p:nvSpPr>
        <p:spPr>
          <a:xfrm>
            <a:off x="4846320" y="2240280"/>
            <a:ext cx="1600200" cy="320040"/>
          </a:xfrm>
          <a:prstGeom prst="rect">
            <a:avLst/>
          </a:prstGeom>
          <a:noFill/>
          <a:ln/>
        </p:spPr>
        <p:txBody>
          <a:bodyPr wrap="square" lIns="0" tIns="0" rIns="0" bIns="0" rtlCol="0" anchor="t"/>
          <a:lstStyle/>
          <a:p>
            <a:pPr algn="ctr" indent="0" marL="0">
              <a:buNone/>
            </a:pPr>
            <a:r>
              <a:rPr lang="en-US" sz="1500" b="1" dirty="0">
                <a:solidFill>
                  <a:schemeClr val="tx2"/>
                </a:solidFill>
              </a:rPr>
              <a:t>Form check</a:t>
            </a:r>
            <a:endParaRPr lang="en-US" sz="1500" dirty="0"/>
          </a:p>
        </p:txBody>
      </p:sp>
      <p:sp>
        <p:nvSpPr>
          <p:cNvPr id="20" name="Text 15"/>
          <p:cNvSpPr txBox="1"/>
          <p:nvPr/>
        </p:nvSpPr>
        <p:spPr>
          <a:xfrm>
            <a:off x="4864608" y="2578608"/>
            <a:ext cx="1563624" cy="685800"/>
          </a:xfrm>
          <a:prstGeom prst="rect">
            <a:avLst/>
          </a:prstGeom>
          <a:noFill/>
          <a:ln/>
        </p:spPr>
        <p:txBody>
          <a:bodyPr wrap="square" lIns="0" tIns="0" rIns="0" bIns="0" rtlCol="0" anchor="t"/>
          <a:lstStyle/>
          <a:p>
            <a:pPr algn="ctr" indent="0" marL="0">
              <a:buNone/>
            </a:pPr>
            <a:r>
              <a:rPr lang="en-US" sz="1200" dirty="0">
                <a:solidFill>
                  <a:schemeClr val="tx1"/>
                </a:solidFill>
              </a:rPr>
              <a:t>A classifier labels each pill: tablet, caplet or mini</a:t>
            </a:r>
            <a:endParaRPr lang="en-US" sz="1200" dirty="0"/>
          </a:p>
        </p:txBody>
      </p:sp>
      <p:sp>
        <p:nvSpPr>
          <p:cNvPr id="21" name="Shape 16"/>
          <p:cNvSpPr/>
          <p:nvPr/>
        </p:nvSpPr>
        <p:spPr>
          <a:xfrm>
            <a:off x="6583680" y="2377440"/>
            <a:ext cx="274320" cy="0"/>
          </a:xfrm>
          <a:prstGeom prst="line">
            <a:avLst/>
          </a:prstGeom>
          <a:noFill/>
          <a:ln w="25400">
            <a:solidFill>
              <a:schemeClr val="accent6"/>
            </a:solidFill>
            <a:prstDash val="solid"/>
            <a:tailEnd type="triangle"/>
          </a:ln>
        </p:spPr>
        <p:txBody>
          <a:bodyPr/>
          <a:p/>
        </p:txBody>
      </p:sp>
      <p:sp>
        <p:nvSpPr>
          <p:cNvPr id="22" name="Shape 17"/>
          <p:cNvSpPr/>
          <p:nvPr/>
        </p:nvSpPr>
        <p:spPr>
          <a:xfrm>
            <a:off x="6903720" y="1463040"/>
            <a:ext cx="1783080" cy="1828800"/>
          </a:xfrm>
          <a:prstGeom prst="roundRect">
            <a:avLst>
              <a:gd name="adj" fmla="val 6154"/>
            </a:avLst>
          </a:prstGeom>
          <a:solidFill>
            <a:schemeClr val="bg2"/>
          </a:solidFill>
          <a:ln/>
        </p:spPr>
        <p:txBody>
          <a:bodyPr/>
          <a:p/>
        </p:txBody>
      </p:sp>
      <p:sp>
        <p:nvSpPr>
          <p:cNvPr id="23" name="Shape 18"/>
          <p:cNvSpPr/>
          <p:nvPr/>
        </p:nvSpPr>
        <p:spPr>
          <a:xfrm>
            <a:off x="7543800" y="1627632"/>
            <a:ext cx="502920" cy="502920"/>
          </a:xfrm>
          <a:prstGeom prst="ellipse">
            <a:avLst/>
          </a:prstGeom>
          <a:solidFill>
            <a:schemeClr val="accent1"/>
          </a:solidFill>
          <a:ln/>
        </p:spPr>
        <p:txBody>
          <a:bodyPr/>
          <a:p/>
        </p:txBody>
      </p:sp>
      <p:pic>
        <p:nvPicPr>
          <p:cNvPr id="24" name="Image 3" descr="preencoded.png">    </p:cNvPr>
          <p:cNvPicPr>
            <a:picLocks noChangeAspect="1"/>
          </p:cNvPicPr>
          <p:nvPr/>
        </p:nvPicPr>
        <p:blipFill>
          <a:blip r:embed="rId4"/>
          <a:stretch>
            <a:fillRect/>
          </a:stretch>
        </p:blipFill>
        <p:spPr>
          <a:xfrm>
            <a:off x="7669530" y="1753362"/>
            <a:ext cx="251460" cy="251460"/>
          </a:xfrm>
          <a:prstGeom prst="rect">
            <a:avLst/>
          </a:prstGeom>
        </p:spPr>
      </p:pic>
      <p:sp>
        <p:nvSpPr>
          <p:cNvPr id="25" name="Text 19"/>
          <p:cNvSpPr txBox="1"/>
          <p:nvPr/>
        </p:nvSpPr>
        <p:spPr>
          <a:xfrm>
            <a:off x="6995160" y="2240280"/>
            <a:ext cx="1600200" cy="320040"/>
          </a:xfrm>
          <a:prstGeom prst="rect">
            <a:avLst/>
          </a:prstGeom>
          <a:noFill/>
          <a:ln/>
        </p:spPr>
        <p:txBody>
          <a:bodyPr wrap="square" lIns="0" tIns="0" rIns="0" bIns="0" rtlCol="0" anchor="t"/>
          <a:lstStyle/>
          <a:p>
            <a:pPr algn="ctr" indent="0" marL="0">
              <a:buNone/>
            </a:pPr>
            <a:r>
              <a:rPr lang="en-US" sz="1500" b="1" dirty="0">
                <a:solidFill>
                  <a:schemeClr val="tx2"/>
                </a:solidFill>
              </a:rPr>
              <a:t>Pharmacist checks</a:t>
            </a:r>
            <a:endParaRPr lang="en-US" sz="1500" dirty="0"/>
          </a:p>
        </p:txBody>
      </p:sp>
      <p:sp>
        <p:nvSpPr>
          <p:cNvPr id="26" name="Text 20"/>
          <p:cNvSpPr txBox="1"/>
          <p:nvPr/>
        </p:nvSpPr>
        <p:spPr>
          <a:xfrm>
            <a:off x="7013448" y="2578608"/>
            <a:ext cx="1563624" cy="685800"/>
          </a:xfrm>
          <a:prstGeom prst="rect">
            <a:avLst/>
          </a:prstGeom>
          <a:noFill/>
          <a:ln/>
        </p:spPr>
        <p:txBody>
          <a:bodyPr wrap="square" lIns="0" tIns="0" rIns="0" bIns="0" rtlCol="0" anchor="t"/>
          <a:lstStyle/>
          <a:p>
            <a:pPr algn="ctr" indent="0" marL="0">
              <a:buNone/>
            </a:pPr>
            <a:r>
              <a:rPr lang="en-US" sz="1200" dirty="0">
                <a:solidFill>
                  <a:schemeClr val="tx1"/>
                </a:solidFill>
              </a:rPr>
              <a:t>Orange = unsure box, red = not the expected form</a:t>
            </a:r>
            <a:endParaRPr lang="en-US" sz="1200" dirty="0"/>
          </a:p>
        </p:txBody>
      </p:sp>
      <p:sp>
        <p:nvSpPr>
          <p:cNvPr id="27" name="Shape 21"/>
          <p:cNvSpPr/>
          <p:nvPr/>
        </p:nvSpPr>
        <p:spPr>
          <a:xfrm>
            <a:off x="457200" y="3520440"/>
            <a:ext cx="8229600" cy="1051560"/>
          </a:xfrm>
          <a:prstGeom prst="roundRect">
            <a:avLst>
              <a:gd name="adj" fmla="val 10435"/>
            </a:avLst>
          </a:prstGeom>
          <a:solidFill>
            <a:schemeClr val="bg2"/>
          </a:solidFill>
          <a:ln/>
        </p:spPr>
        <p:txBody>
          <a:bodyPr/>
          <a:p/>
        </p:txBody>
      </p:sp>
      <p:sp>
        <p:nvSpPr>
          <p:cNvPr id="28" name="Text 22"/>
          <p:cNvSpPr txBox="1"/>
          <p:nvPr/>
        </p:nvSpPr>
        <p:spPr>
          <a:xfrm>
            <a:off x="685800" y="3630168"/>
            <a:ext cx="7772400" cy="320040"/>
          </a:xfrm>
          <a:prstGeom prst="rect">
            <a:avLst/>
          </a:prstGeom>
          <a:noFill/>
          <a:ln/>
        </p:spPr>
        <p:txBody>
          <a:bodyPr wrap="square" lIns="0" tIns="0" rIns="0" bIns="0" rtlCol="0" anchor="t"/>
          <a:lstStyle/>
          <a:p>
            <a:pPr indent="0" marL="0">
              <a:buNone/>
            </a:pPr>
            <a:r>
              <a:rPr lang="en-US" sz="1500" b="1" dirty="0">
                <a:solidFill>
                  <a:schemeClr val="tx2"/>
                </a:solidFill>
              </a:rPr>
              <a:t>Why detection, not "predict a number"?</a:t>
            </a:r>
            <a:endParaRPr lang="en-US" sz="1500" dirty="0"/>
          </a:p>
        </p:txBody>
      </p:sp>
      <p:sp>
        <p:nvSpPr>
          <p:cNvPr id="29" name="Text 23"/>
          <p:cNvSpPr txBox="1"/>
          <p:nvPr/>
        </p:nvSpPr>
        <p:spPr>
          <a:xfrm>
            <a:off x="685800" y="3950208"/>
            <a:ext cx="7772400" cy="594360"/>
          </a:xfrm>
          <a:prstGeom prst="rect">
            <a:avLst/>
          </a:prstGeom>
          <a:noFill/>
          <a:ln/>
        </p:spPr>
        <p:txBody>
          <a:bodyPr wrap="square" lIns="0" tIns="0" rIns="0" bIns="0" rtlCol="0" anchor="t"/>
          <a:lstStyle/>
          <a:p>
            <a:pPr indent="0" marL="0">
              <a:buNone/>
            </a:pPr>
            <a:r>
              <a:rPr lang="en-US" sz="1300" dirty="0">
                <a:solidFill>
                  <a:schemeClr val="tx1"/>
                </a:solidFill>
              </a:rPr>
              <a:t>A regression or density model outputs only a number. Boxes let the pharmacist verify every pill and spot a miss, which matters for trust and safety. The tool assists the check; it never replaces it.</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685800"/>
          </a:xfrm>
          <a:prstGeom prst="rect">
            <a:avLst/>
          </a:prstGeom>
          <a:noFill/>
          <a:ln/>
        </p:spPr>
        <p:txBody>
          <a:bodyPr wrap="square" lIns="0" tIns="0" rIns="0" bIns="0" rtlCol="0" anchor="ctr"/>
          <a:lstStyle/>
          <a:p>
            <a:pPr algn="l" indent="0" marL="0">
              <a:buNone/>
            </a:pPr>
            <a:r>
              <a:rPr lang="en-US" sz="3600" b="1" dirty="0">
                <a:solidFill>
                  <a:schemeClr val="bg1"/>
                </a:solidFill>
              </a:rPr>
              <a:t>Live demo</a:t>
            </a:r>
            <a:endParaRPr lang="en-US" sz="3600" dirty="0"/>
          </a:p>
        </p:txBody>
      </p:sp>
      <p:sp>
        <p:nvSpPr>
          <p:cNvPr id="3" name="Text 0"/>
          <p:cNvSpPr/>
          <p:nvPr>
            <p:ph idx="101" type="body" hasCustomPrompt="1"/>
          </p:nvPr>
        </p:nvSpPr>
        <p:spPr>
          <a:xfrm>
            <a:off x="548640" y="1051560"/>
            <a:ext cx="8046720" cy="411480"/>
          </a:xfrm>
          <a:prstGeom prst="rect">
            <a:avLst/>
          </a:prstGeom>
          <a:noFill/>
          <a:ln/>
        </p:spPr>
        <p:txBody>
          <a:bodyPr wrap="square" lIns="0" tIns="0" rIns="0" bIns="0" rtlCol="0" anchor="t"/>
          <a:lstStyle/>
          <a:p>
            <a:pPr indent="0" marL="0">
              <a:buNone/>
            </a:pPr>
            <a:r>
              <a:rPr lang="en-US" sz="1600" dirty="0">
                <a:solidFill>
                  <a:schemeClr val="bg2"/>
                </a:solidFill>
              </a:rPr>
              <a:t>Phone browser → Next.js page → Python model server, all on one Mac</a:t>
            </a:r>
            <a:endParaRPr lang="en-US" sz="1600" dirty="0"/>
          </a:p>
        </p:txBody>
      </p:sp>
      <p:sp>
        <p:nvSpPr>
          <p:cNvPr id="4" name="Shape 2"/>
          <p:cNvSpPr/>
          <p:nvPr/>
        </p:nvSpPr>
        <p:spPr>
          <a:xfrm>
            <a:off x="548640" y="1783080"/>
            <a:ext cx="2423160" cy="1463040"/>
          </a:xfrm>
          <a:prstGeom prst="roundRect">
            <a:avLst>
              <a:gd name="adj" fmla="val 7500"/>
            </a:avLst>
          </a:prstGeom>
          <a:solidFill>
            <a:schemeClr val="bg1"/>
          </a:solidFill>
          <a:ln/>
        </p:spPr>
        <p:txBody>
          <a:bodyPr/>
          <a:p/>
        </p:txBody>
      </p:sp>
      <p:sp>
        <p:nvSpPr>
          <p:cNvPr id="5" name="Shape 3"/>
          <p:cNvSpPr/>
          <p:nvPr/>
        </p:nvSpPr>
        <p:spPr>
          <a:xfrm>
            <a:off x="731520" y="1938528"/>
            <a:ext cx="457200" cy="457200"/>
          </a:xfrm>
          <a:prstGeom prst="ellipse">
            <a:avLst/>
          </a:prstGeom>
          <a:solidFill>
            <a:schemeClr val="accent1"/>
          </a:solidFill>
          <a:ln/>
        </p:spPr>
        <p:txBody>
          <a:bodyPr/>
          <a:p/>
        </p:txBody>
      </p:sp>
      <p:pic>
        <p:nvPicPr>
          <p:cNvPr id="6" name="Image 0" descr="preencoded.png">    </p:cNvPr>
          <p:cNvPicPr>
            <a:picLocks noChangeAspect="1"/>
          </p:cNvPicPr>
          <p:nvPr/>
        </p:nvPicPr>
        <p:blipFill>
          <a:blip r:embed="rId1"/>
          <a:stretch>
            <a:fillRect/>
          </a:stretch>
        </p:blipFill>
        <p:spPr>
          <a:xfrm>
            <a:off x="845820" y="2052828"/>
            <a:ext cx="228600" cy="228600"/>
          </a:xfrm>
          <a:prstGeom prst="rect">
            <a:avLst/>
          </a:prstGeom>
        </p:spPr>
      </p:pic>
      <p:sp>
        <p:nvSpPr>
          <p:cNvPr id="7" name="Text 4"/>
          <p:cNvSpPr txBox="1"/>
          <p:nvPr/>
        </p:nvSpPr>
        <p:spPr>
          <a:xfrm>
            <a:off x="1280160" y="1993392"/>
            <a:ext cx="1600200" cy="365760"/>
          </a:xfrm>
          <a:prstGeom prst="rect">
            <a:avLst/>
          </a:prstGeom>
          <a:noFill/>
          <a:ln/>
        </p:spPr>
        <p:txBody>
          <a:bodyPr wrap="square" lIns="0" tIns="0" rIns="0" bIns="0" rtlCol="0" anchor="ctr"/>
          <a:lstStyle/>
          <a:p>
            <a:pPr indent="0" marL="0">
              <a:buNone/>
            </a:pPr>
            <a:r>
              <a:rPr lang="en-US" sz="1400" b="1" dirty="0">
                <a:solidFill>
                  <a:schemeClr val="tx2"/>
                </a:solidFill>
              </a:rPr>
              <a:t>Phone browser</a:t>
            </a:r>
            <a:endParaRPr lang="en-US" sz="1400" dirty="0"/>
          </a:p>
        </p:txBody>
      </p:sp>
      <p:sp>
        <p:nvSpPr>
          <p:cNvPr id="8" name="Text 5"/>
          <p:cNvSpPr txBox="1"/>
          <p:nvPr/>
        </p:nvSpPr>
        <p:spPr>
          <a:xfrm>
            <a:off x="731520" y="2514600"/>
            <a:ext cx="2103120" cy="685800"/>
          </a:xfrm>
          <a:prstGeom prst="rect">
            <a:avLst/>
          </a:prstGeom>
          <a:noFill/>
          <a:ln/>
        </p:spPr>
        <p:txBody>
          <a:bodyPr wrap="square" lIns="0" tIns="0" rIns="0" bIns="0" rtlCol="0" anchor="t"/>
          <a:lstStyle/>
          <a:p>
            <a:pPr indent="0" marL="0">
              <a:buNone/>
            </a:pPr>
            <a:r>
              <a:rPr lang="en-US" sz="1200" dirty="0">
                <a:solidFill>
                  <a:schemeClr val="tx1"/>
                </a:solidFill>
              </a:rPr>
              <a:t>Takes the photo, sends it at full resolution, draws the boxes</a:t>
            </a:r>
            <a:endParaRPr lang="en-US" sz="1200" dirty="0"/>
          </a:p>
        </p:txBody>
      </p:sp>
      <p:sp>
        <p:nvSpPr>
          <p:cNvPr id="9" name="Shape 6"/>
          <p:cNvSpPr/>
          <p:nvPr/>
        </p:nvSpPr>
        <p:spPr>
          <a:xfrm>
            <a:off x="3017520" y="2514600"/>
            <a:ext cx="274320" cy="0"/>
          </a:xfrm>
          <a:prstGeom prst="line">
            <a:avLst/>
          </a:prstGeom>
          <a:noFill/>
          <a:ln w="25400">
            <a:solidFill>
              <a:schemeClr val="bg1"/>
            </a:solidFill>
            <a:prstDash val="solid"/>
            <a:tailEnd type="triangle"/>
          </a:ln>
        </p:spPr>
        <p:txBody>
          <a:bodyPr/>
          <a:p/>
        </p:txBody>
      </p:sp>
      <p:sp>
        <p:nvSpPr>
          <p:cNvPr id="10" name="Shape 7"/>
          <p:cNvSpPr/>
          <p:nvPr/>
        </p:nvSpPr>
        <p:spPr>
          <a:xfrm>
            <a:off x="3337560" y="1783080"/>
            <a:ext cx="2423160" cy="1463040"/>
          </a:xfrm>
          <a:prstGeom prst="roundRect">
            <a:avLst>
              <a:gd name="adj" fmla="val 7500"/>
            </a:avLst>
          </a:prstGeom>
          <a:solidFill>
            <a:schemeClr val="bg1"/>
          </a:solidFill>
          <a:ln/>
        </p:spPr>
        <p:txBody>
          <a:bodyPr/>
          <a:p/>
        </p:txBody>
      </p:sp>
      <p:sp>
        <p:nvSpPr>
          <p:cNvPr id="11" name="Shape 8"/>
          <p:cNvSpPr/>
          <p:nvPr/>
        </p:nvSpPr>
        <p:spPr>
          <a:xfrm>
            <a:off x="3520440" y="1938528"/>
            <a:ext cx="457200" cy="457200"/>
          </a:xfrm>
          <a:prstGeom prst="ellipse">
            <a:avLst/>
          </a:prstGeom>
          <a:solidFill>
            <a:schemeClr val="accent1"/>
          </a:solidFill>
          <a:ln/>
        </p:spPr>
        <p:txBody>
          <a:bodyPr/>
          <a:p/>
        </p:txBody>
      </p:sp>
      <p:pic>
        <p:nvPicPr>
          <p:cNvPr id="12" name="Image 1" descr="preencoded.png">    </p:cNvPr>
          <p:cNvPicPr>
            <a:picLocks noChangeAspect="1"/>
          </p:cNvPicPr>
          <p:nvPr/>
        </p:nvPicPr>
        <p:blipFill>
          <a:blip r:embed="rId2"/>
          <a:stretch>
            <a:fillRect/>
          </a:stretch>
        </p:blipFill>
        <p:spPr>
          <a:xfrm>
            <a:off x="3634740" y="2052828"/>
            <a:ext cx="228600" cy="228600"/>
          </a:xfrm>
          <a:prstGeom prst="rect">
            <a:avLst/>
          </a:prstGeom>
        </p:spPr>
      </p:pic>
      <p:sp>
        <p:nvSpPr>
          <p:cNvPr id="13" name="Text 9"/>
          <p:cNvSpPr txBox="1"/>
          <p:nvPr/>
        </p:nvSpPr>
        <p:spPr>
          <a:xfrm>
            <a:off x="4069080" y="1993392"/>
            <a:ext cx="1600200" cy="365760"/>
          </a:xfrm>
          <a:prstGeom prst="rect">
            <a:avLst/>
          </a:prstGeom>
          <a:noFill/>
          <a:ln/>
        </p:spPr>
        <p:txBody>
          <a:bodyPr wrap="square" lIns="0" tIns="0" rIns="0" bIns="0" rtlCol="0" anchor="ctr"/>
          <a:lstStyle/>
          <a:p>
            <a:pPr indent="0" marL="0">
              <a:buNone/>
            </a:pPr>
            <a:r>
              <a:rPr lang="en-US" sz="1400" b="1" dirty="0">
                <a:solidFill>
                  <a:schemeClr val="tx2"/>
                </a:solidFill>
              </a:rPr>
              <a:t>Next.js page :3000</a:t>
            </a:r>
            <a:endParaRPr lang="en-US" sz="1400" dirty="0"/>
          </a:p>
        </p:txBody>
      </p:sp>
      <p:sp>
        <p:nvSpPr>
          <p:cNvPr id="14" name="Text 10"/>
          <p:cNvSpPr txBox="1"/>
          <p:nvPr/>
        </p:nvSpPr>
        <p:spPr>
          <a:xfrm>
            <a:off x="3520440" y="2514600"/>
            <a:ext cx="2103120" cy="685800"/>
          </a:xfrm>
          <a:prstGeom prst="rect">
            <a:avLst/>
          </a:prstGeom>
          <a:noFill/>
          <a:ln/>
        </p:spPr>
        <p:txBody>
          <a:bodyPr wrap="square" lIns="0" tIns="0" rIns="0" bIns="0" rtlCol="0" anchor="t"/>
          <a:lstStyle/>
          <a:p>
            <a:pPr indent="0" marL="0">
              <a:buNone/>
            </a:pPr>
            <a:r>
              <a:rPr lang="en-US" sz="1200" dirty="0">
                <a:solidFill>
                  <a:schemeClr val="tx1"/>
                </a:solidFill>
              </a:rPr>
              <a:t>Serves the page, forwards /api/count to Python</a:t>
            </a:r>
            <a:endParaRPr lang="en-US" sz="1200" dirty="0"/>
          </a:p>
        </p:txBody>
      </p:sp>
      <p:sp>
        <p:nvSpPr>
          <p:cNvPr id="15" name="Shape 11"/>
          <p:cNvSpPr/>
          <p:nvPr/>
        </p:nvSpPr>
        <p:spPr>
          <a:xfrm>
            <a:off x="5806440" y="2514600"/>
            <a:ext cx="274320" cy="0"/>
          </a:xfrm>
          <a:prstGeom prst="line">
            <a:avLst/>
          </a:prstGeom>
          <a:noFill/>
          <a:ln w="25400">
            <a:solidFill>
              <a:schemeClr val="bg1"/>
            </a:solidFill>
            <a:prstDash val="solid"/>
            <a:tailEnd type="triangle"/>
          </a:ln>
        </p:spPr>
        <p:txBody>
          <a:bodyPr/>
          <a:p/>
        </p:txBody>
      </p:sp>
      <p:sp>
        <p:nvSpPr>
          <p:cNvPr id="16" name="Shape 12"/>
          <p:cNvSpPr/>
          <p:nvPr/>
        </p:nvSpPr>
        <p:spPr>
          <a:xfrm>
            <a:off x="6126480" y="1783080"/>
            <a:ext cx="2423160" cy="1463040"/>
          </a:xfrm>
          <a:prstGeom prst="roundRect">
            <a:avLst>
              <a:gd name="adj" fmla="val 7500"/>
            </a:avLst>
          </a:prstGeom>
          <a:solidFill>
            <a:schemeClr val="bg1"/>
          </a:solidFill>
          <a:ln/>
        </p:spPr>
        <p:txBody>
          <a:bodyPr/>
          <a:p/>
        </p:txBody>
      </p:sp>
      <p:sp>
        <p:nvSpPr>
          <p:cNvPr id="17" name="Shape 13"/>
          <p:cNvSpPr/>
          <p:nvPr/>
        </p:nvSpPr>
        <p:spPr>
          <a:xfrm>
            <a:off x="6309360" y="1938528"/>
            <a:ext cx="457200" cy="457200"/>
          </a:xfrm>
          <a:prstGeom prst="ellipse">
            <a:avLst/>
          </a:prstGeom>
          <a:solidFill>
            <a:schemeClr val="accent1"/>
          </a:solidFill>
          <a:ln/>
        </p:spPr>
        <p:txBody>
          <a:bodyPr/>
          <a:p/>
        </p:txBody>
      </p:sp>
      <p:pic>
        <p:nvPicPr>
          <p:cNvPr id="18" name="Image 2" descr="preencoded.png">    </p:cNvPr>
          <p:cNvPicPr>
            <a:picLocks noChangeAspect="1"/>
          </p:cNvPicPr>
          <p:nvPr/>
        </p:nvPicPr>
        <p:blipFill>
          <a:blip r:embed="rId3"/>
          <a:stretch>
            <a:fillRect/>
          </a:stretch>
        </p:blipFill>
        <p:spPr>
          <a:xfrm>
            <a:off x="6423660" y="2052828"/>
            <a:ext cx="228600" cy="228600"/>
          </a:xfrm>
          <a:prstGeom prst="rect">
            <a:avLst/>
          </a:prstGeom>
        </p:spPr>
      </p:pic>
      <p:sp>
        <p:nvSpPr>
          <p:cNvPr id="19" name="Text 14"/>
          <p:cNvSpPr txBox="1"/>
          <p:nvPr/>
        </p:nvSpPr>
        <p:spPr>
          <a:xfrm>
            <a:off x="6858000" y="1993392"/>
            <a:ext cx="1600200" cy="365760"/>
          </a:xfrm>
          <a:prstGeom prst="rect">
            <a:avLst/>
          </a:prstGeom>
          <a:noFill/>
          <a:ln/>
        </p:spPr>
        <p:txBody>
          <a:bodyPr wrap="square" lIns="0" tIns="0" rIns="0" bIns="0" rtlCol="0" anchor="ctr"/>
          <a:lstStyle/>
          <a:p>
            <a:pPr indent="0" marL="0">
              <a:buNone/>
            </a:pPr>
            <a:r>
              <a:rPr lang="en-US" sz="1400" b="1" dirty="0">
                <a:solidFill>
                  <a:schemeClr val="tx2"/>
                </a:solidFill>
              </a:rPr>
              <a:t>FastAPI :8000</a:t>
            </a:r>
            <a:endParaRPr lang="en-US" sz="1400" dirty="0"/>
          </a:p>
        </p:txBody>
      </p:sp>
      <p:sp>
        <p:nvSpPr>
          <p:cNvPr id="20" name="Text 15"/>
          <p:cNvSpPr txBox="1"/>
          <p:nvPr/>
        </p:nvSpPr>
        <p:spPr>
          <a:xfrm>
            <a:off x="6309360" y="2514600"/>
            <a:ext cx="2103120" cy="685800"/>
          </a:xfrm>
          <a:prstGeom prst="rect">
            <a:avLst/>
          </a:prstGeom>
          <a:noFill/>
          <a:ln/>
        </p:spPr>
        <p:txBody>
          <a:bodyPr wrap="square" lIns="0" tIns="0" rIns="0" bIns="0" rtlCol="0" anchor="t"/>
          <a:lstStyle/>
          <a:p>
            <a:pPr indent="0" marL="0">
              <a:buNone/>
            </a:pPr>
            <a:r>
              <a:rPr lang="en-US" sz="1200" dirty="0">
                <a:solidFill>
                  <a:schemeClr val="tx1"/>
                </a:solidFill>
              </a:rPr>
              <a:t>Counter: thai_mix_s1024</a:t>
            </a:r>
            <a:endParaRPr lang="en-US" sz="1200" dirty="0"/>
          </a:p>
          <a:p>
            <a:pPr indent="0" marL="0">
              <a:buNone/>
            </a:pPr>
            <a:r>
              <a:rPr lang="en-US" sz="1200" dirty="0">
                <a:solidFill>
                  <a:schemeClr val="tx1"/>
                </a:solidFill>
              </a:rPr>
              <a:t>Forms: pill_type.pt</a:t>
            </a:r>
            <a:endParaRPr lang="en-US" sz="1200" dirty="0"/>
          </a:p>
          <a:p>
            <a:pPr indent="0" marL="0">
              <a:buNone/>
            </a:pPr>
            <a:r>
              <a:rPr lang="en-US" sz="1200" dirty="0">
                <a:solidFill>
                  <a:schemeClr val="tx1"/>
                </a:solidFill>
              </a:rPr>
              <a:t>Old way: classical.py</a:t>
            </a:r>
            <a:endParaRPr lang="en-US" sz="1200" dirty="0"/>
          </a:p>
        </p:txBody>
      </p:sp>
      <p:sp>
        <p:nvSpPr>
          <p:cNvPr id="21" name="Text 16"/>
          <p:cNvSpPr txBox="1"/>
          <p:nvPr/>
        </p:nvSpPr>
        <p:spPr>
          <a:xfrm>
            <a:off x="548640" y="3520440"/>
            <a:ext cx="8046720" cy="320040"/>
          </a:xfrm>
          <a:prstGeom prst="rect">
            <a:avLst/>
          </a:prstGeom>
          <a:noFill/>
          <a:ln/>
        </p:spPr>
        <p:txBody>
          <a:bodyPr wrap="square" lIns="0" tIns="0" rIns="0" bIns="0" rtlCol="0" anchor="t"/>
          <a:lstStyle/>
          <a:p>
            <a:pPr indent="0" marL="0">
              <a:buNone/>
            </a:pPr>
            <a:r>
              <a:rPr lang="en-US" sz="1600" b="1" dirty="0">
                <a:solidFill>
                  <a:schemeClr val="bg1"/>
                </a:solidFill>
              </a:rPr>
              <a:t>Things to try</a:t>
            </a:r>
            <a:endParaRPr lang="en-US" sz="1600" dirty="0"/>
          </a:p>
        </p:txBody>
      </p:sp>
      <p:sp>
        <p:nvSpPr>
          <p:cNvPr id="22" name="Text 17"/>
          <p:cNvSpPr txBox="1"/>
          <p:nvPr/>
        </p:nvSpPr>
        <p:spPr>
          <a:xfrm>
            <a:off x="548640" y="3931920"/>
            <a:ext cx="150876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Mix tablets + caplets</a:t>
            </a:r>
            <a:endParaRPr lang="en-US" sz="1100" dirty="0"/>
          </a:p>
        </p:txBody>
      </p:sp>
      <p:sp>
        <p:nvSpPr>
          <p:cNvPr id="23" name="Text 18"/>
          <p:cNvSpPr txBox="1"/>
          <p:nvPr/>
        </p:nvSpPr>
        <p:spPr>
          <a:xfrm>
            <a:off x="2176272" y="3931920"/>
            <a:ext cx="150876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Pick a pill form</a:t>
            </a:r>
            <a:endParaRPr lang="en-US" sz="1100" dirty="0"/>
          </a:p>
        </p:txBody>
      </p:sp>
      <p:sp>
        <p:nvSpPr>
          <p:cNvPr id="24" name="Text 19"/>
          <p:cNvSpPr txBox="1"/>
          <p:nvPr/>
        </p:nvSpPr>
        <p:spPr>
          <a:xfrm>
            <a:off x="3803904" y="3931920"/>
            <a:ext cx="150876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Pills touching</a:t>
            </a:r>
            <a:endParaRPr lang="en-US" sz="1100" dirty="0"/>
          </a:p>
        </p:txBody>
      </p:sp>
      <p:sp>
        <p:nvSpPr>
          <p:cNvPr id="25" name="Text 20"/>
          <p:cNvSpPr txBox="1"/>
          <p:nvPr/>
        </p:nvSpPr>
        <p:spPr>
          <a:xfrm>
            <a:off x="5431536" y="3931920"/>
            <a:ext cx="150876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Close up vs far</a:t>
            </a:r>
            <a:endParaRPr lang="en-US" sz="1100" dirty="0"/>
          </a:p>
        </p:txBody>
      </p:sp>
      <p:sp>
        <p:nvSpPr>
          <p:cNvPr id="26" name="Text 21"/>
          <p:cNvSpPr txBox="1"/>
          <p:nvPr/>
        </p:nvSpPr>
        <p:spPr>
          <a:xfrm>
            <a:off x="7059168" y="3931920"/>
            <a:ext cx="15087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Type a hand count</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Two data sources</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A public dataset teaches "what a pill is"; my own photos teach my pills, surfaces and phone</a:t>
            </a:r>
            <a:endParaRPr lang="en-US" sz="1500" dirty="0"/>
          </a:p>
        </p:txBody>
      </p:sp>
      <p:sp>
        <p:nvSpPr>
          <p:cNvPr id="4" name="Shape 2"/>
          <p:cNvSpPr/>
          <p:nvPr/>
        </p:nvSpPr>
        <p:spPr>
          <a:xfrm>
            <a:off x="457200" y="1371600"/>
            <a:ext cx="3977640" cy="3246120"/>
          </a:xfrm>
          <a:prstGeom prst="roundRect">
            <a:avLst>
              <a:gd name="adj" fmla="val 3380"/>
            </a:avLst>
          </a:prstGeom>
          <a:solidFill>
            <a:schemeClr val="bg2"/>
          </a:solidFill>
          <a:ln/>
        </p:spPr>
        <p:txBody>
          <a:bodyPr/>
          <a:p/>
        </p:txBody>
      </p:sp>
      <p:sp>
        <p:nvSpPr>
          <p:cNvPr id="5" name="Text 3"/>
          <p:cNvSpPr txBox="1"/>
          <p:nvPr/>
        </p:nvSpPr>
        <p:spPr>
          <a:xfrm>
            <a:off x="640080" y="1508760"/>
            <a:ext cx="82296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Public</a:t>
            </a:r>
            <a:endParaRPr lang="en-US" sz="1100" dirty="0"/>
          </a:p>
        </p:txBody>
      </p:sp>
      <p:sp>
        <p:nvSpPr>
          <p:cNvPr id="6" name="Text 4"/>
          <p:cNvSpPr txBox="1"/>
          <p:nvPr/>
        </p:nvSpPr>
        <p:spPr>
          <a:xfrm>
            <a:off x="1600200" y="1517904"/>
            <a:ext cx="2743200" cy="292608"/>
          </a:xfrm>
          <a:prstGeom prst="rect">
            <a:avLst/>
          </a:prstGeom>
          <a:noFill/>
          <a:ln/>
        </p:spPr>
        <p:txBody>
          <a:bodyPr wrap="square" lIns="0" tIns="0" rIns="0" bIns="0" rtlCol="0" anchor="ctr"/>
          <a:lstStyle/>
          <a:p>
            <a:pPr indent="0" marL="0">
              <a:buNone/>
            </a:pPr>
            <a:r>
              <a:rPr lang="en-US" sz="1300" b="1" dirty="0">
                <a:solidFill>
                  <a:schemeClr val="tx2"/>
                </a:solidFill>
              </a:rPr>
              <a:t>Pill Counting v4 (Roboflow, CC BY 4.0)</a:t>
            </a:r>
            <a:endParaRPr lang="en-US" sz="1300" dirty="0"/>
          </a:p>
        </p:txBody>
      </p:sp>
      <p:pic>
        <p:nvPicPr>
          <p:cNvPr id="7" name="Image 0" descr="/private/tmp/claude-501/-Users-pee-Documents-projectss/830d9427-1c57-4896-95df-e61c1a8daabe/scratchpad/deck/img/v4_dataset.jpg">    </p:cNvPr>
          <p:cNvPicPr>
            <a:picLocks noChangeAspect="1"/>
          </p:cNvPicPr>
          <p:nvPr/>
        </p:nvPicPr>
        <p:blipFill>
          <a:blip r:embed="rId1"/>
          <a:stretch>
            <a:fillRect/>
          </a:stretch>
        </p:blipFill>
        <p:spPr>
          <a:xfrm>
            <a:off x="640080" y="1965960"/>
            <a:ext cx="3611880" cy="905256"/>
          </a:xfrm>
          <a:prstGeom prst="rect">
            <a:avLst/>
          </a:prstGeom>
        </p:spPr>
      </p:pic>
      <p:sp>
        <p:nvSpPr>
          <p:cNvPr id="8" name="Text 5"/>
          <p:cNvSpPr txBox="1"/>
          <p:nvPr/>
        </p:nvSpPr>
        <p:spPr>
          <a:xfrm>
            <a:off x="640080" y="3017520"/>
            <a:ext cx="361188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1,236 photos, 71,269 labeled pills</a:t>
            </a:r>
            <a:endParaRPr lang="en-US" sz="1300" dirty="0"/>
          </a:p>
          <a:p>
            <a:pPr marL="342900" indent="-342900">
              <a:spcAft>
                <a:spcPts val="600"/>
              </a:spcAft>
              <a:buSzPct val="100000"/>
              <a:buChar char="•"/>
            </a:pPr>
            <a:r>
              <a:rPr lang="en-US" sz="1300" dirty="0">
                <a:solidFill>
                  <a:schemeClr val="tx1"/>
                </a:solidFill>
              </a:rPr>
              <a:t>Pharmacy counting trays, median 50, up to 202 pills per photo</a:t>
            </a:r>
            <a:endParaRPr lang="en-US" sz="1300" dirty="0"/>
          </a:p>
          <a:p>
            <a:pPr marL="342900" indent="-342900">
              <a:spcAft>
                <a:spcPts val="600"/>
              </a:spcAft>
              <a:buSzPct val="100000"/>
              <a:buChar char="•"/>
            </a:pPr>
            <a:r>
              <a:rPr lang="en-US" sz="1300" dirty="0">
                <a:solidFill>
                  <a:schemeClr val="tx1"/>
                </a:solidFill>
              </a:rPr>
              <a:t>+ Pill-Counter v2: 1,255 photos of 110 other drugs, added so the counter generalizes</a:t>
            </a:r>
            <a:endParaRPr lang="en-US" sz="1300" dirty="0"/>
          </a:p>
        </p:txBody>
      </p:sp>
      <p:sp>
        <p:nvSpPr>
          <p:cNvPr id="9" name="Shape 6"/>
          <p:cNvSpPr/>
          <p:nvPr/>
        </p:nvSpPr>
        <p:spPr>
          <a:xfrm>
            <a:off x="4709160" y="1371600"/>
            <a:ext cx="3977640" cy="3246120"/>
          </a:xfrm>
          <a:prstGeom prst="roundRect">
            <a:avLst>
              <a:gd name="adj" fmla="val 3380"/>
            </a:avLst>
          </a:prstGeom>
          <a:solidFill>
            <a:schemeClr val="bg2"/>
          </a:solidFill>
          <a:ln/>
        </p:spPr>
        <p:txBody>
          <a:bodyPr/>
          <a:p/>
        </p:txBody>
      </p:sp>
      <p:sp>
        <p:nvSpPr>
          <p:cNvPr id="10" name="Text 7"/>
          <p:cNvSpPr txBox="1"/>
          <p:nvPr/>
        </p:nvSpPr>
        <p:spPr>
          <a:xfrm>
            <a:off x="4892040" y="1508760"/>
            <a:ext cx="8229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Own</a:t>
            </a:r>
            <a:endParaRPr lang="en-US" sz="1100" dirty="0"/>
          </a:p>
        </p:txBody>
      </p:sp>
      <p:sp>
        <p:nvSpPr>
          <p:cNvPr id="11" name="Text 8"/>
          <p:cNvSpPr txBox="1"/>
          <p:nvPr/>
        </p:nvSpPr>
        <p:spPr>
          <a:xfrm>
            <a:off x="5852160" y="1517904"/>
            <a:ext cx="2743200" cy="292608"/>
          </a:xfrm>
          <a:prstGeom prst="rect">
            <a:avLst/>
          </a:prstGeom>
          <a:noFill/>
          <a:ln/>
        </p:spPr>
        <p:txBody>
          <a:bodyPr wrap="square" lIns="0" tIns="0" rIns="0" bIns="0" rtlCol="0" anchor="ctr"/>
          <a:lstStyle/>
          <a:p>
            <a:pPr indent="0" marL="0">
              <a:buNone/>
            </a:pPr>
            <a:r>
              <a:rPr lang="en-US" sz="1300" b="1" dirty="0">
                <a:solidFill>
                  <a:schemeClr val="tx2"/>
                </a:solidFill>
              </a:rPr>
              <a:t>My photos, hand-counted</a:t>
            </a:r>
            <a:endParaRPr lang="en-US" sz="1300" dirty="0"/>
          </a:p>
        </p:txBody>
      </p:sp>
      <p:pic>
        <p:nvPicPr>
          <p:cNvPr id="12" name="Image 1" descr="/private/tmp/claude-501/-Users-pee-Documents-projectss/830d9427-1c57-4896-95df-e61c1a8daabe/scratchpad/deck/img/own_photos2.jpg">    </p:cNvPr>
          <p:cNvPicPr>
            <a:picLocks noChangeAspect="1"/>
          </p:cNvPicPr>
          <p:nvPr/>
        </p:nvPicPr>
        <p:blipFill>
          <a:blip r:embed="rId2"/>
          <a:stretch>
            <a:fillRect/>
          </a:stretch>
        </p:blipFill>
        <p:spPr>
          <a:xfrm>
            <a:off x="4892040" y="1965960"/>
            <a:ext cx="3611880" cy="1207008"/>
          </a:xfrm>
          <a:prstGeom prst="rect">
            <a:avLst/>
          </a:prstGeom>
        </p:spPr>
      </p:pic>
      <p:sp>
        <p:nvSpPr>
          <p:cNvPr id="13" name="Text 9"/>
          <p:cNvSpPr txBox="1"/>
          <p:nvPr/>
        </p:nvSpPr>
        <p:spPr>
          <a:xfrm>
            <a:off x="4892040" y="3291840"/>
            <a:ext cx="3611880" cy="1280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256 photos in 26 hand-counted sessions</a:t>
            </a:r>
            <a:endParaRPr lang="en-US" sz="1300" dirty="0"/>
          </a:p>
          <a:p>
            <a:pPr marL="342900" indent="-342900">
              <a:spcAft>
                <a:spcPts val="600"/>
              </a:spcAft>
              <a:buSzPct val="100000"/>
              <a:buChar char="•"/>
            </a:pPr>
            <a:r>
              <a:rPr lang="en-US" sz="1300" dirty="0">
                <a:solidFill>
                  <a:schemeClr val="tx1"/>
                </a:solidFill>
              </a:rPr>
              <a:t>Tablet 80, caplet 36, mini 43, crowded mixed 97</a:t>
            </a:r>
            <a:endParaRPr lang="en-US" sz="1300" dirty="0"/>
          </a:p>
          <a:p>
            <a:pPr marL="342900" indent="-342900">
              <a:spcAft>
                <a:spcPts val="600"/>
              </a:spcAft>
              <a:buSzPct val="100000"/>
              <a:buChar char="•"/>
            </a:pPr>
            <a:r>
              <a:rPr lang="en-US" sz="1300" dirty="0">
                <a:solidFill>
                  <a:schemeClr val="tx1"/>
                </a:solidFill>
              </a:rPr>
              <a:t>+ mixed tray s20 (82 pills), testing only</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Labels checked, split by session</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Every photo's box count equals its hand count, and no pile appears in two splits</a:t>
            </a:r>
            <a:endParaRPr lang="en-US" sz="1500" dirty="0"/>
          </a:p>
        </p:txBody>
      </p:sp>
      <p:sp>
        <p:nvSpPr>
          <p:cNvPr id="4" name="Shape 2"/>
          <p:cNvSpPr/>
          <p:nvPr/>
        </p:nvSpPr>
        <p:spPr>
          <a:xfrm>
            <a:off x="457200" y="1371600"/>
            <a:ext cx="3840480" cy="685800"/>
          </a:xfrm>
          <a:prstGeom prst="roundRect">
            <a:avLst>
              <a:gd name="adj" fmla="val 16000"/>
            </a:avLst>
          </a:prstGeom>
          <a:solidFill>
            <a:schemeClr val="bg2"/>
          </a:solidFill>
          <a:ln/>
        </p:spPr>
        <p:txBody>
          <a:bodyPr/>
          <a:p/>
        </p:txBody>
      </p:sp>
      <p:sp>
        <p:nvSpPr>
          <p:cNvPr id="5" name="Text 3"/>
          <p:cNvSpPr txBox="1"/>
          <p:nvPr/>
        </p:nvSpPr>
        <p:spPr>
          <a:xfrm>
            <a:off x="640080" y="1371600"/>
            <a:ext cx="1691640" cy="685800"/>
          </a:xfrm>
          <a:prstGeom prst="rect">
            <a:avLst/>
          </a:prstGeom>
          <a:noFill/>
          <a:ln/>
        </p:spPr>
        <p:txBody>
          <a:bodyPr wrap="square" lIns="0" tIns="0" rIns="0" bIns="0" rtlCol="0" anchor="ctr"/>
          <a:lstStyle/>
          <a:p>
            <a:pPr indent="0" marL="0">
              <a:buNone/>
            </a:pPr>
            <a:r>
              <a:rPr lang="en-US" sz="2200" b="1" dirty="0">
                <a:solidFill>
                  <a:schemeClr val="tx2"/>
                </a:solidFill>
              </a:rPr>
              <a:t>15,636</a:t>
            </a:r>
            <a:endParaRPr lang="en-US" sz="2200" dirty="0"/>
          </a:p>
        </p:txBody>
      </p:sp>
      <p:sp>
        <p:nvSpPr>
          <p:cNvPr id="6" name="Text 4"/>
          <p:cNvSpPr txBox="1"/>
          <p:nvPr/>
        </p:nvSpPr>
        <p:spPr>
          <a:xfrm>
            <a:off x="2331720" y="1371600"/>
            <a:ext cx="1874520" cy="685800"/>
          </a:xfrm>
          <a:prstGeom prst="rect">
            <a:avLst/>
          </a:prstGeom>
          <a:noFill/>
          <a:ln/>
        </p:spPr>
        <p:txBody>
          <a:bodyPr wrap="square" lIns="0" tIns="0" rIns="0" bIns="0" rtlCol="0" anchor="ctr"/>
          <a:lstStyle/>
          <a:p>
            <a:pPr indent="0" marL="0">
              <a:buNone/>
            </a:pPr>
            <a:r>
              <a:rPr lang="en-US" sz="1200" dirty="0">
                <a:solidFill>
                  <a:schemeClr val="tx1"/>
                </a:solidFill>
              </a:rPr>
              <a:t>pills labeled, one class: "pill"</a:t>
            </a:r>
            <a:endParaRPr lang="en-US" sz="1200" dirty="0"/>
          </a:p>
        </p:txBody>
      </p:sp>
      <p:sp>
        <p:nvSpPr>
          <p:cNvPr id="7" name="Shape 5"/>
          <p:cNvSpPr/>
          <p:nvPr/>
        </p:nvSpPr>
        <p:spPr>
          <a:xfrm>
            <a:off x="457200" y="2176272"/>
            <a:ext cx="3840480" cy="685800"/>
          </a:xfrm>
          <a:prstGeom prst="roundRect">
            <a:avLst>
              <a:gd name="adj" fmla="val 16000"/>
            </a:avLst>
          </a:prstGeom>
          <a:solidFill>
            <a:schemeClr val="bg2"/>
          </a:solidFill>
          <a:ln/>
        </p:spPr>
        <p:txBody>
          <a:bodyPr/>
          <a:p/>
        </p:txBody>
      </p:sp>
      <p:sp>
        <p:nvSpPr>
          <p:cNvPr id="8" name="Text 6"/>
          <p:cNvSpPr txBox="1"/>
          <p:nvPr/>
        </p:nvSpPr>
        <p:spPr>
          <a:xfrm>
            <a:off x="640080" y="2176272"/>
            <a:ext cx="1691640" cy="685800"/>
          </a:xfrm>
          <a:prstGeom prst="rect">
            <a:avLst/>
          </a:prstGeom>
          <a:noFill/>
          <a:ln/>
        </p:spPr>
        <p:txBody>
          <a:bodyPr wrap="square" lIns="0" tIns="0" rIns="0" bIns="0" rtlCol="0" anchor="ctr"/>
          <a:lstStyle/>
          <a:p>
            <a:pPr indent="0" marL="0">
              <a:buNone/>
            </a:pPr>
            <a:r>
              <a:rPr lang="en-US" sz="2200" b="1" dirty="0">
                <a:solidFill>
                  <a:schemeClr val="tx2"/>
                </a:solidFill>
              </a:rPr>
              <a:t>68 / 80</a:t>
            </a:r>
            <a:endParaRPr lang="en-US" sz="2200" dirty="0"/>
          </a:p>
        </p:txBody>
      </p:sp>
      <p:sp>
        <p:nvSpPr>
          <p:cNvPr id="9" name="Text 7"/>
          <p:cNvSpPr txBox="1"/>
          <p:nvPr/>
        </p:nvSpPr>
        <p:spPr>
          <a:xfrm>
            <a:off x="2331720" y="2176272"/>
            <a:ext cx="1874520" cy="685800"/>
          </a:xfrm>
          <a:prstGeom prst="rect">
            <a:avLst/>
          </a:prstGeom>
          <a:noFill/>
          <a:ln/>
        </p:spPr>
        <p:txBody>
          <a:bodyPr wrap="square" lIns="0" tIns="0" rIns="0" bIns="0" rtlCol="0" anchor="ctr"/>
          <a:lstStyle/>
          <a:p>
            <a:pPr indent="0" marL="0">
              <a:buNone/>
            </a:pPr>
            <a:r>
              <a:rPr lang="en-US" sz="1200" dirty="0">
                <a:solidFill>
                  <a:schemeClr val="tx1"/>
                </a:solidFill>
              </a:rPr>
              <a:t>new photos already exact from pre-labeling</a:t>
            </a:r>
            <a:endParaRPr lang="en-US" sz="1200" dirty="0"/>
          </a:p>
        </p:txBody>
      </p:sp>
      <p:sp>
        <p:nvSpPr>
          <p:cNvPr id="10" name="Shape 8"/>
          <p:cNvSpPr/>
          <p:nvPr/>
        </p:nvSpPr>
        <p:spPr>
          <a:xfrm>
            <a:off x="457200" y="2980944"/>
            <a:ext cx="3840480" cy="685800"/>
          </a:xfrm>
          <a:prstGeom prst="roundRect">
            <a:avLst>
              <a:gd name="adj" fmla="val 16000"/>
            </a:avLst>
          </a:prstGeom>
          <a:solidFill>
            <a:schemeClr val="bg2"/>
          </a:solidFill>
          <a:ln/>
        </p:spPr>
        <p:txBody>
          <a:bodyPr/>
          <a:p/>
        </p:txBody>
      </p:sp>
      <p:sp>
        <p:nvSpPr>
          <p:cNvPr id="11" name="Text 9"/>
          <p:cNvSpPr txBox="1"/>
          <p:nvPr/>
        </p:nvSpPr>
        <p:spPr>
          <a:xfrm>
            <a:off x="640080" y="2980944"/>
            <a:ext cx="1691640" cy="685800"/>
          </a:xfrm>
          <a:prstGeom prst="rect">
            <a:avLst/>
          </a:prstGeom>
          <a:noFill/>
          <a:ln/>
        </p:spPr>
        <p:txBody>
          <a:bodyPr wrap="square" lIns="0" tIns="0" rIns="0" bIns="0" rtlCol="0" anchor="ctr"/>
          <a:lstStyle/>
          <a:p>
            <a:pPr indent="0" marL="0">
              <a:buNone/>
            </a:pPr>
            <a:r>
              <a:rPr lang="en-US" sz="2200" b="1" dirty="0">
                <a:solidFill>
                  <a:schemeClr val="tx2"/>
                </a:solidFill>
              </a:rPr>
              <a:t>−6</a:t>
            </a:r>
            <a:endParaRPr lang="en-US" sz="2200" dirty="0"/>
          </a:p>
        </p:txBody>
      </p:sp>
      <p:sp>
        <p:nvSpPr>
          <p:cNvPr id="12" name="Text 10"/>
          <p:cNvSpPr txBox="1"/>
          <p:nvPr/>
        </p:nvSpPr>
        <p:spPr>
          <a:xfrm>
            <a:off x="2331720" y="2980944"/>
            <a:ext cx="1874520" cy="685800"/>
          </a:xfrm>
          <a:prstGeom prst="rect">
            <a:avLst/>
          </a:prstGeom>
          <a:noFill/>
          <a:ln/>
        </p:spPr>
        <p:txBody>
          <a:bodyPr wrap="square" lIns="0" tIns="0" rIns="0" bIns="0" rtlCol="0" anchor="ctr"/>
          <a:lstStyle/>
          <a:p>
            <a:pPr indent="0" marL="0">
              <a:buNone/>
            </a:pPr>
            <a:r>
              <a:rPr lang="en-US" sz="1200" dirty="0">
                <a:solidFill>
                  <a:schemeClr val="tx1"/>
                </a:solidFill>
              </a:rPr>
              <a:t>false boxes found by checks, removed</a:t>
            </a:r>
            <a:endParaRPr lang="en-US" sz="1200" dirty="0"/>
          </a:p>
        </p:txBody>
      </p:sp>
      <p:sp>
        <p:nvSpPr>
          <p:cNvPr id="13" name="Shape 11"/>
          <p:cNvSpPr/>
          <p:nvPr/>
        </p:nvSpPr>
        <p:spPr>
          <a:xfrm>
            <a:off x="457200" y="3785616"/>
            <a:ext cx="3840480" cy="685800"/>
          </a:xfrm>
          <a:prstGeom prst="roundRect">
            <a:avLst>
              <a:gd name="adj" fmla="val 16000"/>
            </a:avLst>
          </a:prstGeom>
          <a:solidFill>
            <a:schemeClr val="accent1"/>
          </a:solidFill>
          <a:ln/>
        </p:spPr>
        <p:txBody>
          <a:bodyPr/>
          <a:p/>
        </p:txBody>
      </p:sp>
      <p:sp>
        <p:nvSpPr>
          <p:cNvPr id="14" name="Text 12"/>
          <p:cNvSpPr txBox="1"/>
          <p:nvPr/>
        </p:nvSpPr>
        <p:spPr>
          <a:xfrm>
            <a:off x="640080" y="3785616"/>
            <a:ext cx="1691640" cy="685800"/>
          </a:xfrm>
          <a:prstGeom prst="rect">
            <a:avLst/>
          </a:prstGeom>
          <a:noFill/>
          <a:ln/>
        </p:spPr>
        <p:txBody>
          <a:bodyPr wrap="square" lIns="0" tIns="0" rIns="0" bIns="0" rtlCol="0" anchor="ctr"/>
          <a:lstStyle/>
          <a:p>
            <a:pPr indent="0" marL="0">
              <a:buNone/>
            </a:pPr>
            <a:r>
              <a:rPr lang="en-US" sz="1800" b="1" dirty="0">
                <a:solidFill>
                  <a:schemeClr val="bg1"/>
                </a:solidFill>
              </a:rPr>
              <a:t>276 = 276</a:t>
            </a:r>
            <a:endParaRPr lang="en-US" sz="1800" dirty="0"/>
          </a:p>
        </p:txBody>
      </p:sp>
      <p:sp>
        <p:nvSpPr>
          <p:cNvPr id="15" name="Text 13"/>
          <p:cNvSpPr txBox="1"/>
          <p:nvPr/>
        </p:nvSpPr>
        <p:spPr>
          <a:xfrm>
            <a:off x="2331720" y="3785616"/>
            <a:ext cx="1874520" cy="685800"/>
          </a:xfrm>
          <a:prstGeom prst="rect">
            <a:avLst/>
          </a:prstGeom>
          <a:noFill/>
          <a:ln/>
        </p:spPr>
        <p:txBody>
          <a:bodyPr wrap="square" lIns="0" tIns="0" rIns="0" bIns="0" rtlCol="0" anchor="ctr"/>
          <a:lstStyle/>
          <a:p>
            <a:pPr indent="0" marL="0">
              <a:buNone/>
            </a:pPr>
            <a:r>
              <a:rPr lang="en-US" sz="1200" dirty="0">
                <a:solidFill>
                  <a:schemeClr val="bg1"/>
                </a:solidFill>
              </a:rPr>
              <a:t>photos whose box count = hand count</a:t>
            </a:r>
            <a:endParaRPr lang="en-US" sz="1200" dirty="0"/>
          </a:p>
        </p:txBody>
      </p:sp>
      <p:sp>
        <p:nvSpPr>
          <p:cNvPr id="16" name="Text 14"/>
          <p:cNvSpPr txBox="1"/>
          <p:nvPr/>
        </p:nvSpPr>
        <p:spPr>
          <a:xfrm>
            <a:off x="4617720" y="1371600"/>
            <a:ext cx="4069080" cy="320040"/>
          </a:xfrm>
          <a:prstGeom prst="rect">
            <a:avLst/>
          </a:prstGeom>
          <a:noFill/>
          <a:ln/>
        </p:spPr>
        <p:txBody>
          <a:bodyPr wrap="square" lIns="0" tIns="0" rIns="0" bIns="0" rtlCol="0" anchor="t"/>
          <a:lstStyle/>
          <a:p>
            <a:pPr indent="0" marL="0">
              <a:buNone/>
            </a:pPr>
            <a:r>
              <a:rPr lang="en-US" sz="1400" b="1" dirty="0">
                <a:solidFill>
                  <a:schemeClr val="tx2"/>
                </a:solidFill>
              </a:rPr>
              <a:t>Split by session: no same-session leakage</a:t>
            </a:r>
            <a:endParaRPr lang="en-US" sz="1400" dirty="0"/>
          </a:p>
        </p:txBody>
      </p:sp>
      <p:sp>
        <p:nvSpPr>
          <p:cNvPr id="17" name="Text 15"/>
          <p:cNvSpPr txBox="1"/>
          <p:nvPr/>
        </p:nvSpPr>
        <p:spPr>
          <a:xfrm>
            <a:off x="4617720" y="1783080"/>
            <a:ext cx="7772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Train</a:t>
            </a:r>
            <a:endParaRPr lang="en-US" sz="1100" dirty="0"/>
          </a:p>
        </p:txBody>
      </p:sp>
      <p:sp>
        <p:nvSpPr>
          <p:cNvPr id="18" name="Text 16"/>
          <p:cNvSpPr txBox="1"/>
          <p:nvPr/>
        </p:nvSpPr>
        <p:spPr>
          <a:xfrm>
            <a:off x="5532120" y="1764792"/>
            <a:ext cx="3154680" cy="292608"/>
          </a:xfrm>
          <a:prstGeom prst="rect">
            <a:avLst/>
          </a:prstGeom>
          <a:noFill/>
          <a:ln/>
        </p:spPr>
        <p:txBody>
          <a:bodyPr wrap="square" lIns="0" tIns="0" rIns="0" bIns="0" rtlCol="0" anchor="ctr"/>
          <a:lstStyle/>
          <a:p>
            <a:pPr indent="0" marL="0">
              <a:buNone/>
            </a:pPr>
            <a:r>
              <a:rPr lang="en-US" sz="1300" b="1" dirty="0">
                <a:solidFill>
                  <a:schemeClr val="tx1"/>
                </a:solidFill>
              </a:rPr>
              <a:t>15 sessions · 151 photos</a:t>
            </a:r>
            <a:endParaRPr lang="en-US" sz="1300" dirty="0"/>
          </a:p>
        </p:txBody>
      </p:sp>
      <p:sp>
        <p:nvSpPr>
          <p:cNvPr id="19" name="Text 17"/>
          <p:cNvSpPr txBox="1"/>
          <p:nvPr/>
        </p:nvSpPr>
        <p:spPr>
          <a:xfrm>
            <a:off x="5532120" y="2075688"/>
            <a:ext cx="3154680" cy="365760"/>
          </a:xfrm>
          <a:prstGeom prst="rect">
            <a:avLst/>
          </a:prstGeom>
          <a:noFill/>
          <a:ln/>
        </p:spPr>
        <p:txBody>
          <a:bodyPr wrap="square" lIns="0" tIns="0" rIns="0" bIns="0" rtlCol="0" anchor="t"/>
          <a:lstStyle/>
          <a:p>
            <a:pPr indent="0" marL="0">
              <a:buNone/>
            </a:pPr>
            <a:r>
              <a:rPr lang="en-US" sz="1200" dirty="0">
                <a:solidFill>
                  <a:schemeClr val="accent6"/>
                </a:solidFill>
              </a:rPr>
              <a:t>all 3 forms + 3 crowded mixed trays</a:t>
            </a:r>
            <a:endParaRPr lang="en-US" sz="1200" dirty="0"/>
          </a:p>
        </p:txBody>
      </p:sp>
      <p:sp>
        <p:nvSpPr>
          <p:cNvPr id="20" name="Text 18"/>
          <p:cNvSpPr txBox="1"/>
          <p:nvPr/>
        </p:nvSpPr>
        <p:spPr>
          <a:xfrm>
            <a:off x="4617720" y="2496312"/>
            <a:ext cx="777240" cy="292608"/>
          </a:xfrm>
          <a:prstGeom prst="roundRect">
            <a:avLst>
              <a:gd name="adj" fmla="val 50000"/>
            </a:avLst>
          </a:prstGeom>
          <a:solidFill>
            <a:schemeClr val="accent6"/>
          </a:solidFill>
          <a:ln/>
        </p:spPr>
        <p:txBody>
          <a:bodyPr wrap="square" lIns="0" tIns="0" rIns="0" bIns="0" rtlCol="0" anchor="ctr"/>
          <a:lstStyle/>
          <a:p>
            <a:pPr algn="ctr" indent="0" marL="0">
              <a:buNone/>
            </a:pPr>
            <a:r>
              <a:rPr lang="en-US" sz="1100" b="1" dirty="0">
                <a:solidFill>
                  <a:schemeClr val="bg1"/>
                </a:solidFill>
              </a:rPr>
              <a:t>Val</a:t>
            </a:r>
            <a:endParaRPr lang="en-US" sz="1100" dirty="0"/>
          </a:p>
        </p:txBody>
      </p:sp>
      <p:sp>
        <p:nvSpPr>
          <p:cNvPr id="21" name="Text 19"/>
          <p:cNvSpPr txBox="1"/>
          <p:nvPr/>
        </p:nvSpPr>
        <p:spPr>
          <a:xfrm>
            <a:off x="5532120" y="2478024"/>
            <a:ext cx="3154680" cy="292608"/>
          </a:xfrm>
          <a:prstGeom prst="rect">
            <a:avLst/>
          </a:prstGeom>
          <a:noFill/>
          <a:ln/>
        </p:spPr>
        <p:txBody>
          <a:bodyPr wrap="square" lIns="0" tIns="0" rIns="0" bIns="0" rtlCol="0" anchor="ctr"/>
          <a:lstStyle/>
          <a:p>
            <a:pPr indent="0" marL="0">
              <a:buNone/>
            </a:pPr>
            <a:r>
              <a:rPr lang="en-US" sz="1300" b="1" dirty="0">
                <a:solidFill>
                  <a:schemeClr val="tx1"/>
                </a:solidFill>
              </a:rPr>
              <a:t>5 sessions · 60 photos</a:t>
            </a:r>
            <a:endParaRPr lang="en-US" sz="1300" dirty="0"/>
          </a:p>
        </p:txBody>
      </p:sp>
      <p:sp>
        <p:nvSpPr>
          <p:cNvPr id="22" name="Text 20"/>
          <p:cNvSpPr txBox="1"/>
          <p:nvPr/>
        </p:nvSpPr>
        <p:spPr>
          <a:xfrm>
            <a:off x="5532120" y="2788920"/>
            <a:ext cx="3154680" cy="365760"/>
          </a:xfrm>
          <a:prstGeom prst="rect">
            <a:avLst/>
          </a:prstGeom>
          <a:noFill/>
          <a:ln/>
        </p:spPr>
        <p:txBody>
          <a:bodyPr wrap="square" lIns="0" tIns="0" rIns="0" bIns="0" rtlCol="0" anchor="t"/>
          <a:lstStyle/>
          <a:p>
            <a:pPr indent="0" marL="0">
              <a:buNone/>
            </a:pPr>
            <a:r>
              <a:rPr lang="en-US" sz="1200" dirty="0">
                <a:solidFill>
                  <a:schemeClr val="accent6"/>
                </a:solidFill>
              </a:rPr>
              <a:t>each form + 1 crowded tray: tunes, picks models</a:t>
            </a:r>
            <a:endParaRPr lang="en-US" sz="1200" dirty="0"/>
          </a:p>
        </p:txBody>
      </p:sp>
      <p:sp>
        <p:nvSpPr>
          <p:cNvPr id="23" name="Text 21"/>
          <p:cNvSpPr txBox="1"/>
          <p:nvPr/>
        </p:nvSpPr>
        <p:spPr>
          <a:xfrm>
            <a:off x="4617720" y="3209544"/>
            <a:ext cx="7772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Test</a:t>
            </a:r>
            <a:endParaRPr lang="en-US" sz="1100" dirty="0"/>
          </a:p>
        </p:txBody>
      </p:sp>
      <p:sp>
        <p:nvSpPr>
          <p:cNvPr id="24" name="Text 22"/>
          <p:cNvSpPr txBox="1"/>
          <p:nvPr/>
        </p:nvSpPr>
        <p:spPr>
          <a:xfrm>
            <a:off x="5532120" y="3191256"/>
            <a:ext cx="3154680" cy="292608"/>
          </a:xfrm>
          <a:prstGeom prst="rect">
            <a:avLst/>
          </a:prstGeom>
          <a:noFill/>
          <a:ln/>
        </p:spPr>
        <p:txBody>
          <a:bodyPr wrap="square" lIns="0" tIns="0" rIns="0" bIns="0" rtlCol="0" anchor="ctr"/>
          <a:lstStyle/>
          <a:p>
            <a:pPr indent="0" marL="0">
              <a:buNone/>
            </a:pPr>
            <a:r>
              <a:rPr lang="en-US" sz="1300" b="1" dirty="0">
                <a:solidFill>
                  <a:schemeClr val="tx1"/>
                </a:solidFill>
              </a:rPr>
              <a:t>6 sessions · 45 photos</a:t>
            </a:r>
            <a:endParaRPr lang="en-US" sz="1300" dirty="0"/>
          </a:p>
        </p:txBody>
      </p:sp>
      <p:sp>
        <p:nvSpPr>
          <p:cNvPr id="25" name="Text 23"/>
          <p:cNvSpPr txBox="1"/>
          <p:nvPr/>
        </p:nvSpPr>
        <p:spPr>
          <a:xfrm>
            <a:off x="5532120" y="3502152"/>
            <a:ext cx="3154680" cy="365760"/>
          </a:xfrm>
          <a:prstGeom prst="rect">
            <a:avLst/>
          </a:prstGeom>
          <a:noFill/>
          <a:ln/>
        </p:spPr>
        <p:txBody>
          <a:bodyPr wrap="square" lIns="0" tIns="0" rIns="0" bIns="0" rtlCol="0" anchor="t"/>
          <a:lstStyle/>
          <a:p>
            <a:pPr indent="0" marL="0">
              <a:buNone/>
            </a:pPr>
            <a:r>
              <a:rPr lang="en-US" sz="1200" dirty="0">
                <a:solidFill>
                  <a:schemeClr val="accent6"/>
                </a:solidFill>
              </a:rPr>
              <a:t>blue tablets, brown cloth (unseen) + each form</a:t>
            </a:r>
            <a:endParaRPr lang="en-US" sz="1200" dirty="0"/>
          </a:p>
        </p:txBody>
      </p:sp>
      <p:sp>
        <p:nvSpPr>
          <p:cNvPr id="26" name="Text 24"/>
          <p:cNvSpPr txBox="1"/>
          <p:nvPr/>
        </p:nvSpPr>
        <p:spPr>
          <a:xfrm>
            <a:off x="4617720" y="3922776"/>
            <a:ext cx="777240" cy="29260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Mixed</a:t>
            </a:r>
            <a:endParaRPr lang="en-US" sz="1100" dirty="0"/>
          </a:p>
        </p:txBody>
      </p:sp>
      <p:sp>
        <p:nvSpPr>
          <p:cNvPr id="27" name="Text 25"/>
          <p:cNvSpPr txBox="1"/>
          <p:nvPr/>
        </p:nvSpPr>
        <p:spPr>
          <a:xfrm>
            <a:off x="5532120" y="3904488"/>
            <a:ext cx="3154680" cy="292608"/>
          </a:xfrm>
          <a:prstGeom prst="rect">
            <a:avLst/>
          </a:prstGeom>
          <a:noFill/>
          <a:ln/>
        </p:spPr>
        <p:txBody>
          <a:bodyPr wrap="square" lIns="0" tIns="0" rIns="0" bIns="0" rtlCol="0" anchor="ctr"/>
          <a:lstStyle/>
          <a:p>
            <a:pPr indent="0" marL="0">
              <a:buNone/>
            </a:pPr>
            <a:r>
              <a:rPr lang="en-US" sz="1300" b="1" dirty="0">
                <a:solidFill>
                  <a:schemeClr val="tx1"/>
                </a:solidFill>
              </a:rPr>
              <a:t>1 tray · 20 photos</a:t>
            </a:r>
            <a:endParaRPr lang="en-US" sz="1300" dirty="0"/>
          </a:p>
        </p:txBody>
      </p:sp>
      <p:sp>
        <p:nvSpPr>
          <p:cNvPr id="28" name="Text 26"/>
          <p:cNvSpPr txBox="1"/>
          <p:nvPr/>
        </p:nvSpPr>
        <p:spPr>
          <a:xfrm>
            <a:off x="5532120" y="4215384"/>
            <a:ext cx="3154680" cy="365760"/>
          </a:xfrm>
          <a:prstGeom prst="rect">
            <a:avLst/>
          </a:prstGeom>
          <a:noFill/>
          <a:ln/>
        </p:spPr>
        <p:txBody>
          <a:bodyPr wrap="square" lIns="0" tIns="0" rIns="0" bIns="0" rtlCol="0" anchor="t"/>
          <a:lstStyle/>
          <a:p>
            <a:pPr indent="0" marL="0">
              <a:buNone/>
            </a:pPr>
            <a:r>
              <a:rPr lang="en-US" sz="1200" dirty="0">
                <a:solidFill>
                  <a:schemeClr val="accent6"/>
                </a:solidFill>
              </a:rPr>
              <a:t>82 mixed pills, floor tile: evaluation only</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Transfer learning in two steps</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Course rule of thumb: less data → freeze more. Start frozen, then full fine-tuning at a low learning rate</a:t>
            </a:r>
            <a:endParaRPr lang="en-US" sz="1500" dirty="0"/>
          </a:p>
        </p:txBody>
      </p:sp>
      <p:sp>
        <p:nvSpPr>
          <p:cNvPr id="4" name="Shape 2"/>
          <p:cNvSpPr/>
          <p:nvPr/>
        </p:nvSpPr>
        <p:spPr>
          <a:xfrm>
            <a:off x="457200" y="1371600"/>
            <a:ext cx="2468880" cy="1463040"/>
          </a:xfrm>
          <a:prstGeom prst="roundRect">
            <a:avLst>
              <a:gd name="adj" fmla="val 7500"/>
            </a:avLst>
          </a:prstGeom>
          <a:solidFill>
            <a:schemeClr val="bg2"/>
          </a:solidFill>
          <a:ln/>
        </p:spPr>
        <p:txBody>
          <a:bodyPr/>
          <a:p/>
        </p:txBody>
      </p:sp>
      <p:sp>
        <p:nvSpPr>
          <p:cNvPr id="5" name="Text 3"/>
          <p:cNvSpPr txBox="1"/>
          <p:nvPr/>
        </p:nvSpPr>
        <p:spPr>
          <a:xfrm>
            <a:off x="640080" y="1508760"/>
            <a:ext cx="5486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L3</a:t>
            </a:r>
            <a:endParaRPr lang="en-US" sz="1100" dirty="0"/>
          </a:p>
        </p:txBody>
      </p:sp>
      <p:sp>
        <p:nvSpPr>
          <p:cNvPr id="6" name="Text 4"/>
          <p:cNvSpPr txBox="1"/>
          <p:nvPr/>
        </p:nvSpPr>
        <p:spPr>
          <a:xfrm>
            <a:off x="1280160" y="1508760"/>
            <a:ext cx="1554480" cy="292608"/>
          </a:xfrm>
          <a:prstGeom prst="rect">
            <a:avLst/>
          </a:prstGeom>
          <a:noFill/>
          <a:ln/>
        </p:spPr>
        <p:txBody>
          <a:bodyPr wrap="square" lIns="0" tIns="0" rIns="0" bIns="0" rtlCol="0" anchor="ctr"/>
          <a:lstStyle/>
          <a:p>
            <a:pPr indent="0" marL="0">
              <a:buNone/>
            </a:pPr>
            <a:r>
              <a:rPr lang="en-US" sz="1400" b="1" dirty="0">
                <a:solidFill>
                  <a:schemeClr val="tx2"/>
                </a:solidFill>
              </a:rPr>
              <a:t>yolo11s.pt</a:t>
            </a:r>
            <a:endParaRPr lang="en-US" sz="1400" dirty="0"/>
          </a:p>
        </p:txBody>
      </p:sp>
      <p:sp>
        <p:nvSpPr>
          <p:cNvPr id="7" name="Text 5"/>
          <p:cNvSpPr txBox="1"/>
          <p:nvPr/>
        </p:nvSpPr>
        <p:spPr>
          <a:xfrm>
            <a:off x="640080" y="1920240"/>
            <a:ext cx="2103120" cy="868680"/>
          </a:xfrm>
          <a:prstGeom prst="rect">
            <a:avLst/>
          </a:prstGeom>
          <a:noFill/>
          <a:ln/>
        </p:spPr>
        <p:txBody>
          <a:bodyPr wrap="square" lIns="0" tIns="0" rIns="0" bIns="0" rtlCol="0" anchor="t"/>
          <a:lstStyle/>
          <a:p>
            <a:pPr indent="0" marL="0">
              <a:buNone/>
            </a:pPr>
            <a:r>
              <a:rPr lang="en-US" sz="1200" dirty="0">
                <a:solidFill>
                  <a:schemeClr val="tx1"/>
                </a:solidFill>
              </a:rPr>
              <a:t>Pretrained on COCO (everyday objects). Knows edges and shapes, not pills.</a:t>
            </a:r>
            <a:endParaRPr lang="en-US" sz="1200" dirty="0"/>
          </a:p>
        </p:txBody>
      </p:sp>
      <p:sp>
        <p:nvSpPr>
          <p:cNvPr id="8" name="Shape 6"/>
          <p:cNvSpPr/>
          <p:nvPr/>
        </p:nvSpPr>
        <p:spPr>
          <a:xfrm>
            <a:off x="2971800" y="2103120"/>
            <a:ext cx="274320" cy="0"/>
          </a:xfrm>
          <a:prstGeom prst="line">
            <a:avLst/>
          </a:prstGeom>
          <a:noFill/>
          <a:ln w="25400">
            <a:solidFill>
              <a:schemeClr val="accent6"/>
            </a:solidFill>
            <a:prstDash val="solid"/>
            <a:tailEnd type="triangle"/>
          </a:ln>
        </p:spPr>
        <p:txBody>
          <a:bodyPr/>
          <a:p/>
        </p:txBody>
      </p:sp>
      <p:sp>
        <p:nvSpPr>
          <p:cNvPr id="9" name="Shape 7"/>
          <p:cNvSpPr/>
          <p:nvPr/>
        </p:nvSpPr>
        <p:spPr>
          <a:xfrm>
            <a:off x="3291840" y="1371600"/>
            <a:ext cx="2468880" cy="1463040"/>
          </a:xfrm>
          <a:prstGeom prst="roundRect">
            <a:avLst>
              <a:gd name="adj" fmla="val 7500"/>
            </a:avLst>
          </a:prstGeom>
          <a:solidFill>
            <a:schemeClr val="bg2"/>
          </a:solidFill>
          <a:ln/>
        </p:spPr>
        <p:txBody>
          <a:bodyPr/>
          <a:p/>
        </p:txBody>
      </p:sp>
      <p:sp>
        <p:nvSpPr>
          <p:cNvPr id="10" name="Text 8"/>
          <p:cNvSpPr txBox="1"/>
          <p:nvPr/>
        </p:nvSpPr>
        <p:spPr>
          <a:xfrm>
            <a:off x="3474720" y="1508760"/>
            <a:ext cx="5486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L4</a:t>
            </a:r>
            <a:endParaRPr lang="en-US" sz="1100" dirty="0"/>
          </a:p>
        </p:txBody>
      </p:sp>
      <p:sp>
        <p:nvSpPr>
          <p:cNvPr id="11" name="Text 9"/>
          <p:cNvSpPr txBox="1"/>
          <p:nvPr/>
        </p:nvSpPr>
        <p:spPr>
          <a:xfrm>
            <a:off x="4114800" y="1508760"/>
            <a:ext cx="1554480" cy="292608"/>
          </a:xfrm>
          <a:prstGeom prst="rect">
            <a:avLst/>
          </a:prstGeom>
          <a:noFill/>
          <a:ln/>
        </p:spPr>
        <p:txBody>
          <a:bodyPr wrap="square" lIns="0" tIns="0" rIns="0" bIns="0" rtlCol="0" anchor="ctr"/>
          <a:lstStyle/>
          <a:p>
            <a:pPr indent="0" marL="0">
              <a:buNone/>
            </a:pPr>
            <a:r>
              <a:rPr lang="en-US" sz="1400" b="1" dirty="0">
                <a:solidFill>
                  <a:schemeClr val="tx2"/>
                </a:solidFill>
              </a:rPr>
              <a:t>v4_pill_model.pt</a:t>
            </a:r>
            <a:endParaRPr lang="en-US" sz="1400" dirty="0"/>
          </a:p>
        </p:txBody>
      </p:sp>
      <p:sp>
        <p:nvSpPr>
          <p:cNvPr id="12" name="Text 10"/>
          <p:cNvSpPr txBox="1"/>
          <p:nvPr/>
        </p:nvSpPr>
        <p:spPr>
          <a:xfrm>
            <a:off x="3474720" y="1920240"/>
            <a:ext cx="2103120" cy="868680"/>
          </a:xfrm>
          <a:prstGeom prst="rect">
            <a:avLst/>
          </a:prstGeom>
          <a:noFill/>
          <a:ln/>
        </p:spPr>
        <p:txBody>
          <a:bodyPr wrap="square" lIns="0" tIns="0" rIns="0" bIns="0" rtlCol="0" anchor="t"/>
          <a:lstStyle/>
          <a:p>
            <a:pPr indent="0" marL="0">
              <a:buNone/>
            </a:pPr>
            <a:r>
              <a:rPr lang="en-US" sz="1200" dirty="0">
                <a:solidFill>
                  <a:schemeClr val="tx1"/>
                </a:solidFill>
              </a:rPr>
              <a:t>Fine-tuned on Pill Counting v4. Colab T4, 60 epochs, 1024 px.</a:t>
            </a:r>
            <a:endParaRPr lang="en-US" sz="1200" dirty="0"/>
          </a:p>
        </p:txBody>
      </p:sp>
      <p:sp>
        <p:nvSpPr>
          <p:cNvPr id="13" name="Shape 11"/>
          <p:cNvSpPr/>
          <p:nvPr/>
        </p:nvSpPr>
        <p:spPr>
          <a:xfrm>
            <a:off x="5806440" y="2103120"/>
            <a:ext cx="274320" cy="0"/>
          </a:xfrm>
          <a:prstGeom prst="line">
            <a:avLst/>
          </a:prstGeom>
          <a:noFill/>
          <a:ln w="25400">
            <a:solidFill>
              <a:schemeClr val="accent6"/>
            </a:solidFill>
            <a:prstDash val="solid"/>
            <a:tailEnd type="triangle"/>
          </a:ln>
        </p:spPr>
        <p:txBody>
          <a:bodyPr/>
          <a:p/>
        </p:txBody>
      </p:sp>
      <p:sp>
        <p:nvSpPr>
          <p:cNvPr id="14" name="Shape 12"/>
          <p:cNvSpPr/>
          <p:nvPr/>
        </p:nvSpPr>
        <p:spPr>
          <a:xfrm>
            <a:off x="6126480" y="1371600"/>
            <a:ext cx="2468880" cy="1463040"/>
          </a:xfrm>
          <a:prstGeom prst="roundRect">
            <a:avLst>
              <a:gd name="adj" fmla="val 7500"/>
            </a:avLst>
          </a:prstGeom>
          <a:solidFill>
            <a:schemeClr val="tx2"/>
          </a:solidFill>
          <a:ln/>
        </p:spPr>
        <p:txBody>
          <a:bodyPr/>
          <a:p/>
        </p:txBody>
      </p:sp>
      <p:sp>
        <p:nvSpPr>
          <p:cNvPr id="15" name="Text 13"/>
          <p:cNvSpPr txBox="1"/>
          <p:nvPr/>
        </p:nvSpPr>
        <p:spPr>
          <a:xfrm>
            <a:off x="6309360" y="1508760"/>
            <a:ext cx="5486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L5</a:t>
            </a:r>
            <a:endParaRPr lang="en-US" sz="1100" dirty="0"/>
          </a:p>
        </p:txBody>
      </p:sp>
      <p:sp>
        <p:nvSpPr>
          <p:cNvPr id="16" name="Text 14"/>
          <p:cNvSpPr txBox="1"/>
          <p:nvPr/>
        </p:nvSpPr>
        <p:spPr>
          <a:xfrm>
            <a:off x="6949440" y="1508760"/>
            <a:ext cx="1554480" cy="292608"/>
          </a:xfrm>
          <a:prstGeom prst="rect">
            <a:avLst/>
          </a:prstGeom>
          <a:noFill/>
          <a:ln/>
        </p:spPr>
        <p:txBody>
          <a:bodyPr wrap="square" lIns="0" tIns="0" rIns="0" bIns="0" rtlCol="0" anchor="ctr"/>
          <a:lstStyle/>
          <a:p>
            <a:pPr indent="0" marL="0">
              <a:buNone/>
            </a:pPr>
            <a:r>
              <a:rPr lang="en-US" sz="1400" b="1" dirty="0">
                <a:solidFill>
                  <a:schemeClr val="bg1"/>
                </a:solidFill>
              </a:rPr>
              <a:t>thai_mix_s1024</a:t>
            </a:r>
            <a:endParaRPr lang="en-US" sz="1400" dirty="0"/>
          </a:p>
        </p:txBody>
      </p:sp>
      <p:sp>
        <p:nvSpPr>
          <p:cNvPr id="17" name="Text 15"/>
          <p:cNvSpPr txBox="1"/>
          <p:nvPr/>
        </p:nvSpPr>
        <p:spPr>
          <a:xfrm>
            <a:off x="6309360" y="1920240"/>
            <a:ext cx="2103120" cy="868680"/>
          </a:xfrm>
          <a:prstGeom prst="rect">
            <a:avLst/>
          </a:prstGeom>
          <a:noFill/>
          <a:ln/>
        </p:spPr>
        <p:txBody>
          <a:bodyPr wrap="square" lIns="0" tIns="0" rIns="0" bIns="0" rtlCol="0" anchor="t"/>
          <a:lstStyle/>
          <a:p>
            <a:pPr indent="0" marL="0">
              <a:buNone/>
            </a:pPr>
            <a:r>
              <a:rPr lang="en-US" sz="1200" dirty="0">
                <a:solidFill>
                  <a:schemeClr val="bg2"/>
                </a:solidFill>
              </a:rPr>
              <a:t>Fine-tuned on my 151 photos (×6) + 110-drug public photos. A100.</a:t>
            </a:r>
            <a:endParaRPr lang="en-US" sz="1200" dirty="0"/>
          </a:p>
        </p:txBody>
      </p:sp>
      <p:sp>
        <p:nvSpPr>
          <p:cNvPr id="18" name="Text 16"/>
          <p:cNvSpPr txBox="1"/>
          <p:nvPr/>
        </p:nvSpPr>
        <p:spPr>
          <a:xfrm>
            <a:off x="457200" y="3063240"/>
            <a:ext cx="3931920" cy="274320"/>
          </a:xfrm>
          <a:prstGeom prst="rect">
            <a:avLst/>
          </a:prstGeom>
          <a:noFill/>
          <a:ln/>
        </p:spPr>
        <p:txBody>
          <a:bodyPr wrap="square" lIns="0" tIns="0" rIns="0" bIns="0" rtlCol="0" anchor="t"/>
          <a:lstStyle/>
          <a:p>
            <a:pPr indent="0" marL="0">
              <a:buNone/>
            </a:pPr>
            <a:r>
              <a:rPr lang="en-US" sz="1400" b="1" dirty="0">
                <a:solidFill>
                  <a:schemeClr val="tx2"/>
                </a:solidFill>
              </a:rPr>
              <a:t>1024 px input</a:t>
            </a:r>
            <a:endParaRPr lang="en-US" sz="1400" dirty="0"/>
          </a:p>
        </p:txBody>
      </p:sp>
      <p:sp>
        <p:nvSpPr>
          <p:cNvPr id="19" name="Text 17"/>
          <p:cNvSpPr txBox="1"/>
          <p:nvPr/>
        </p:nvSpPr>
        <p:spPr>
          <a:xfrm>
            <a:off x="457200" y="3337560"/>
            <a:ext cx="3931920" cy="457200"/>
          </a:xfrm>
          <a:prstGeom prst="rect">
            <a:avLst/>
          </a:prstGeom>
          <a:noFill/>
          <a:ln/>
        </p:spPr>
        <p:txBody>
          <a:bodyPr wrap="square" lIns="0" tIns="0" rIns="0" bIns="0" rtlCol="0" anchor="t"/>
          <a:lstStyle/>
          <a:p>
            <a:pPr indent="0" marL="0">
              <a:buNone/>
            </a:pPr>
            <a:r>
              <a:rPr lang="en-US" sz="1200" dirty="0">
                <a:solidFill>
                  <a:schemeClr val="tx1"/>
                </a:solidFill>
              </a:rPr>
              <a:t>Pills are small objects in a 12 MP photo</a:t>
            </a:r>
            <a:endParaRPr lang="en-US" sz="1200" dirty="0"/>
          </a:p>
        </p:txBody>
      </p:sp>
      <p:sp>
        <p:nvSpPr>
          <p:cNvPr id="20" name="Text 18"/>
          <p:cNvSpPr txBox="1"/>
          <p:nvPr/>
        </p:nvSpPr>
        <p:spPr>
          <a:xfrm>
            <a:off x="4663440" y="3063240"/>
            <a:ext cx="3931920" cy="274320"/>
          </a:xfrm>
          <a:prstGeom prst="rect">
            <a:avLst/>
          </a:prstGeom>
          <a:noFill/>
          <a:ln/>
        </p:spPr>
        <p:txBody>
          <a:bodyPr wrap="square" lIns="0" tIns="0" rIns="0" bIns="0" rtlCol="0" anchor="t"/>
          <a:lstStyle/>
          <a:p>
            <a:pPr indent="0" marL="0">
              <a:buNone/>
            </a:pPr>
            <a:r>
              <a:rPr lang="en-US" sz="1400" b="1" dirty="0">
                <a:solidFill>
                  <a:schemeClr val="tx2"/>
                </a:solidFill>
              </a:rPr>
              <a:t>Freeze, then unfreeze</a:t>
            </a:r>
            <a:endParaRPr lang="en-US" sz="1400" dirty="0"/>
          </a:p>
        </p:txBody>
      </p:sp>
      <p:sp>
        <p:nvSpPr>
          <p:cNvPr id="21" name="Text 19"/>
          <p:cNvSpPr txBox="1"/>
          <p:nvPr/>
        </p:nvSpPr>
        <p:spPr>
          <a:xfrm>
            <a:off x="4663440" y="3337560"/>
            <a:ext cx="3931920" cy="457200"/>
          </a:xfrm>
          <a:prstGeom prst="rect">
            <a:avLst/>
          </a:prstGeom>
          <a:noFill/>
          <a:ln/>
        </p:spPr>
        <p:txBody>
          <a:bodyPr wrap="square" lIns="0" tIns="0" rIns="0" bIns="0" rtlCol="0" anchor="t"/>
          <a:lstStyle/>
          <a:p>
            <a:pPr indent="0" marL="0">
              <a:buNone/>
            </a:pPr>
            <a:r>
              <a:rPr lang="en-US" sz="1200" dirty="0">
                <a:solidFill>
                  <a:schemeClr val="tx1"/>
                </a:solidFill>
              </a:rPr>
              <a:t>Stage 1 frozen backbone, lr 0.005 (like feature extraction); stage 2 full fine-tuning, lr 0.001, early stopping</a:t>
            </a:r>
            <a:endParaRPr lang="en-US" sz="1200" dirty="0"/>
          </a:p>
        </p:txBody>
      </p:sp>
      <p:sp>
        <p:nvSpPr>
          <p:cNvPr id="22" name="Text 20"/>
          <p:cNvSpPr txBox="1"/>
          <p:nvPr/>
        </p:nvSpPr>
        <p:spPr>
          <a:xfrm>
            <a:off x="457200" y="3840480"/>
            <a:ext cx="3931920" cy="274320"/>
          </a:xfrm>
          <a:prstGeom prst="rect">
            <a:avLst/>
          </a:prstGeom>
          <a:noFill/>
          <a:ln/>
        </p:spPr>
        <p:txBody>
          <a:bodyPr wrap="square" lIns="0" tIns="0" rIns="0" bIns="0" rtlCol="0" anchor="t"/>
          <a:lstStyle/>
          <a:p>
            <a:pPr indent="0" marL="0">
              <a:buNone/>
            </a:pPr>
            <a:r>
              <a:rPr lang="en-US" sz="1400" b="1" dirty="0">
                <a:solidFill>
                  <a:schemeClr val="tx2"/>
                </a:solidFill>
              </a:rPr>
              <a:t>Rotation 180° + flips</a:t>
            </a:r>
            <a:endParaRPr lang="en-US" sz="1400" dirty="0"/>
          </a:p>
        </p:txBody>
      </p:sp>
      <p:sp>
        <p:nvSpPr>
          <p:cNvPr id="23" name="Text 21"/>
          <p:cNvSpPr txBox="1"/>
          <p:nvPr/>
        </p:nvSpPr>
        <p:spPr>
          <a:xfrm>
            <a:off x="457200" y="4114800"/>
            <a:ext cx="3931920" cy="457200"/>
          </a:xfrm>
          <a:prstGeom prst="rect">
            <a:avLst/>
          </a:prstGeom>
          <a:noFill/>
          <a:ln/>
        </p:spPr>
        <p:txBody>
          <a:bodyPr wrap="square" lIns="0" tIns="0" rIns="0" bIns="0" rtlCol="0" anchor="t"/>
          <a:lstStyle/>
          <a:p>
            <a:pPr indent="0" marL="0">
              <a:buNone/>
            </a:pPr>
            <a:r>
              <a:rPr lang="en-US" sz="1200" dirty="0">
                <a:solidFill>
                  <a:schemeClr val="tx1"/>
                </a:solidFill>
              </a:rPr>
              <a:t>Pills look the same at any angle</a:t>
            </a:r>
            <a:endParaRPr lang="en-US" sz="1200" dirty="0"/>
          </a:p>
        </p:txBody>
      </p:sp>
      <p:sp>
        <p:nvSpPr>
          <p:cNvPr id="24" name="Text 22"/>
          <p:cNvSpPr txBox="1"/>
          <p:nvPr/>
        </p:nvSpPr>
        <p:spPr>
          <a:xfrm>
            <a:off x="4663440" y="3840480"/>
            <a:ext cx="3931920" cy="274320"/>
          </a:xfrm>
          <a:prstGeom prst="rect">
            <a:avLst/>
          </a:prstGeom>
          <a:noFill/>
          <a:ln/>
        </p:spPr>
        <p:txBody>
          <a:bodyPr wrap="square" lIns="0" tIns="0" rIns="0" bIns="0" rtlCol="0" anchor="t"/>
          <a:lstStyle/>
          <a:p>
            <a:pPr indent="0" marL="0">
              <a:buNone/>
            </a:pPr>
            <a:r>
              <a:rPr lang="en-US" sz="1400" b="1" dirty="0">
                <a:solidFill>
                  <a:schemeClr val="tx2"/>
                </a:solidFill>
              </a:rPr>
              <a:t>max_det = 500</a:t>
            </a:r>
            <a:endParaRPr lang="en-US" sz="1400" dirty="0"/>
          </a:p>
        </p:txBody>
      </p:sp>
      <p:sp>
        <p:nvSpPr>
          <p:cNvPr id="25" name="Text 23"/>
          <p:cNvSpPr txBox="1"/>
          <p:nvPr/>
        </p:nvSpPr>
        <p:spPr>
          <a:xfrm>
            <a:off x="4663440" y="4114800"/>
            <a:ext cx="3931920" cy="457200"/>
          </a:xfrm>
          <a:prstGeom prst="rect">
            <a:avLst/>
          </a:prstGeom>
          <a:noFill/>
          <a:ln/>
        </p:spPr>
        <p:txBody>
          <a:bodyPr wrap="square" lIns="0" tIns="0" rIns="0" bIns="0" rtlCol="0" anchor="t"/>
          <a:lstStyle/>
          <a:p>
            <a:pPr indent="0" marL="0">
              <a:buNone/>
            </a:pPr>
            <a:r>
              <a:rPr lang="en-US" sz="1200" dirty="0">
                <a:solidFill>
                  <a:schemeClr val="tx1"/>
                </a:solidFill>
              </a:rPr>
              <a:t>The default 300 would cap the count on big piles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What is a CNN?</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A convolutional neural network: a neural network built for images, using small learned filters</a:t>
            </a:r>
            <a:endParaRPr lang="en-US" sz="1500" dirty="0"/>
          </a:p>
        </p:txBody>
      </p:sp>
      <p:pic>
        <p:nvPicPr>
          <p:cNvPr id="4" name="Image 0" descr="/private/tmp/claude-501/-Users-pee-Documents-projectss/830d9427-1c57-4896-95df-e61c1a8daabe/scratchpad/deck/img/user_cnn.png">    </p:cNvPr>
          <p:cNvPicPr>
            <a:picLocks noChangeAspect="1"/>
          </p:cNvPicPr>
          <p:nvPr/>
        </p:nvPicPr>
        <p:blipFill>
          <a:blip r:embed="rId1"/>
          <a:stretch>
            <a:fillRect/>
          </a:stretch>
        </p:blipFill>
        <p:spPr>
          <a:xfrm>
            <a:off x="457200" y="1371600"/>
            <a:ext cx="4434840" cy="1919092"/>
          </a:xfrm>
          <a:prstGeom prst="rect">
            <a:avLst/>
          </a:prstGeom>
        </p:spPr>
      </p:pic>
      <p:sp>
        <p:nvSpPr>
          <p:cNvPr id="5" name="Shape 2"/>
          <p:cNvSpPr/>
          <p:nvPr/>
        </p:nvSpPr>
        <p:spPr>
          <a:xfrm>
            <a:off x="457200" y="3611880"/>
            <a:ext cx="4434840" cy="1024128"/>
          </a:xfrm>
          <a:prstGeom prst="roundRect">
            <a:avLst>
              <a:gd name="adj" fmla="val 10714"/>
            </a:avLst>
          </a:prstGeom>
          <a:solidFill>
            <a:schemeClr val="bg2"/>
          </a:solidFill>
          <a:ln/>
        </p:spPr>
      </p:sp>
      <p:sp>
        <p:nvSpPr>
          <p:cNvPr id="6" name="Text 3"/>
          <p:cNvSpPr txBox="1"/>
          <p:nvPr/>
        </p:nvSpPr>
        <p:spPr>
          <a:xfrm>
            <a:off x="594360" y="3685032"/>
            <a:ext cx="4160520" cy="256032"/>
          </a:xfrm>
          <a:prstGeom prst="rect">
            <a:avLst/>
          </a:prstGeom>
          <a:noFill/>
          <a:ln/>
        </p:spPr>
        <p:txBody>
          <a:bodyPr wrap="square" lIns="0" tIns="0" rIns="0" bIns="0" rtlCol="0" anchor="t"/>
          <a:lstStyle/>
          <a:p>
            <a:pPr indent="0" marL="0">
              <a:buNone/>
            </a:pPr>
            <a:r>
              <a:rPr lang="en-US" sz="1300" b="1" dirty="0">
                <a:solidFill>
                  <a:schemeClr val="tx2"/>
                </a:solidFill>
              </a:rPr>
              <a:t>Why not a normal (fully connected) network?</a:t>
            </a:r>
            <a:endParaRPr lang="en-US" sz="1300" dirty="0"/>
          </a:p>
        </p:txBody>
      </p:sp>
      <p:sp>
        <p:nvSpPr>
          <p:cNvPr id="7" name="Text 4"/>
          <p:cNvSpPr txBox="1"/>
          <p:nvPr/>
        </p:nvSpPr>
        <p:spPr>
          <a:xfrm>
            <a:off x="594360" y="3959352"/>
            <a:ext cx="4160520" cy="640080"/>
          </a:xfrm>
          <a:prstGeom prst="rect">
            <a:avLst/>
          </a:prstGeom>
          <a:noFill/>
          <a:ln/>
        </p:spPr>
        <p:txBody>
          <a:bodyPr wrap="square" lIns="0" tIns="0" rIns="0" bIns="0" rtlCol="0" anchor="t"/>
          <a:lstStyle/>
          <a:p>
            <a:pPr indent="0" marL="0">
              <a:buNone/>
            </a:pPr>
            <a:r>
              <a:rPr lang="en-US" sz="1200" dirty="0">
                <a:solidFill>
                  <a:schemeClr val="tx1"/>
                </a:solidFill>
              </a:rPr>
              <a:t>A 224×224 color image is 150,528 inputs: one dense layer of 1,000 neurons needs 150 M weights. A filter reuses the same 9 weights everywhere.</a:t>
            </a:r>
            <a:endParaRPr lang="en-US" sz="1200" dirty="0"/>
          </a:p>
        </p:txBody>
      </p:sp>
      <p:sp>
        <p:nvSpPr>
          <p:cNvPr id="8" name="Shape 5"/>
          <p:cNvSpPr/>
          <p:nvPr/>
        </p:nvSpPr>
        <p:spPr>
          <a:xfrm>
            <a:off x="5212080" y="1344168"/>
            <a:ext cx="384048" cy="384048"/>
          </a:xfrm>
          <a:prstGeom prst="ellipse">
            <a:avLst/>
          </a:prstGeom>
          <a:solidFill>
            <a:schemeClr val="accent1"/>
          </a:solidFill>
          <a:ln/>
        </p:spPr>
      </p:sp>
      <p:sp>
        <p:nvSpPr>
          <p:cNvPr id="9" name="Text 6"/>
          <p:cNvSpPr txBox="1"/>
          <p:nvPr/>
        </p:nvSpPr>
        <p:spPr>
          <a:xfrm>
            <a:off x="5212080" y="13441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 7"/>
          <p:cNvSpPr txBox="1"/>
          <p:nvPr/>
        </p:nvSpPr>
        <p:spPr>
          <a:xfrm>
            <a:off x="5760720" y="1325880"/>
            <a:ext cx="2926080" cy="274320"/>
          </a:xfrm>
          <a:prstGeom prst="rect">
            <a:avLst/>
          </a:prstGeom>
          <a:noFill/>
          <a:ln/>
        </p:spPr>
        <p:txBody>
          <a:bodyPr wrap="square" lIns="0" tIns="0" rIns="0" bIns="0" rtlCol="0" anchor="t"/>
          <a:lstStyle/>
          <a:p>
            <a:pPr indent="0" marL="0">
              <a:buNone/>
            </a:pPr>
            <a:r>
              <a:rPr lang="en-US" sz="1400" b="1" dirty="0">
                <a:solidFill>
                  <a:schemeClr val="tx2"/>
                </a:solidFill>
              </a:rPr>
              <a:t>Slide a filter</a:t>
            </a:r>
            <a:endParaRPr lang="en-US" sz="1400" dirty="0"/>
          </a:p>
        </p:txBody>
      </p:sp>
      <p:sp>
        <p:nvSpPr>
          <p:cNvPr id="11" name="Text 8"/>
          <p:cNvSpPr txBox="1"/>
          <p:nvPr/>
        </p:nvSpPr>
        <p:spPr>
          <a:xfrm>
            <a:off x="5760720" y="1600200"/>
            <a:ext cx="2926080" cy="530352"/>
          </a:xfrm>
          <a:prstGeom prst="rect">
            <a:avLst/>
          </a:prstGeom>
          <a:noFill/>
          <a:ln/>
        </p:spPr>
        <p:txBody>
          <a:bodyPr wrap="square" lIns="0" tIns="0" rIns="0" bIns="0" rtlCol="0" anchor="t"/>
          <a:lstStyle/>
          <a:p>
            <a:pPr indent="0" marL="0">
              <a:buNone/>
            </a:pPr>
            <a:r>
              <a:rPr lang="en-US" sz="1200" dirty="0">
                <a:solidFill>
                  <a:schemeClr val="tx1"/>
                </a:solidFill>
              </a:rPr>
              <a:t>Multiply 9 weights with a 3×3 patch, add up, slide on: high where the pattern is</a:t>
            </a:r>
            <a:endParaRPr lang="en-US" sz="1200" dirty="0"/>
          </a:p>
        </p:txBody>
      </p:sp>
      <p:sp>
        <p:nvSpPr>
          <p:cNvPr id="12" name="Shape 9"/>
          <p:cNvSpPr/>
          <p:nvPr/>
        </p:nvSpPr>
        <p:spPr>
          <a:xfrm>
            <a:off x="5212080" y="2185416"/>
            <a:ext cx="384048" cy="384048"/>
          </a:xfrm>
          <a:prstGeom prst="ellipse">
            <a:avLst/>
          </a:prstGeom>
          <a:solidFill>
            <a:schemeClr val="accent1"/>
          </a:solidFill>
          <a:ln/>
        </p:spPr>
      </p:sp>
      <p:sp>
        <p:nvSpPr>
          <p:cNvPr id="13" name="Text 10"/>
          <p:cNvSpPr txBox="1"/>
          <p:nvPr/>
        </p:nvSpPr>
        <p:spPr>
          <a:xfrm>
            <a:off x="5212080" y="21854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5760720" y="2167128"/>
            <a:ext cx="2926080" cy="274320"/>
          </a:xfrm>
          <a:prstGeom prst="rect">
            <a:avLst/>
          </a:prstGeom>
          <a:noFill/>
          <a:ln/>
        </p:spPr>
        <p:txBody>
          <a:bodyPr wrap="square" lIns="0" tIns="0" rIns="0" bIns="0" rtlCol="0" anchor="t"/>
          <a:lstStyle/>
          <a:p>
            <a:pPr indent="0" marL="0">
              <a:buNone/>
            </a:pPr>
            <a:r>
              <a:rPr lang="en-US" sz="1400" b="1" dirty="0">
                <a:solidFill>
                  <a:schemeClr val="tx2"/>
                </a:solidFill>
              </a:rPr>
              <a:t>Stack layers</a:t>
            </a:r>
            <a:endParaRPr lang="en-US" sz="1400" dirty="0"/>
          </a:p>
        </p:txBody>
      </p:sp>
      <p:sp>
        <p:nvSpPr>
          <p:cNvPr id="15" name="Text 12"/>
          <p:cNvSpPr txBox="1"/>
          <p:nvPr/>
        </p:nvSpPr>
        <p:spPr>
          <a:xfrm>
            <a:off x="5760720" y="2441448"/>
            <a:ext cx="2926080" cy="530352"/>
          </a:xfrm>
          <a:prstGeom prst="rect">
            <a:avLst/>
          </a:prstGeom>
          <a:noFill/>
          <a:ln/>
        </p:spPr>
        <p:txBody>
          <a:bodyPr wrap="square" lIns="0" tIns="0" rIns="0" bIns="0" rtlCol="0" anchor="t"/>
          <a:lstStyle/>
          <a:p>
            <a:pPr indent="0" marL="0">
              <a:buNone/>
            </a:pPr>
            <a:r>
              <a:rPr lang="en-US" sz="1200" dirty="0">
                <a:solidFill>
                  <a:schemeClr val="tx1"/>
                </a:solidFill>
              </a:rPr>
              <a:t>Edges → shapes → objects. Each layer sees a wider area (receptive field)</a:t>
            </a:r>
            <a:endParaRPr lang="en-US" sz="1200" dirty="0"/>
          </a:p>
        </p:txBody>
      </p:sp>
      <p:sp>
        <p:nvSpPr>
          <p:cNvPr id="16" name="Shape 13"/>
          <p:cNvSpPr/>
          <p:nvPr/>
        </p:nvSpPr>
        <p:spPr>
          <a:xfrm>
            <a:off x="5212080" y="3026664"/>
            <a:ext cx="384048" cy="384048"/>
          </a:xfrm>
          <a:prstGeom prst="ellipse">
            <a:avLst/>
          </a:prstGeom>
          <a:solidFill>
            <a:schemeClr val="accent1"/>
          </a:solidFill>
          <a:ln/>
        </p:spPr>
      </p:sp>
      <p:sp>
        <p:nvSpPr>
          <p:cNvPr id="17" name="Text 14"/>
          <p:cNvSpPr txBox="1"/>
          <p:nvPr/>
        </p:nvSpPr>
        <p:spPr>
          <a:xfrm>
            <a:off x="5212080" y="302666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5760720" y="3008376"/>
            <a:ext cx="2926080" cy="274320"/>
          </a:xfrm>
          <a:prstGeom prst="rect">
            <a:avLst/>
          </a:prstGeom>
          <a:noFill/>
          <a:ln/>
        </p:spPr>
        <p:txBody>
          <a:bodyPr wrap="square" lIns="0" tIns="0" rIns="0" bIns="0" rtlCol="0" anchor="t"/>
          <a:lstStyle/>
          <a:p>
            <a:pPr indent="0" marL="0">
              <a:buNone/>
            </a:pPr>
            <a:r>
              <a:rPr lang="en-US" sz="1400" b="1" dirty="0">
                <a:solidFill>
                  <a:schemeClr val="tx2"/>
                </a:solidFill>
              </a:rPr>
              <a:t>Shrink as you go</a:t>
            </a:r>
            <a:endParaRPr lang="en-US" sz="1400" dirty="0"/>
          </a:p>
        </p:txBody>
      </p:sp>
      <p:sp>
        <p:nvSpPr>
          <p:cNvPr id="19" name="Text 16"/>
          <p:cNvSpPr txBox="1"/>
          <p:nvPr/>
        </p:nvSpPr>
        <p:spPr>
          <a:xfrm>
            <a:off x="5760720" y="3282696"/>
            <a:ext cx="2926080" cy="530352"/>
          </a:xfrm>
          <a:prstGeom prst="rect">
            <a:avLst/>
          </a:prstGeom>
          <a:noFill/>
          <a:ln/>
        </p:spPr>
        <p:txBody>
          <a:bodyPr wrap="square" lIns="0" tIns="0" rIns="0" bIns="0" rtlCol="0" anchor="t"/>
          <a:lstStyle/>
          <a:p>
            <a:pPr indent="0" marL="0">
              <a:buNone/>
            </a:pPr>
            <a:r>
              <a:rPr lang="en-US" sz="1200" dirty="0">
                <a:solidFill>
                  <a:schemeClr val="tx1"/>
                </a:solidFill>
              </a:rPr>
              <a:t>Stride 2 or max pooling halves the map, keeping the strongest signals</a:t>
            </a:r>
            <a:endParaRPr lang="en-US" sz="1200" dirty="0"/>
          </a:p>
        </p:txBody>
      </p:sp>
      <p:sp>
        <p:nvSpPr>
          <p:cNvPr id="20" name="Shape 17"/>
          <p:cNvSpPr/>
          <p:nvPr/>
        </p:nvSpPr>
        <p:spPr>
          <a:xfrm>
            <a:off x="5212080" y="3867912"/>
            <a:ext cx="384048" cy="384048"/>
          </a:xfrm>
          <a:prstGeom prst="ellipse">
            <a:avLst/>
          </a:prstGeom>
          <a:solidFill>
            <a:schemeClr val="accent1"/>
          </a:solidFill>
          <a:ln/>
        </p:spPr>
      </p:sp>
      <p:sp>
        <p:nvSpPr>
          <p:cNvPr id="21" name="Text 18"/>
          <p:cNvSpPr txBox="1"/>
          <p:nvPr/>
        </p:nvSpPr>
        <p:spPr>
          <a:xfrm>
            <a:off x="5212080" y="38679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5760720" y="3849624"/>
            <a:ext cx="2926080" cy="274320"/>
          </a:xfrm>
          <a:prstGeom prst="rect">
            <a:avLst/>
          </a:prstGeom>
          <a:noFill/>
          <a:ln/>
        </p:spPr>
        <p:txBody>
          <a:bodyPr wrap="square" lIns="0" tIns="0" rIns="0" bIns="0" rtlCol="0" anchor="t"/>
          <a:lstStyle/>
          <a:p>
            <a:pPr indent="0" marL="0">
              <a:buNone/>
            </a:pPr>
            <a:r>
              <a:rPr lang="en-US" sz="1400" b="1" dirty="0">
                <a:solidFill>
                  <a:schemeClr val="tx2"/>
                </a:solidFill>
              </a:rPr>
              <a:t>Learn the filters</a:t>
            </a:r>
            <a:endParaRPr lang="en-US" sz="1400" dirty="0"/>
          </a:p>
        </p:txBody>
      </p:sp>
      <p:sp>
        <p:nvSpPr>
          <p:cNvPr id="23" name="Text 20"/>
          <p:cNvSpPr txBox="1"/>
          <p:nvPr/>
        </p:nvSpPr>
        <p:spPr>
          <a:xfrm>
            <a:off x="5760720" y="4123944"/>
            <a:ext cx="2926080" cy="530352"/>
          </a:xfrm>
          <a:prstGeom prst="rect">
            <a:avLst/>
          </a:prstGeom>
          <a:noFill/>
          <a:ln/>
        </p:spPr>
        <p:txBody>
          <a:bodyPr wrap="square" lIns="0" tIns="0" rIns="0" bIns="0" rtlCol="0" anchor="t"/>
          <a:lstStyle/>
          <a:p>
            <a:pPr indent="0" marL="0">
              <a:buNone/>
            </a:pPr>
            <a:r>
              <a:rPr lang="en-US" sz="1200" dirty="0">
                <a:solidFill>
                  <a:schemeClr val="tx1"/>
                </a:solidFill>
              </a:rPr>
              <a:t>Backpropagation adjusts every weight to reduce the loss. Nobody writes them by hand</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YOLO11 is a CNN</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Inside my trained model: real feature maps from thai.pt on one of my photos</a:t>
            </a:r>
            <a:endParaRPr lang="en-US" sz="1500" dirty="0"/>
          </a:p>
        </p:txBody>
      </p:sp>
      <p:pic>
        <p:nvPicPr>
          <p:cNvPr id="4" name="Image 0" descr="/private/tmp/claude-501/-Users-pee-Documents-projectss/830d9427-1c57-4896-95df-e61c1a8daabe/scratchpad/deck/img/fm_input.jpg">    </p:cNvPr>
          <p:cNvPicPr>
            <a:picLocks noChangeAspect="1"/>
          </p:cNvPicPr>
          <p:nvPr/>
        </p:nvPicPr>
        <p:blipFill>
          <a:blip r:embed="rId1"/>
          <a:stretch>
            <a:fillRect/>
          </a:stretch>
        </p:blipFill>
        <p:spPr>
          <a:xfrm>
            <a:off x="457200" y="1280160"/>
            <a:ext cx="1645920" cy="1645920"/>
          </a:xfrm>
          <a:prstGeom prst="rect">
            <a:avLst/>
          </a:prstGeom>
        </p:spPr>
      </p:pic>
      <p:sp>
        <p:nvSpPr>
          <p:cNvPr id="5" name="Text 2"/>
          <p:cNvSpPr txBox="1"/>
          <p:nvPr/>
        </p:nvSpPr>
        <p:spPr>
          <a:xfrm>
            <a:off x="411480" y="3017520"/>
            <a:ext cx="1737360" cy="292608"/>
          </a:xfrm>
          <a:prstGeom prst="roundRect">
            <a:avLst>
              <a:gd name="adj" fmla="val 50000"/>
            </a:avLst>
          </a:prstGeom>
          <a:solidFill>
            <a:schemeClr val="accent6"/>
          </a:solidFill>
          <a:ln/>
        </p:spPr>
        <p:txBody>
          <a:bodyPr wrap="square" lIns="0" tIns="0" rIns="0" bIns="0" rtlCol="0" anchor="ctr"/>
          <a:lstStyle/>
          <a:p>
            <a:pPr algn="ctr" indent="0" marL="0">
              <a:buNone/>
            </a:pPr>
            <a:r>
              <a:rPr lang="en-US" sz="1100" b="1" dirty="0">
                <a:solidFill>
                  <a:schemeClr val="bg1"/>
                </a:solidFill>
              </a:rPr>
              <a:t>Input photo</a:t>
            </a:r>
            <a:endParaRPr lang="en-US" sz="1100" dirty="0"/>
          </a:p>
        </p:txBody>
      </p:sp>
      <p:sp>
        <p:nvSpPr>
          <p:cNvPr id="6" name="Text 3"/>
          <p:cNvSpPr txBox="1"/>
          <p:nvPr/>
        </p:nvSpPr>
        <p:spPr>
          <a:xfrm>
            <a:off x="411480" y="3346704"/>
            <a:ext cx="1737360" cy="256032"/>
          </a:xfrm>
          <a:prstGeom prst="rect">
            <a:avLst/>
          </a:prstGeom>
          <a:noFill/>
          <a:ln/>
        </p:spPr>
        <p:txBody>
          <a:bodyPr wrap="square" lIns="0" tIns="0" rIns="0" bIns="0" rtlCol="0" anchor="t"/>
          <a:lstStyle/>
          <a:p>
            <a:pPr algn="ctr" indent="0" marL="0">
              <a:buNone/>
            </a:pPr>
            <a:r>
              <a:rPr lang="en-US" sz="1200" dirty="0">
                <a:solidFill>
                  <a:schemeClr val="tx1"/>
                </a:solidFill>
              </a:rPr>
              <a:t>1024 × 1024 pixels</a:t>
            </a:r>
            <a:endParaRPr lang="en-US" sz="1200" dirty="0"/>
          </a:p>
        </p:txBody>
      </p:sp>
      <p:sp>
        <p:nvSpPr>
          <p:cNvPr id="7" name="Shape 4"/>
          <p:cNvSpPr/>
          <p:nvPr/>
        </p:nvSpPr>
        <p:spPr>
          <a:xfrm>
            <a:off x="2194560" y="2103120"/>
            <a:ext cx="365760" cy="0"/>
          </a:xfrm>
          <a:prstGeom prst="line">
            <a:avLst/>
          </a:prstGeom>
          <a:noFill/>
          <a:ln w="25400">
            <a:solidFill>
              <a:schemeClr val="accent6"/>
            </a:solidFill>
            <a:prstDash val="solid"/>
            <a:tailEnd type="triangle"/>
          </a:ln>
        </p:spPr>
      </p:sp>
      <p:pic>
        <p:nvPicPr>
          <p:cNvPr id="8" name="Image 1" descr="/private/tmp/claude-501/-Users-pee-Documents-projectss/830d9427-1c57-4896-95df-e61c1a8daabe/scratchpad/deck/img/fm_layer1.jpg">    </p:cNvPr>
          <p:cNvPicPr>
            <a:picLocks noChangeAspect="1"/>
          </p:cNvPicPr>
          <p:nvPr/>
        </p:nvPicPr>
        <p:blipFill>
          <a:blip r:embed="rId2"/>
          <a:stretch>
            <a:fillRect/>
          </a:stretch>
        </p:blipFill>
        <p:spPr>
          <a:xfrm>
            <a:off x="2606040" y="1280160"/>
            <a:ext cx="1645920" cy="1645920"/>
          </a:xfrm>
          <a:prstGeom prst="rect">
            <a:avLst/>
          </a:prstGeom>
        </p:spPr>
      </p:pic>
      <p:sp>
        <p:nvSpPr>
          <p:cNvPr id="9" name="Text 5"/>
          <p:cNvSpPr txBox="1"/>
          <p:nvPr/>
        </p:nvSpPr>
        <p:spPr>
          <a:xfrm>
            <a:off x="2560320" y="3017520"/>
            <a:ext cx="173736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Layer 1 · 256×256</a:t>
            </a:r>
            <a:endParaRPr lang="en-US" sz="1100" dirty="0"/>
          </a:p>
        </p:txBody>
      </p:sp>
      <p:sp>
        <p:nvSpPr>
          <p:cNvPr id="10" name="Text 6"/>
          <p:cNvSpPr txBox="1"/>
          <p:nvPr/>
        </p:nvSpPr>
        <p:spPr>
          <a:xfrm>
            <a:off x="2560320" y="3346704"/>
            <a:ext cx="1737360" cy="256032"/>
          </a:xfrm>
          <a:prstGeom prst="rect">
            <a:avLst/>
          </a:prstGeom>
          <a:noFill/>
          <a:ln/>
        </p:spPr>
        <p:txBody>
          <a:bodyPr wrap="square" lIns="0" tIns="0" rIns="0" bIns="0" rtlCol="0" anchor="t"/>
          <a:lstStyle/>
          <a:p>
            <a:pPr algn="ctr" indent="0" marL="0">
              <a:buNone/>
            </a:pPr>
            <a:r>
              <a:rPr lang="en-US" sz="1200" dirty="0">
                <a:solidFill>
                  <a:schemeClr val="tx1"/>
                </a:solidFill>
              </a:rPr>
              <a:t>brightness, stamp texture</a:t>
            </a:r>
            <a:endParaRPr lang="en-US" sz="1200" dirty="0"/>
          </a:p>
        </p:txBody>
      </p:sp>
      <p:sp>
        <p:nvSpPr>
          <p:cNvPr id="11" name="Shape 7"/>
          <p:cNvSpPr/>
          <p:nvPr/>
        </p:nvSpPr>
        <p:spPr>
          <a:xfrm>
            <a:off x="4343400" y="2103120"/>
            <a:ext cx="365760" cy="0"/>
          </a:xfrm>
          <a:prstGeom prst="line">
            <a:avLst/>
          </a:prstGeom>
          <a:noFill/>
          <a:ln w="25400">
            <a:solidFill>
              <a:schemeClr val="accent6"/>
            </a:solidFill>
            <a:prstDash val="solid"/>
            <a:tailEnd type="triangle"/>
          </a:ln>
        </p:spPr>
      </p:sp>
      <p:pic>
        <p:nvPicPr>
          <p:cNvPr id="12" name="Image 2" descr="/private/tmp/claude-501/-Users-pee-Documents-projectss/830d9427-1c57-4896-95df-e61c1a8daabe/scratchpad/deck/img/fm_layer4.jpg">    </p:cNvPr>
          <p:cNvPicPr>
            <a:picLocks noChangeAspect="1"/>
          </p:cNvPicPr>
          <p:nvPr/>
        </p:nvPicPr>
        <p:blipFill>
          <a:blip r:embed="rId3"/>
          <a:stretch>
            <a:fillRect/>
          </a:stretch>
        </p:blipFill>
        <p:spPr>
          <a:xfrm>
            <a:off x="4754880" y="1280160"/>
            <a:ext cx="1645920" cy="1645920"/>
          </a:xfrm>
          <a:prstGeom prst="rect">
            <a:avLst/>
          </a:prstGeom>
        </p:spPr>
      </p:pic>
      <p:sp>
        <p:nvSpPr>
          <p:cNvPr id="13" name="Text 8"/>
          <p:cNvSpPr txBox="1"/>
          <p:nvPr/>
        </p:nvSpPr>
        <p:spPr>
          <a:xfrm>
            <a:off x="4709160" y="3017520"/>
            <a:ext cx="173736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Layer 4 · 128×128</a:t>
            </a:r>
            <a:endParaRPr lang="en-US" sz="1100" dirty="0"/>
          </a:p>
        </p:txBody>
      </p:sp>
      <p:sp>
        <p:nvSpPr>
          <p:cNvPr id="14" name="Text 9"/>
          <p:cNvSpPr txBox="1"/>
          <p:nvPr/>
        </p:nvSpPr>
        <p:spPr>
          <a:xfrm>
            <a:off x="4709160" y="3346704"/>
            <a:ext cx="1737360" cy="256032"/>
          </a:xfrm>
          <a:prstGeom prst="rect">
            <a:avLst/>
          </a:prstGeom>
          <a:noFill/>
          <a:ln/>
        </p:spPr>
        <p:txBody>
          <a:bodyPr wrap="square" lIns="0" tIns="0" rIns="0" bIns="0" rtlCol="0" anchor="t"/>
          <a:lstStyle/>
          <a:p>
            <a:pPr algn="ctr" indent="0" marL="0">
              <a:buNone/>
            </a:pPr>
            <a:r>
              <a:rPr lang="en-US" sz="1200" dirty="0">
                <a:solidFill>
                  <a:schemeClr val="tx1"/>
                </a:solidFill>
              </a:rPr>
              <a:t>curved pill outlines</a:t>
            </a:r>
            <a:endParaRPr lang="en-US" sz="1200" dirty="0"/>
          </a:p>
        </p:txBody>
      </p:sp>
      <p:sp>
        <p:nvSpPr>
          <p:cNvPr id="15" name="Shape 10"/>
          <p:cNvSpPr/>
          <p:nvPr/>
        </p:nvSpPr>
        <p:spPr>
          <a:xfrm>
            <a:off x="6492240" y="2103120"/>
            <a:ext cx="365760" cy="0"/>
          </a:xfrm>
          <a:prstGeom prst="line">
            <a:avLst/>
          </a:prstGeom>
          <a:noFill/>
          <a:ln w="25400">
            <a:solidFill>
              <a:schemeClr val="accent6"/>
            </a:solidFill>
            <a:prstDash val="solid"/>
            <a:tailEnd type="triangle"/>
          </a:ln>
        </p:spPr>
      </p:sp>
      <p:pic>
        <p:nvPicPr>
          <p:cNvPr id="16" name="Image 3" descr="/private/tmp/claude-501/-Users-pee-Documents-projectss/830d9427-1c57-4896-95df-e61c1a8daabe/scratchpad/deck/img/fm_layer6.jpg">    </p:cNvPr>
          <p:cNvPicPr>
            <a:picLocks noChangeAspect="1"/>
          </p:cNvPicPr>
          <p:nvPr/>
        </p:nvPicPr>
        <p:blipFill>
          <a:blip r:embed="rId4"/>
          <a:stretch>
            <a:fillRect/>
          </a:stretch>
        </p:blipFill>
        <p:spPr>
          <a:xfrm>
            <a:off x="6903720" y="1280160"/>
            <a:ext cx="1645920" cy="1645920"/>
          </a:xfrm>
          <a:prstGeom prst="rect">
            <a:avLst/>
          </a:prstGeom>
        </p:spPr>
      </p:pic>
      <p:sp>
        <p:nvSpPr>
          <p:cNvPr id="17" name="Text 11"/>
          <p:cNvSpPr txBox="1"/>
          <p:nvPr/>
        </p:nvSpPr>
        <p:spPr>
          <a:xfrm>
            <a:off x="6858000" y="3017520"/>
            <a:ext cx="17373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Layer 6 · 64×64</a:t>
            </a:r>
            <a:endParaRPr lang="en-US" sz="1100" dirty="0"/>
          </a:p>
        </p:txBody>
      </p:sp>
      <p:sp>
        <p:nvSpPr>
          <p:cNvPr id="18" name="Text 12"/>
          <p:cNvSpPr txBox="1"/>
          <p:nvPr/>
        </p:nvSpPr>
        <p:spPr>
          <a:xfrm>
            <a:off x="6858000" y="3346704"/>
            <a:ext cx="1737360" cy="256032"/>
          </a:xfrm>
          <a:prstGeom prst="rect">
            <a:avLst/>
          </a:prstGeom>
          <a:noFill/>
          <a:ln/>
        </p:spPr>
        <p:txBody>
          <a:bodyPr wrap="square" lIns="0" tIns="0" rIns="0" bIns="0" rtlCol="0" anchor="t"/>
          <a:lstStyle/>
          <a:p>
            <a:pPr algn="ctr" indent="0" marL="0">
              <a:buNone/>
            </a:pPr>
            <a:r>
              <a:rPr lang="en-US" sz="1200" dirty="0">
                <a:solidFill>
                  <a:schemeClr val="tx1"/>
                </a:solidFill>
              </a:rPr>
              <a:t>one spot per pill</a:t>
            </a:r>
            <a:endParaRPr lang="en-US" sz="1200" dirty="0"/>
          </a:p>
        </p:txBody>
      </p:sp>
      <p:sp>
        <p:nvSpPr>
          <p:cNvPr id="19" name="Shape 13"/>
          <p:cNvSpPr/>
          <p:nvPr/>
        </p:nvSpPr>
        <p:spPr>
          <a:xfrm>
            <a:off x="457200" y="3730752"/>
            <a:ext cx="2606040" cy="896112"/>
          </a:xfrm>
          <a:prstGeom prst="roundRect">
            <a:avLst>
              <a:gd name="adj" fmla="val 12245"/>
            </a:avLst>
          </a:prstGeom>
          <a:solidFill>
            <a:schemeClr val="bg2"/>
          </a:solidFill>
          <a:ln/>
        </p:spPr>
      </p:sp>
      <p:sp>
        <p:nvSpPr>
          <p:cNvPr id="20" name="Text 14"/>
          <p:cNvSpPr txBox="1"/>
          <p:nvPr/>
        </p:nvSpPr>
        <p:spPr>
          <a:xfrm>
            <a:off x="594360" y="3803904"/>
            <a:ext cx="2331720" cy="256032"/>
          </a:xfrm>
          <a:prstGeom prst="rect">
            <a:avLst/>
          </a:prstGeom>
          <a:noFill/>
          <a:ln/>
        </p:spPr>
        <p:txBody>
          <a:bodyPr wrap="square" lIns="0" tIns="0" rIns="0" bIns="0" rtlCol="0" anchor="t"/>
          <a:lstStyle/>
          <a:p>
            <a:pPr indent="0" marL="0">
              <a:buNone/>
            </a:pPr>
            <a:r>
              <a:rPr lang="en-US" sz="1300" b="1" dirty="0">
                <a:solidFill>
                  <a:schemeClr val="tx2"/>
                </a:solidFill>
              </a:rPr>
              <a:t>Edges to objects</a:t>
            </a:r>
            <a:endParaRPr lang="en-US" sz="1300" dirty="0"/>
          </a:p>
        </p:txBody>
      </p:sp>
      <p:sp>
        <p:nvSpPr>
          <p:cNvPr id="21" name="Text 15"/>
          <p:cNvSpPr txBox="1"/>
          <p:nvPr/>
        </p:nvSpPr>
        <p:spPr>
          <a:xfrm>
            <a:off x="594360" y="4078224"/>
            <a:ext cx="2331720" cy="502920"/>
          </a:xfrm>
          <a:prstGeom prst="rect">
            <a:avLst/>
          </a:prstGeom>
          <a:noFill/>
          <a:ln/>
        </p:spPr>
        <p:txBody>
          <a:bodyPr wrap="square" lIns="0" tIns="0" rIns="0" bIns="0" rtlCol="0" anchor="t"/>
          <a:lstStyle/>
          <a:p>
            <a:pPr indent="0" marL="0">
              <a:buNone/>
            </a:pPr>
            <a:r>
              <a:rPr lang="en-US" sz="1100" dirty="0">
                <a:solidFill>
                  <a:schemeClr val="tx1"/>
                </a:solidFill>
              </a:rPr>
              <a:t>Early layers react to texture, later ones to outlines, then whole pills</a:t>
            </a:r>
            <a:endParaRPr lang="en-US" sz="1100" dirty="0"/>
          </a:p>
        </p:txBody>
      </p:sp>
      <p:sp>
        <p:nvSpPr>
          <p:cNvPr id="22" name="Shape 16"/>
          <p:cNvSpPr/>
          <p:nvPr/>
        </p:nvSpPr>
        <p:spPr>
          <a:xfrm>
            <a:off x="3246120" y="3730752"/>
            <a:ext cx="2606040" cy="896112"/>
          </a:xfrm>
          <a:prstGeom prst="roundRect">
            <a:avLst>
              <a:gd name="adj" fmla="val 12245"/>
            </a:avLst>
          </a:prstGeom>
          <a:solidFill>
            <a:schemeClr val="bg2"/>
          </a:solidFill>
          <a:ln/>
        </p:spPr>
      </p:sp>
      <p:sp>
        <p:nvSpPr>
          <p:cNvPr id="23" name="Text 17"/>
          <p:cNvSpPr txBox="1"/>
          <p:nvPr/>
        </p:nvSpPr>
        <p:spPr>
          <a:xfrm>
            <a:off x="3383280" y="3803904"/>
            <a:ext cx="2331720" cy="256032"/>
          </a:xfrm>
          <a:prstGeom prst="rect">
            <a:avLst/>
          </a:prstGeom>
          <a:noFill/>
          <a:ln/>
        </p:spPr>
        <p:txBody>
          <a:bodyPr wrap="square" lIns="0" tIns="0" rIns="0" bIns="0" rtlCol="0" anchor="t"/>
          <a:lstStyle/>
          <a:p>
            <a:pPr indent="0" marL="0">
              <a:buNone/>
            </a:pPr>
            <a:r>
              <a:rPr lang="en-US" sz="1300" b="1" dirty="0">
                <a:solidFill>
                  <a:schemeClr val="tx2"/>
                </a:solidFill>
              </a:rPr>
              <a:t>Weight sharing</a:t>
            </a:r>
            <a:endParaRPr lang="en-US" sz="1300" dirty="0"/>
          </a:p>
        </p:txBody>
      </p:sp>
      <p:sp>
        <p:nvSpPr>
          <p:cNvPr id="24" name="Text 18"/>
          <p:cNvSpPr txBox="1"/>
          <p:nvPr/>
        </p:nvSpPr>
        <p:spPr>
          <a:xfrm>
            <a:off x="3383280" y="4078224"/>
            <a:ext cx="2331720" cy="502920"/>
          </a:xfrm>
          <a:prstGeom prst="rect">
            <a:avLst/>
          </a:prstGeom>
          <a:noFill/>
          <a:ln/>
        </p:spPr>
        <p:txBody>
          <a:bodyPr wrap="square" lIns="0" tIns="0" rIns="0" bIns="0" rtlCol="0" anchor="t"/>
          <a:lstStyle/>
          <a:p>
            <a:pPr indent="0" marL="0">
              <a:buNone/>
            </a:pPr>
            <a:r>
              <a:rPr lang="en-US" sz="1100" dirty="0">
                <a:solidFill>
                  <a:schemeClr val="tx1"/>
                </a:solidFill>
              </a:rPr>
              <a:t>Same filter everywhere: 9.5 M weights vs 3.1 B for one dense layer</a:t>
            </a:r>
            <a:endParaRPr lang="en-US" sz="1100" dirty="0"/>
          </a:p>
        </p:txBody>
      </p:sp>
      <p:sp>
        <p:nvSpPr>
          <p:cNvPr id="25" name="Shape 19"/>
          <p:cNvSpPr/>
          <p:nvPr/>
        </p:nvSpPr>
        <p:spPr>
          <a:xfrm>
            <a:off x="6035040" y="3730752"/>
            <a:ext cx="2606040" cy="896112"/>
          </a:xfrm>
          <a:prstGeom prst="roundRect">
            <a:avLst>
              <a:gd name="adj" fmla="val 12245"/>
            </a:avLst>
          </a:prstGeom>
          <a:solidFill>
            <a:schemeClr val="bg2"/>
          </a:solidFill>
          <a:ln/>
        </p:spPr>
      </p:sp>
      <p:sp>
        <p:nvSpPr>
          <p:cNvPr id="26" name="Text 20"/>
          <p:cNvSpPr txBox="1"/>
          <p:nvPr/>
        </p:nvSpPr>
        <p:spPr>
          <a:xfrm>
            <a:off x="6172200" y="3803904"/>
            <a:ext cx="2331720" cy="256032"/>
          </a:xfrm>
          <a:prstGeom prst="rect">
            <a:avLst/>
          </a:prstGeom>
          <a:noFill/>
          <a:ln/>
        </p:spPr>
        <p:txBody>
          <a:bodyPr wrap="square" lIns="0" tIns="0" rIns="0" bIns="0" rtlCol="0" anchor="t"/>
          <a:lstStyle/>
          <a:p>
            <a:pPr indent="0" marL="0">
              <a:buNone/>
            </a:pPr>
            <a:r>
              <a:rPr lang="en-US" sz="1300" b="1" dirty="0">
                <a:solidFill>
                  <a:schemeClr val="tx2"/>
                </a:solidFill>
              </a:rPr>
              <a:t>Learned, not written</a:t>
            </a:r>
            <a:endParaRPr lang="en-US" sz="1300" dirty="0"/>
          </a:p>
        </p:txBody>
      </p:sp>
      <p:sp>
        <p:nvSpPr>
          <p:cNvPr id="27" name="Text 21"/>
          <p:cNvSpPr txBox="1"/>
          <p:nvPr/>
        </p:nvSpPr>
        <p:spPr>
          <a:xfrm>
            <a:off x="6172200" y="4078224"/>
            <a:ext cx="2331720" cy="502920"/>
          </a:xfrm>
          <a:prstGeom prst="rect">
            <a:avLst/>
          </a:prstGeom>
          <a:noFill/>
          <a:ln/>
        </p:spPr>
        <p:txBody>
          <a:bodyPr wrap="square" lIns="0" tIns="0" rIns="0" bIns="0" rtlCol="0" anchor="t"/>
          <a:lstStyle/>
          <a:p>
            <a:pPr indent="0" marL="0">
              <a:buNone/>
            </a:pPr>
            <a:r>
              <a:rPr lang="en-US" sz="1100" dirty="0">
                <a:solidFill>
                  <a:schemeClr val="tx1"/>
                </a:solidFill>
              </a:rPr>
              <a:t>Backpropagation learned these filters; Level 2's rules were hand-written</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Inside YOLO11</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One pass of a CNN: extract features, mix scales, predict a box and score at every grid cell</a:t>
            </a:r>
            <a:endParaRPr lang="en-US" sz="1500" dirty="0"/>
          </a:p>
        </p:txBody>
      </p:sp>
      <p:sp>
        <p:nvSpPr>
          <p:cNvPr id="4" name="Shape 2"/>
          <p:cNvSpPr/>
          <p:nvPr/>
        </p:nvSpPr>
        <p:spPr>
          <a:xfrm>
            <a:off x="457200" y="1371600"/>
            <a:ext cx="1463040" cy="1874520"/>
          </a:xfrm>
          <a:prstGeom prst="roundRect">
            <a:avLst>
              <a:gd name="adj" fmla="val 7500"/>
            </a:avLst>
          </a:prstGeom>
          <a:solidFill>
            <a:schemeClr val="bg2"/>
          </a:solidFill>
          <a:ln/>
        </p:spPr>
        <p:txBody>
          <a:bodyPr/>
          <a:p/>
        </p:txBody>
      </p:sp>
      <p:sp>
        <p:nvSpPr>
          <p:cNvPr id="5" name="Text 3"/>
          <p:cNvSpPr txBox="1"/>
          <p:nvPr/>
        </p:nvSpPr>
        <p:spPr>
          <a:xfrm>
            <a:off x="594360" y="1481328"/>
            <a:ext cx="1188720" cy="292608"/>
          </a:xfrm>
          <a:prstGeom prst="roundRect">
            <a:avLst>
              <a:gd name="adj" fmla="val 50000"/>
            </a:avLst>
          </a:prstGeom>
          <a:solidFill>
            <a:schemeClr val="accent6"/>
          </a:solidFill>
          <a:ln/>
        </p:spPr>
        <p:txBody>
          <a:bodyPr wrap="square" lIns="0" tIns="0" rIns="0" bIns="0" rtlCol="0" anchor="ctr"/>
          <a:lstStyle/>
          <a:p>
            <a:pPr algn="ctr" indent="0" marL="0">
              <a:buNone/>
            </a:pPr>
            <a:r>
              <a:rPr lang="en-US" sz="1100" b="1" dirty="0">
                <a:solidFill>
                  <a:schemeClr val="bg1"/>
                </a:solidFill>
              </a:rPr>
              <a:t>Input</a:t>
            </a:r>
            <a:endParaRPr lang="en-US" sz="1100" dirty="0"/>
          </a:p>
        </p:txBody>
      </p:sp>
      <p:sp>
        <p:nvSpPr>
          <p:cNvPr id="6" name="Text 4"/>
          <p:cNvSpPr txBox="1"/>
          <p:nvPr/>
        </p:nvSpPr>
        <p:spPr>
          <a:xfrm>
            <a:off x="548640" y="1874520"/>
            <a:ext cx="1280160" cy="1325880"/>
          </a:xfrm>
          <a:prstGeom prst="rect">
            <a:avLst/>
          </a:prstGeom>
          <a:noFill/>
          <a:ln/>
        </p:spPr>
        <p:txBody>
          <a:bodyPr wrap="square" lIns="0" tIns="0" rIns="0" bIns="0" rtlCol="0" anchor="t"/>
          <a:lstStyle/>
          <a:p>
            <a:pPr algn="ctr" indent="0" marL="0">
              <a:buNone/>
            </a:pPr>
            <a:r>
              <a:rPr lang="en-US" sz="1200" dirty="0">
                <a:solidFill>
                  <a:schemeClr val="tx1"/>
                </a:solidFill>
              </a:rPr>
              <a:t>1024 × 1024</a:t>
            </a:r>
            <a:endParaRPr lang="en-US" sz="1200" dirty="0"/>
          </a:p>
          <a:p>
            <a:pPr algn="ctr" indent="0" marL="0">
              <a:buNone/>
            </a:pPr>
            <a:r>
              <a:rPr lang="en-US" sz="1200" dirty="0">
                <a:solidFill>
                  <a:schemeClr val="tx1"/>
                </a:solidFill>
              </a:rPr>
              <a:t>RGB photo</a:t>
            </a:r>
            <a:endParaRPr lang="en-US" sz="1200" dirty="0"/>
          </a:p>
          <a:p>
            <a:pPr algn="ctr" indent="0" marL="0">
              <a:buNone/>
            </a:pPr>
            <a:r>
              <a:rPr lang="en-US" sz="1200" dirty="0">
                <a:solidFill>
                  <a:schemeClr val="tx1"/>
                </a:solidFill>
              </a:rPr>
              <a:t>(letterboxed)</a:t>
            </a:r>
            <a:endParaRPr lang="en-US" sz="1200" dirty="0"/>
          </a:p>
        </p:txBody>
      </p:sp>
      <p:sp>
        <p:nvSpPr>
          <p:cNvPr id="7" name="Shape 5"/>
          <p:cNvSpPr/>
          <p:nvPr/>
        </p:nvSpPr>
        <p:spPr>
          <a:xfrm>
            <a:off x="1938528" y="2286000"/>
            <a:ext cx="201168" cy="0"/>
          </a:xfrm>
          <a:prstGeom prst="line">
            <a:avLst/>
          </a:prstGeom>
          <a:noFill/>
          <a:ln w="25400">
            <a:solidFill>
              <a:schemeClr val="accent6"/>
            </a:solidFill>
            <a:prstDash val="solid"/>
            <a:tailEnd type="triangle"/>
          </a:ln>
        </p:spPr>
        <p:txBody>
          <a:bodyPr/>
          <a:p/>
        </p:txBody>
      </p:sp>
      <p:sp>
        <p:nvSpPr>
          <p:cNvPr id="8" name="Shape 6"/>
          <p:cNvSpPr/>
          <p:nvPr/>
        </p:nvSpPr>
        <p:spPr>
          <a:xfrm>
            <a:off x="2157984" y="1371600"/>
            <a:ext cx="1463040" cy="1874520"/>
          </a:xfrm>
          <a:prstGeom prst="roundRect">
            <a:avLst>
              <a:gd name="adj" fmla="val 7500"/>
            </a:avLst>
          </a:prstGeom>
          <a:solidFill>
            <a:schemeClr val="bg2"/>
          </a:solidFill>
          <a:ln/>
        </p:spPr>
        <p:txBody>
          <a:bodyPr/>
          <a:p/>
        </p:txBody>
      </p:sp>
      <p:sp>
        <p:nvSpPr>
          <p:cNvPr id="9" name="Text 7"/>
          <p:cNvSpPr txBox="1"/>
          <p:nvPr/>
        </p:nvSpPr>
        <p:spPr>
          <a:xfrm>
            <a:off x="2295144" y="1481328"/>
            <a:ext cx="118872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Backbone</a:t>
            </a:r>
            <a:endParaRPr lang="en-US" sz="1100" dirty="0"/>
          </a:p>
        </p:txBody>
      </p:sp>
      <p:sp>
        <p:nvSpPr>
          <p:cNvPr id="10" name="Text 8"/>
          <p:cNvSpPr txBox="1"/>
          <p:nvPr/>
        </p:nvSpPr>
        <p:spPr>
          <a:xfrm>
            <a:off x="2249424" y="1874520"/>
            <a:ext cx="1280160" cy="1325880"/>
          </a:xfrm>
          <a:prstGeom prst="rect">
            <a:avLst/>
          </a:prstGeom>
          <a:noFill/>
          <a:ln/>
        </p:spPr>
        <p:txBody>
          <a:bodyPr wrap="square" lIns="0" tIns="0" rIns="0" bIns="0" rtlCol="0" anchor="t"/>
          <a:lstStyle/>
          <a:p>
            <a:pPr algn="ctr" indent="0" marL="0">
              <a:buNone/>
            </a:pPr>
            <a:r>
              <a:rPr lang="en-US" sz="1200" dirty="0">
                <a:solidFill>
                  <a:schemeClr val="tx1"/>
                </a:solidFill>
              </a:rPr>
              <a:t>5 stride-2 convs</a:t>
            </a:r>
            <a:endParaRPr lang="en-US" sz="1200" dirty="0"/>
          </a:p>
          <a:p>
            <a:pPr algn="ctr" indent="0" marL="0">
              <a:buNone/>
            </a:pPr>
            <a:r>
              <a:rPr lang="en-US" sz="1200" dirty="0">
                <a:solidFill>
                  <a:schemeClr val="tx1"/>
                </a:solidFill>
              </a:rPr>
              <a:t>C3k2 residual blocks</a:t>
            </a:r>
            <a:endParaRPr lang="en-US" sz="1200" dirty="0"/>
          </a:p>
          <a:p>
            <a:pPr algn="ctr" indent="0" marL="0">
              <a:buNone/>
            </a:pPr>
            <a:r>
              <a:rPr lang="en-US" sz="1200" dirty="0">
                <a:solidFill>
                  <a:schemeClr val="tx1"/>
                </a:solidFill>
              </a:rPr>
              <a:t>SPPF max pooling</a:t>
            </a:r>
            <a:endParaRPr lang="en-US" sz="1200" dirty="0"/>
          </a:p>
          <a:p>
            <a:pPr algn="ctr" indent="0" marL="0">
              <a:buNone/>
            </a:pPr>
            <a:r>
              <a:rPr lang="en-US" sz="1200" dirty="0">
                <a:solidFill>
                  <a:schemeClr val="tx1"/>
                </a:solidFill>
              </a:rPr>
              <a:t>C2PSA attention</a:t>
            </a:r>
            <a:endParaRPr lang="en-US" sz="1200" dirty="0"/>
          </a:p>
        </p:txBody>
      </p:sp>
      <p:sp>
        <p:nvSpPr>
          <p:cNvPr id="11" name="Shape 9"/>
          <p:cNvSpPr/>
          <p:nvPr/>
        </p:nvSpPr>
        <p:spPr>
          <a:xfrm>
            <a:off x="3639312" y="2286000"/>
            <a:ext cx="201168" cy="0"/>
          </a:xfrm>
          <a:prstGeom prst="line">
            <a:avLst/>
          </a:prstGeom>
          <a:noFill/>
          <a:ln w="25400">
            <a:solidFill>
              <a:schemeClr val="accent6"/>
            </a:solidFill>
            <a:prstDash val="solid"/>
            <a:tailEnd type="triangle"/>
          </a:ln>
        </p:spPr>
        <p:txBody>
          <a:bodyPr/>
          <a:p/>
        </p:txBody>
      </p:sp>
      <p:sp>
        <p:nvSpPr>
          <p:cNvPr id="12" name="Shape 10"/>
          <p:cNvSpPr/>
          <p:nvPr/>
        </p:nvSpPr>
        <p:spPr>
          <a:xfrm>
            <a:off x="3858768" y="1371600"/>
            <a:ext cx="1463040" cy="1874520"/>
          </a:xfrm>
          <a:prstGeom prst="roundRect">
            <a:avLst>
              <a:gd name="adj" fmla="val 7500"/>
            </a:avLst>
          </a:prstGeom>
          <a:solidFill>
            <a:schemeClr val="bg2"/>
          </a:solidFill>
          <a:ln/>
        </p:spPr>
        <p:txBody>
          <a:bodyPr/>
          <a:p/>
        </p:txBody>
      </p:sp>
      <p:sp>
        <p:nvSpPr>
          <p:cNvPr id="13" name="Text 11"/>
          <p:cNvSpPr txBox="1"/>
          <p:nvPr/>
        </p:nvSpPr>
        <p:spPr>
          <a:xfrm>
            <a:off x="3995928" y="1481328"/>
            <a:ext cx="118872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Neck</a:t>
            </a:r>
            <a:endParaRPr lang="en-US" sz="1100" dirty="0"/>
          </a:p>
        </p:txBody>
      </p:sp>
      <p:sp>
        <p:nvSpPr>
          <p:cNvPr id="14" name="Text 12"/>
          <p:cNvSpPr txBox="1"/>
          <p:nvPr/>
        </p:nvSpPr>
        <p:spPr>
          <a:xfrm>
            <a:off x="3950208" y="1874520"/>
            <a:ext cx="1280160" cy="1325880"/>
          </a:xfrm>
          <a:prstGeom prst="rect">
            <a:avLst/>
          </a:prstGeom>
          <a:noFill/>
          <a:ln/>
        </p:spPr>
        <p:txBody>
          <a:bodyPr wrap="square" lIns="0" tIns="0" rIns="0" bIns="0" rtlCol="0" anchor="t"/>
          <a:lstStyle/>
          <a:p>
            <a:pPr algn="ctr" indent="0" marL="0">
              <a:buNone/>
            </a:pPr>
            <a:r>
              <a:rPr lang="en-US" sz="1200" dirty="0">
                <a:solidFill>
                  <a:schemeClr val="tx1"/>
                </a:solidFill>
              </a:rPr>
              <a:t>FPN top-down +</a:t>
            </a:r>
            <a:endParaRPr lang="en-US" sz="1200" dirty="0"/>
          </a:p>
          <a:p>
            <a:pPr algn="ctr" indent="0" marL="0">
              <a:buNone/>
            </a:pPr>
            <a:r>
              <a:rPr lang="en-US" sz="1200" dirty="0">
                <a:solidFill>
                  <a:schemeClr val="tx1"/>
                </a:solidFill>
              </a:rPr>
              <a:t>PAN bottom-up:</a:t>
            </a:r>
            <a:endParaRPr lang="en-US" sz="1200" dirty="0"/>
          </a:p>
          <a:p>
            <a:pPr algn="ctr" indent="0" marL="0">
              <a:buNone/>
            </a:pPr>
            <a:r>
              <a:rPr lang="en-US" sz="1200" dirty="0">
                <a:solidFill>
                  <a:schemeClr val="tx1"/>
                </a:solidFill>
              </a:rPr>
              <a:t>mixes fine detail</a:t>
            </a:r>
            <a:endParaRPr lang="en-US" sz="1200" dirty="0"/>
          </a:p>
          <a:p>
            <a:pPr algn="ctr" indent="0" marL="0">
              <a:buNone/>
            </a:pPr>
            <a:r>
              <a:rPr lang="en-US" sz="1200" dirty="0">
                <a:solidFill>
                  <a:schemeClr val="tx1"/>
                </a:solidFill>
              </a:rPr>
              <a:t>with context</a:t>
            </a:r>
            <a:endParaRPr lang="en-US" sz="1200" dirty="0"/>
          </a:p>
        </p:txBody>
      </p:sp>
      <p:sp>
        <p:nvSpPr>
          <p:cNvPr id="15" name="Shape 13"/>
          <p:cNvSpPr/>
          <p:nvPr/>
        </p:nvSpPr>
        <p:spPr>
          <a:xfrm>
            <a:off x="5340096" y="2286000"/>
            <a:ext cx="201168" cy="0"/>
          </a:xfrm>
          <a:prstGeom prst="line">
            <a:avLst/>
          </a:prstGeom>
          <a:noFill/>
          <a:ln w="25400">
            <a:solidFill>
              <a:schemeClr val="accent6"/>
            </a:solidFill>
            <a:prstDash val="solid"/>
            <a:tailEnd type="triangle"/>
          </a:ln>
        </p:spPr>
        <p:txBody>
          <a:bodyPr/>
          <a:p/>
        </p:txBody>
      </p:sp>
      <p:sp>
        <p:nvSpPr>
          <p:cNvPr id="16" name="Shape 14"/>
          <p:cNvSpPr/>
          <p:nvPr/>
        </p:nvSpPr>
        <p:spPr>
          <a:xfrm>
            <a:off x="5559552" y="1371600"/>
            <a:ext cx="1463040" cy="1874520"/>
          </a:xfrm>
          <a:prstGeom prst="roundRect">
            <a:avLst>
              <a:gd name="adj" fmla="val 7500"/>
            </a:avLst>
          </a:prstGeom>
          <a:solidFill>
            <a:schemeClr val="bg2"/>
          </a:solidFill>
          <a:ln/>
        </p:spPr>
        <p:txBody>
          <a:bodyPr/>
          <a:p/>
        </p:txBody>
      </p:sp>
      <p:sp>
        <p:nvSpPr>
          <p:cNvPr id="17" name="Text 15"/>
          <p:cNvSpPr txBox="1"/>
          <p:nvPr/>
        </p:nvSpPr>
        <p:spPr>
          <a:xfrm>
            <a:off x="5696712" y="1481328"/>
            <a:ext cx="118872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Head</a:t>
            </a:r>
            <a:endParaRPr lang="en-US" sz="1100" dirty="0"/>
          </a:p>
        </p:txBody>
      </p:sp>
      <p:sp>
        <p:nvSpPr>
          <p:cNvPr id="18" name="Text 16"/>
          <p:cNvSpPr txBox="1"/>
          <p:nvPr/>
        </p:nvSpPr>
        <p:spPr>
          <a:xfrm>
            <a:off x="5650992" y="1874520"/>
            <a:ext cx="1280160" cy="1325880"/>
          </a:xfrm>
          <a:prstGeom prst="rect">
            <a:avLst/>
          </a:prstGeom>
          <a:noFill/>
          <a:ln/>
        </p:spPr>
        <p:txBody>
          <a:bodyPr wrap="square" lIns="0" tIns="0" rIns="0" bIns="0" rtlCol="0" anchor="t"/>
          <a:lstStyle/>
          <a:p>
            <a:pPr algn="ctr" indent="0" marL="0">
              <a:buNone/>
            </a:pPr>
            <a:r>
              <a:rPr lang="en-US" sz="1200" dirty="0">
                <a:solidFill>
                  <a:schemeClr val="tx1"/>
                </a:solidFill>
              </a:rPr>
              <a:t>Anchor-free,</a:t>
            </a:r>
            <a:endParaRPr lang="en-US" sz="1200" dirty="0"/>
          </a:p>
          <a:p>
            <a:pPr algn="ctr" indent="0" marL="0">
              <a:buNone/>
            </a:pPr>
            <a:r>
              <a:rPr lang="en-US" sz="1200" dirty="0">
                <a:solidFill>
                  <a:schemeClr val="tx1"/>
                </a:solidFill>
              </a:rPr>
              <a:t>3 scales:</a:t>
            </a:r>
            <a:endParaRPr lang="en-US" sz="1200" dirty="0"/>
          </a:p>
          <a:p>
            <a:pPr algn="ctr" indent="0" marL="0">
              <a:buNone/>
            </a:pPr>
            <a:r>
              <a:rPr lang="en-US" sz="1200" dirty="0">
                <a:solidFill>
                  <a:schemeClr val="tx1"/>
                </a:solidFill>
              </a:rPr>
              <a:t>P3 128×128 (8 px)</a:t>
            </a:r>
            <a:endParaRPr lang="en-US" sz="1200" dirty="0"/>
          </a:p>
          <a:p>
            <a:pPr algn="ctr" indent="0" marL="0">
              <a:buNone/>
            </a:pPr>
            <a:r>
              <a:rPr lang="en-US" sz="1200" dirty="0">
                <a:solidFill>
                  <a:schemeClr val="tx1"/>
                </a:solidFill>
              </a:rPr>
              <a:t>P4 64×64 · P5 32×32</a:t>
            </a:r>
            <a:endParaRPr lang="en-US" sz="1200" dirty="0"/>
          </a:p>
        </p:txBody>
      </p:sp>
      <p:sp>
        <p:nvSpPr>
          <p:cNvPr id="19" name="Shape 17"/>
          <p:cNvSpPr/>
          <p:nvPr/>
        </p:nvSpPr>
        <p:spPr>
          <a:xfrm>
            <a:off x="7040880" y="2286000"/>
            <a:ext cx="201168" cy="0"/>
          </a:xfrm>
          <a:prstGeom prst="line">
            <a:avLst/>
          </a:prstGeom>
          <a:noFill/>
          <a:ln w="25400">
            <a:solidFill>
              <a:schemeClr val="accent6"/>
            </a:solidFill>
            <a:prstDash val="solid"/>
            <a:tailEnd type="triangle"/>
          </a:ln>
        </p:spPr>
        <p:txBody>
          <a:bodyPr/>
          <a:p/>
        </p:txBody>
      </p:sp>
      <p:sp>
        <p:nvSpPr>
          <p:cNvPr id="20" name="Shape 18"/>
          <p:cNvSpPr/>
          <p:nvPr/>
        </p:nvSpPr>
        <p:spPr>
          <a:xfrm>
            <a:off x="7260336" y="1371600"/>
            <a:ext cx="1463040" cy="1874520"/>
          </a:xfrm>
          <a:prstGeom prst="roundRect">
            <a:avLst>
              <a:gd name="adj" fmla="val 7500"/>
            </a:avLst>
          </a:prstGeom>
          <a:solidFill>
            <a:schemeClr val="bg2"/>
          </a:solidFill>
          <a:ln/>
        </p:spPr>
        <p:txBody>
          <a:bodyPr/>
          <a:p/>
        </p:txBody>
      </p:sp>
      <p:sp>
        <p:nvSpPr>
          <p:cNvPr id="21" name="Text 19"/>
          <p:cNvSpPr txBox="1"/>
          <p:nvPr/>
        </p:nvSpPr>
        <p:spPr>
          <a:xfrm>
            <a:off x="7397496" y="1481328"/>
            <a:ext cx="118872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Output</a:t>
            </a:r>
            <a:endParaRPr lang="en-US" sz="1100" dirty="0"/>
          </a:p>
        </p:txBody>
      </p:sp>
      <p:sp>
        <p:nvSpPr>
          <p:cNvPr id="22" name="Text 20"/>
          <p:cNvSpPr txBox="1"/>
          <p:nvPr/>
        </p:nvSpPr>
        <p:spPr>
          <a:xfrm>
            <a:off x="7351776" y="1874520"/>
            <a:ext cx="1280160" cy="1325880"/>
          </a:xfrm>
          <a:prstGeom prst="rect">
            <a:avLst/>
          </a:prstGeom>
          <a:noFill/>
          <a:ln/>
        </p:spPr>
        <p:txBody>
          <a:bodyPr wrap="square" lIns="0" tIns="0" rIns="0" bIns="0" rtlCol="0" anchor="t"/>
          <a:lstStyle/>
          <a:p>
            <a:pPr algn="ctr" indent="0" marL="0">
              <a:buNone/>
            </a:pPr>
            <a:r>
              <a:rPr lang="en-US" sz="1200" dirty="0">
                <a:solidFill>
                  <a:schemeClr val="tx1"/>
                </a:solidFill>
              </a:rPr>
              <a:t>21,504 boxes</a:t>
            </a:r>
            <a:endParaRPr lang="en-US" sz="1200" dirty="0"/>
          </a:p>
          <a:p>
            <a:pPr algn="ctr" indent="0" marL="0">
              <a:buNone/>
            </a:pPr>
            <a:r>
              <a:rPr lang="en-US" sz="1200" dirty="0">
                <a:solidFill>
                  <a:schemeClr val="tx1"/>
                </a:solidFill>
              </a:rPr>
              <a:t>+ pill scores</a:t>
            </a:r>
            <a:endParaRPr lang="en-US" sz="1200" dirty="0"/>
          </a:p>
          <a:p>
            <a:pPr algn="ctr" indent="0" marL="0">
              <a:buNone/>
            </a:pPr>
            <a:r>
              <a:rPr lang="en-US" sz="1200" dirty="0">
                <a:solidFill>
                  <a:schemeClr val="tx1"/>
                </a:solidFill>
              </a:rPr>
              <a:t>→ conf + NMS</a:t>
            </a:r>
            <a:endParaRPr lang="en-US" sz="1200" dirty="0"/>
          </a:p>
          <a:p>
            <a:pPr algn="ctr" indent="0" marL="0">
              <a:buNone/>
            </a:pPr>
            <a:r>
              <a:rPr lang="en-US" sz="1200" dirty="0">
                <a:solidFill>
                  <a:schemeClr val="tx1"/>
                </a:solidFill>
              </a:rPr>
              <a:t>→ count</a:t>
            </a:r>
            <a:endParaRPr lang="en-US" sz="1200" dirty="0"/>
          </a:p>
        </p:txBody>
      </p:sp>
      <p:sp>
        <p:nvSpPr>
          <p:cNvPr id="23" name="Shape 21"/>
          <p:cNvSpPr/>
          <p:nvPr/>
        </p:nvSpPr>
        <p:spPr>
          <a:xfrm>
            <a:off x="457200" y="3474720"/>
            <a:ext cx="4023360" cy="1143000"/>
          </a:xfrm>
          <a:prstGeom prst="roundRect">
            <a:avLst>
              <a:gd name="adj" fmla="val 9600"/>
            </a:avLst>
          </a:prstGeom>
          <a:solidFill>
            <a:schemeClr val="tx2"/>
          </a:solidFill>
          <a:ln/>
        </p:spPr>
        <p:txBody>
          <a:bodyPr/>
          <a:p/>
        </p:txBody>
      </p:sp>
      <p:sp>
        <p:nvSpPr>
          <p:cNvPr id="24" name="Text 22"/>
          <p:cNvSpPr txBox="1"/>
          <p:nvPr/>
        </p:nvSpPr>
        <p:spPr>
          <a:xfrm>
            <a:off x="640080" y="3566160"/>
            <a:ext cx="3657600" cy="274320"/>
          </a:xfrm>
          <a:prstGeom prst="rect">
            <a:avLst/>
          </a:prstGeom>
          <a:noFill/>
          <a:ln/>
        </p:spPr>
        <p:txBody>
          <a:bodyPr wrap="square" lIns="0" tIns="0" rIns="0" bIns="0" rtlCol="0" anchor="t"/>
          <a:lstStyle/>
          <a:p>
            <a:pPr indent="0" marL="0">
              <a:buNone/>
            </a:pPr>
            <a:r>
              <a:rPr lang="en-US" sz="1400" b="1" dirty="0">
                <a:solidFill>
                  <a:schemeClr val="bg1"/>
                </a:solidFill>
              </a:rPr>
              <a:t>Why 1024 px matters here</a:t>
            </a:r>
            <a:endParaRPr lang="en-US" sz="1400" dirty="0"/>
          </a:p>
        </p:txBody>
      </p:sp>
      <p:sp>
        <p:nvSpPr>
          <p:cNvPr id="25" name="Text 23"/>
          <p:cNvSpPr txBox="1"/>
          <p:nvPr/>
        </p:nvSpPr>
        <p:spPr>
          <a:xfrm>
            <a:off x="640080" y="3858768"/>
            <a:ext cx="3657600" cy="731520"/>
          </a:xfrm>
          <a:prstGeom prst="rect">
            <a:avLst/>
          </a:prstGeom>
          <a:noFill/>
          <a:ln/>
        </p:spPr>
        <p:txBody>
          <a:bodyPr wrap="square" lIns="0" tIns="0" rIns="0" bIns="0" rtlCol="0" anchor="t"/>
          <a:lstStyle/>
          <a:p>
            <a:pPr indent="0" marL="0">
              <a:buNone/>
            </a:pPr>
            <a:r>
              <a:rPr lang="en-US" sz="1200" dirty="0">
                <a:solidFill>
                  <a:schemeClr val="bg2"/>
                </a:solidFill>
              </a:rPr>
              <a:t>My pills are ~54 px wide at 1024 input, about 7 cells of the finest (stride-8) grid. At the default 640 they'd be 34 px, about 4 cells, and touching pills blur together.</a:t>
            </a:r>
            <a:endParaRPr lang="en-US" sz="1200" dirty="0"/>
          </a:p>
        </p:txBody>
      </p:sp>
      <p:sp>
        <p:nvSpPr>
          <p:cNvPr id="26" name="Shape 24"/>
          <p:cNvSpPr/>
          <p:nvPr/>
        </p:nvSpPr>
        <p:spPr>
          <a:xfrm>
            <a:off x="4663440" y="3474720"/>
            <a:ext cx="4023360" cy="1143000"/>
          </a:xfrm>
          <a:prstGeom prst="roundRect">
            <a:avLst>
              <a:gd name="adj" fmla="val 9600"/>
            </a:avLst>
          </a:prstGeom>
          <a:solidFill>
            <a:schemeClr val="bg2"/>
          </a:solidFill>
          <a:ln/>
        </p:spPr>
        <p:txBody>
          <a:bodyPr/>
          <a:p/>
        </p:txBody>
      </p:sp>
      <p:sp>
        <p:nvSpPr>
          <p:cNvPr id="27" name="Text 25"/>
          <p:cNvSpPr txBox="1"/>
          <p:nvPr/>
        </p:nvSpPr>
        <p:spPr>
          <a:xfrm>
            <a:off x="4846320" y="3566160"/>
            <a:ext cx="3657600" cy="274320"/>
          </a:xfrm>
          <a:prstGeom prst="rect">
            <a:avLst/>
          </a:prstGeom>
          <a:noFill/>
          <a:ln/>
        </p:spPr>
        <p:txBody>
          <a:bodyPr wrap="square" lIns="0" tIns="0" rIns="0" bIns="0" rtlCol="0" anchor="t"/>
          <a:lstStyle/>
          <a:p>
            <a:pPr indent="0" marL="0">
              <a:buNone/>
            </a:pPr>
            <a:r>
              <a:rPr lang="en-US" sz="1400" b="1" dirty="0">
                <a:solidFill>
                  <a:schemeClr val="tx2"/>
                </a:solidFill>
              </a:rPr>
              <a:t>What freeze=10 froze</a:t>
            </a:r>
            <a:endParaRPr lang="en-US" sz="1400" dirty="0"/>
          </a:p>
        </p:txBody>
      </p:sp>
      <p:sp>
        <p:nvSpPr>
          <p:cNvPr id="28" name="Text 26"/>
          <p:cNvSpPr txBox="1"/>
          <p:nvPr/>
        </p:nvSpPr>
        <p:spPr>
          <a:xfrm>
            <a:off x="4846320" y="3858768"/>
            <a:ext cx="3657600" cy="731520"/>
          </a:xfrm>
          <a:prstGeom prst="rect">
            <a:avLst/>
          </a:prstGeom>
          <a:noFill/>
          <a:ln/>
        </p:spPr>
        <p:txBody>
          <a:bodyPr wrap="square" lIns="0" tIns="0" rIns="0" bIns="0" rtlCol="0" anchor="t"/>
          <a:lstStyle/>
          <a:p>
            <a:pPr indent="0" marL="0">
              <a:buNone/>
            </a:pPr>
            <a:r>
              <a:rPr lang="en-US" sz="1200" dirty="0">
                <a:solidFill>
                  <a:schemeClr val="tx1"/>
                </a:solidFill>
              </a:rPr>
              <a:t>Layers 0–9: the backbone up to SPPF (general shape features). Attention, neck and head still trained on my photos, then everything was unfrozen.</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How YOLO11 learns</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Supervised: compare predicted boxes with my labeled boxes, and adjust weights to reduce the loss</a:t>
            </a:r>
            <a:endParaRPr lang="en-US" sz="1500" dirty="0"/>
          </a:p>
        </p:txBody>
      </p:sp>
      <p:sp>
        <p:nvSpPr>
          <p:cNvPr id="4" name="Text 2"/>
          <p:cNvSpPr txBox="1"/>
          <p:nvPr/>
        </p:nvSpPr>
        <p:spPr>
          <a:xfrm>
            <a:off x="457200" y="1371600"/>
            <a:ext cx="4023360" cy="292608"/>
          </a:xfrm>
          <a:prstGeom prst="rect">
            <a:avLst/>
          </a:prstGeom>
          <a:noFill/>
          <a:ln/>
        </p:spPr>
        <p:txBody>
          <a:bodyPr wrap="square" lIns="0" tIns="0" rIns="0" bIns="0" rtlCol="0" anchor="t"/>
          <a:lstStyle/>
          <a:p>
            <a:pPr indent="0" marL="0">
              <a:buNone/>
            </a:pPr>
            <a:r>
              <a:rPr lang="en-US" sz="1500" b="1" dirty="0">
                <a:solidFill>
                  <a:schemeClr val="tx2"/>
                </a:solidFill>
              </a:rPr>
              <a:t>1  Match predictions to labeled pills</a:t>
            </a:r>
            <a:endParaRPr lang="en-US" sz="1500" dirty="0"/>
          </a:p>
        </p:txBody>
      </p:sp>
      <p:sp>
        <p:nvSpPr>
          <p:cNvPr id="5" name="Text 3"/>
          <p:cNvSpPr txBox="1"/>
          <p:nvPr/>
        </p:nvSpPr>
        <p:spPr>
          <a:xfrm>
            <a:off x="457200" y="1691640"/>
            <a:ext cx="4023360" cy="914400"/>
          </a:xfrm>
          <a:prstGeom prst="rect">
            <a:avLst/>
          </a:prstGeom>
          <a:noFill/>
          <a:ln/>
        </p:spPr>
        <p:txBody>
          <a:bodyPr wrap="square" lIns="0" tIns="0" rIns="0" bIns="0" rtlCol="0" anchor="t"/>
          <a:lstStyle/>
          <a:p>
            <a:pPr indent="0" marL="0">
              <a:buNone/>
            </a:pPr>
            <a:r>
              <a:rPr lang="en-US" sz="1300" dirty="0">
                <a:solidFill>
                  <a:schemeClr val="tx1"/>
                </a:solidFill>
              </a:rPr>
              <a:t>Task-Aligned Assigner: for each labeled pill, the 10 grid cells with the best mix of class score and box overlap become its "positives". Everything else learns "no pill here".</a:t>
            </a:r>
            <a:endParaRPr lang="en-US" sz="1300" dirty="0"/>
          </a:p>
        </p:txBody>
      </p:sp>
      <p:sp>
        <p:nvSpPr>
          <p:cNvPr id="6" name="Text 4"/>
          <p:cNvSpPr txBox="1"/>
          <p:nvPr/>
        </p:nvSpPr>
        <p:spPr>
          <a:xfrm>
            <a:off x="457200" y="2697480"/>
            <a:ext cx="4023360" cy="292608"/>
          </a:xfrm>
          <a:prstGeom prst="rect">
            <a:avLst/>
          </a:prstGeom>
          <a:noFill/>
          <a:ln/>
        </p:spPr>
        <p:txBody>
          <a:bodyPr wrap="square" lIns="0" tIns="0" rIns="0" bIns="0" rtlCol="0" anchor="t"/>
          <a:lstStyle/>
          <a:p>
            <a:pPr indent="0" marL="0">
              <a:buNone/>
            </a:pPr>
            <a:r>
              <a:rPr lang="en-US" sz="1500" b="1" dirty="0">
                <a:solidFill>
                  <a:schemeClr val="tx2"/>
                </a:solidFill>
              </a:rPr>
              <a:t>2  Score the mistakes (loss)</a:t>
            </a:r>
            <a:endParaRPr lang="en-US" sz="1500" dirty="0"/>
          </a:p>
        </p:txBody>
      </p:sp>
      <p:sp>
        <p:nvSpPr>
          <p:cNvPr id="7" name="Text 5"/>
          <p:cNvSpPr txBox="1"/>
          <p:nvPr/>
        </p:nvSpPr>
        <p:spPr>
          <a:xfrm>
            <a:off x="457200" y="3063240"/>
            <a:ext cx="548640" cy="411480"/>
          </a:xfrm>
          <a:prstGeom prst="rect">
            <a:avLst/>
          </a:prstGeom>
          <a:noFill/>
          <a:ln/>
        </p:spPr>
        <p:txBody>
          <a:bodyPr wrap="square" lIns="0" tIns="0" rIns="0" bIns="0" rtlCol="0" anchor="ctr"/>
          <a:lstStyle/>
          <a:p>
            <a:pPr indent="0" marL="0">
              <a:buNone/>
            </a:pPr>
            <a:r>
              <a:rPr lang="en-US" sz="1300" b="1" dirty="0">
                <a:solidFill>
                  <a:schemeClr val="accent6"/>
                </a:solidFill>
              </a:rPr>
              <a:t>7.5 ×</a:t>
            </a:r>
            <a:endParaRPr lang="en-US" sz="1300" dirty="0"/>
          </a:p>
        </p:txBody>
      </p:sp>
      <p:sp>
        <p:nvSpPr>
          <p:cNvPr id="8" name="Text 6"/>
          <p:cNvSpPr txBox="1"/>
          <p:nvPr/>
        </p:nvSpPr>
        <p:spPr>
          <a:xfrm>
            <a:off x="1005840" y="3127248"/>
            <a:ext cx="68580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CIoU</a:t>
            </a:r>
            <a:endParaRPr lang="en-US" sz="1100" dirty="0"/>
          </a:p>
        </p:txBody>
      </p:sp>
      <p:sp>
        <p:nvSpPr>
          <p:cNvPr id="9" name="Text 7"/>
          <p:cNvSpPr txBox="1"/>
          <p:nvPr/>
        </p:nvSpPr>
        <p:spPr>
          <a:xfrm>
            <a:off x="1828800" y="3063240"/>
            <a:ext cx="2651760" cy="411480"/>
          </a:xfrm>
          <a:prstGeom prst="rect">
            <a:avLst/>
          </a:prstGeom>
          <a:noFill/>
          <a:ln/>
        </p:spPr>
        <p:txBody>
          <a:bodyPr wrap="square" lIns="0" tIns="0" rIns="0" bIns="0" rtlCol="0" anchor="ctr"/>
          <a:lstStyle/>
          <a:p>
            <a:pPr indent="0" marL="0">
              <a:buNone/>
            </a:pPr>
            <a:r>
              <a:rPr lang="en-US" sz="1200" dirty="0">
                <a:solidFill>
                  <a:schemeClr val="tx1"/>
                </a:solidFill>
              </a:rPr>
              <a:t>box overlap, centre distance and shape vs the label</a:t>
            </a:r>
            <a:endParaRPr lang="en-US" sz="1200" dirty="0"/>
          </a:p>
        </p:txBody>
      </p:sp>
      <p:sp>
        <p:nvSpPr>
          <p:cNvPr id="10" name="Text 8"/>
          <p:cNvSpPr txBox="1"/>
          <p:nvPr/>
        </p:nvSpPr>
        <p:spPr>
          <a:xfrm>
            <a:off x="457200" y="3566160"/>
            <a:ext cx="548640" cy="411480"/>
          </a:xfrm>
          <a:prstGeom prst="rect">
            <a:avLst/>
          </a:prstGeom>
          <a:noFill/>
          <a:ln/>
        </p:spPr>
        <p:txBody>
          <a:bodyPr wrap="square" lIns="0" tIns="0" rIns="0" bIns="0" rtlCol="0" anchor="ctr"/>
          <a:lstStyle/>
          <a:p>
            <a:pPr indent="0" marL="0">
              <a:buNone/>
            </a:pPr>
            <a:r>
              <a:rPr lang="en-US" sz="1300" b="1" dirty="0">
                <a:solidFill>
                  <a:schemeClr val="accent6"/>
                </a:solidFill>
              </a:rPr>
              <a:t>1.5 ×</a:t>
            </a:r>
            <a:endParaRPr lang="en-US" sz="1300" dirty="0"/>
          </a:p>
        </p:txBody>
      </p:sp>
      <p:sp>
        <p:nvSpPr>
          <p:cNvPr id="11" name="Text 9"/>
          <p:cNvSpPr txBox="1"/>
          <p:nvPr/>
        </p:nvSpPr>
        <p:spPr>
          <a:xfrm>
            <a:off x="1005840" y="3630168"/>
            <a:ext cx="68580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DFL</a:t>
            </a:r>
            <a:endParaRPr lang="en-US" sz="1100" dirty="0"/>
          </a:p>
        </p:txBody>
      </p:sp>
      <p:sp>
        <p:nvSpPr>
          <p:cNvPr id="12" name="Text 10"/>
          <p:cNvSpPr txBox="1"/>
          <p:nvPr/>
        </p:nvSpPr>
        <p:spPr>
          <a:xfrm>
            <a:off x="1828800" y="3566160"/>
            <a:ext cx="2651760" cy="411480"/>
          </a:xfrm>
          <a:prstGeom prst="rect">
            <a:avLst/>
          </a:prstGeom>
          <a:noFill/>
          <a:ln/>
        </p:spPr>
        <p:txBody>
          <a:bodyPr wrap="square" lIns="0" tIns="0" rIns="0" bIns="0" rtlCol="0" anchor="ctr"/>
          <a:lstStyle/>
          <a:p>
            <a:pPr indent="0" marL="0">
              <a:buNone/>
            </a:pPr>
            <a:r>
              <a:rPr lang="en-US" sz="1200" dirty="0">
                <a:solidFill>
                  <a:schemeClr val="tx1"/>
                </a:solidFill>
              </a:rPr>
              <a:t>each box side predicted as a 16-bin distribution, sharpens edges</a:t>
            </a:r>
            <a:endParaRPr lang="en-US" sz="1200" dirty="0"/>
          </a:p>
        </p:txBody>
      </p:sp>
      <p:sp>
        <p:nvSpPr>
          <p:cNvPr id="13" name="Text 11"/>
          <p:cNvSpPr txBox="1"/>
          <p:nvPr/>
        </p:nvSpPr>
        <p:spPr>
          <a:xfrm>
            <a:off x="457200" y="4069080"/>
            <a:ext cx="548640" cy="411480"/>
          </a:xfrm>
          <a:prstGeom prst="rect">
            <a:avLst/>
          </a:prstGeom>
          <a:noFill/>
          <a:ln/>
        </p:spPr>
        <p:txBody>
          <a:bodyPr wrap="square" lIns="0" tIns="0" rIns="0" bIns="0" rtlCol="0" anchor="ctr"/>
          <a:lstStyle/>
          <a:p>
            <a:pPr indent="0" marL="0">
              <a:buNone/>
            </a:pPr>
            <a:r>
              <a:rPr lang="en-US" sz="1300" b="1" dirty="0">
                <a:solidFill>
                  <a:schemeClr val="accent6"/>
                </a:solidFill>
              </a:rPr>
              <a:t>0.5 ×</a:t>
            </a:r>
            <a:endParaRPr lang="en-US" sz="1300" dirty="0"/>
          </a:p>
        </p:txBody>
      </p:sp>
      <p:sp>
        <p:nvSpPr>
          <p:cNvPr id="14" name="Text 12"/>
          <p:cNvSpPr txBox="1"/>
          <p:nvPr/>
        </p:nvSpPr>
        <p:spPr>
          <a:xfrm>
            <a:off x="1005840" y="4133088"/>
            <a:ext cx="68580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BCE</a:t>
            </a:r>
            <a:endParaRPr lang="en-US" sz="1100" dirty="0"/>
          </a:p>
        </p:txBody>
      </p:sp>
      <p:sp>
        <p:nvSpPr>
          <p:cNvPr id="15" name="Text 13"/>
          <p:cNvSpPr txBox="1"/>
          <p:nvPr/>
        </p:nvSpPr>
        <p:spPr>
          <a:xfrm>
            <a:off x="1828800" y="4069080"/>
            <a:ext cx="2651760" cy="411480"/>
          </a:xfrm>
          <a:prstGeom prst="rect">
            <a:avLst/>
          </a:prstGeom>
          <a:noFill/>
          <a:ln/>
        </p:spPr>
        <p:txBody>
          <a:bodyPr wrap="square" lIns="0" tIns="0" rIns="0" bIns="0" rtlCol="0" anchor="ctr"/>
          <a:lstStyle/>
          <a:p>
            <a:pPr indent="0" marL="0">
              <a:buNone/>
            </a:pPr>
            <a:r>
              <a:rPr lang="en-US" sz="1200" dirty="0">
                <a:solidFill>
                  <a:schemeClr val="tx1"/>
                </a:solidFill>
              </a:rPr>
              <a:t>is there a pill in this cell? (one class)</a:t>
            </a:r>
            <a:endParaRPr lang="en-US" sz="1200" dirty="0"/>
          </a:p>
        </p:txBody>
      </p:sp>
      <p:sp>
        <p:nvSpPr>
          <p:cNvPr id="16" name="Shape 14"/>
          <p:cNvSpPr/>
          <p:nvPr/>
        </p:nvSpPr>
        <p:spPr>
          <a:xfrm>
            <a:off x="4709160" y="1371600"/>
            <a:ext cx="3977640" cy="3246120"/>
          </a:xfrm>
          <a:prstGeom prst="roundRect">
            <a:avLst>
              <a:gd name="adj" fmla="val 3380"/>
            </a:avLst>
          </a:prstGeom>
          <a:solidFill>
            <a:schemeClr val="bg2"/>
          </a:solidFill>
          <a:ln/>
        </p:spPr>
      </p:sp>
      <p:sp>
        <p:nvSpPr>
          <p:cNvPr id="17" name="Text 15"/>
          <p:cNvSpPr txBox="1"/>
          <p:nvPr/>
        </p:nvSpPr>
        <p:spPr>
          <a:xfrm>
            <a:off x="4892040" y="1481328"/>
            <a:ext cx="3657600" cy="292608"/>
          </a:xfrm>
          <a:prstGeom prst="rect">
            <a:avLst/>
          </a:prstGeom>
          <a:noFill/>
          <a:ln/>
        </p:spPr>
        <p:txBody>
          <a:bodyPr wrap="square" lIns="0" tIns="0" rIns="0" bIns="0" rtlCol="0" anchor="t"/>
          <a:lstStyle/>
          <a:p>
            <a:pPr indent="0" marL="0">
              <a:buNone/>
            </a:pPr>
            <a:r>
              <a:rPr lang="en-US" sz="1500" b="1" dirty="0">
                <a:solidFill>
                  <a:schemeClr val="tx2"/>
                </a:solidFill>
              </a:rPr>
              <a:t>3  Update and repeat</a:t>
            </a:r>
            <a:endParaRPr lang="en-US" sz="1500" dirty="0"/>
          </a:p>
        </p:txBody>
      </p:sp>
      <p:sp>
        <p:nvSpPr>
          <p:cNvPr id="18" name="Text 16"/>
          <p:cNvSpPr txBox="1"/>
          <p:nvPr/>
        </p:nvSpPr>
        <p:spPr>
          <a:xfrm>
            <a:off x="4892040" y="1874520"/>
            <a:ext cx="3611880" cy="2697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v4 step: AdamW 0.002 (auto); my photos: SGD, momentum 0.937</a:t>
            </a:r>
            <a:endParaRPr lang="en-US" sz="1200" dirty="0"/>
          </a:p>
          <a:p>
            <a:pPr marL="342900" indent="-342900">
              <a:spcAft>
                <a:spcPts val="600"/>
              </a:spcAft>
              <a:buSzPct val="100000"/>
              <a:buChar char="•"/>
            </a:pPr>
            <a:r>
              <a:rPr lang="en-US" sz="1200" dirty="0">
                <a:solidFill>
                  <a:schemeClr val="tx1"/>
                </a:solidFill>
              </a:rPr>
              <a:t>lr 0.005 frozen stage, 0.001 unfrozen; decays over epochs</a:t>
            </a:r>
            <a:endParaRPr lang="en-US" sz="1200" dirty="0"/>
          </a:p>
          <a:p>
            <a:pPr marL="342900" indent="-342900">
              <a:spcAft>
                <a:spcPts val="600"/>
              </a:spcAft>
              <a:buSzPct val="100000"/>
              <a:buChar char="•"/>
            </a:pPr>
            <a:r>
              <a:rPr lang="en-US" sz="1200" dirty="0">
                <a:solidFill>
                  <a:schemeClr val="tx1"/>
                </a:solidFill>
              </a:rPr>
              <a:t>Augmentation each batch: mosaic (4 photos tiled), rotation ±180°, flips, scale ±30%, brightness/saturation</a:t>
            </a:r>
            <a:endParaRPr lang="en-US" sz="1200" dirty="0"/>
          </a:p>
          <a:p>
            <a:pPr marL="342900" indent="-342900">
              <a:spcAft>
                <a:spcPts val="600"/>
              </a:spcAft>
              <a:buSzPct val="100000"/>
              <a:buChar char="•"/>
            </a:pPr>
            <a:r>
              <a:rPr lang="en-US" sz="1200" dirty="0">
                <a:solidFill>
                  <a:schemeClr val="tx1"/>
                </a:solidFill>
              </a:rPr>
              <a:t>Keep the epoch with the best validation fitness; stop early after 25 epochs without improvement</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Why a YOLO-style detector</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Alternatives I considered, and why they fit this problem less well</a:t>
            </a:r>
            <a:endParaRPr lang="en-US" sz="1500" dirty="0"/>
          </a:p>
        </p:txBody>
      </p:sp>
      <p:sp>
        <p:nvSpPr>
          <p:cNvPr id="4" name="Text 2"/>
          <p:cNvSpPr txBox="1"/>
          <p:nvPr/>
        </p:nvSpPr>
        <p:spPr>
          <a:xfrm>
            <a:off x="457200" y="1325880"/>
            <a:ext cx="2651760" cy="274320"/>
          </a:xfrm>
          <a:prstGeom prst="rect">
            <a:avLst/>
          </a:prstGeom>
          <a:noFill/>
          <a:ln/>
        </p:spPr>
        <p:txBody>
          <a:bodyPr wrap="square" lIns="0" tIns="0" rIns="0" bIns="0" rtlCol="0" anchor="t"/>
          <a:lstStyle/>
          <a:p>
            <a:pPr indent="0" marL="0">
              <a:buNone/>
            </a:pPr>
            <a:r>
              <a:rPr lang="en-US" sz="1200" b="1" dirty="0">
                <a:solidFill>
                  <a:schemeClr val="accent6"/>
                </a:solidFill>
              </a:rPr>
              <a:t>Approach</a:t>
            </a:r>
            <a:endParaRPr lang="en-US" sz="1200" dirty="0"/>
          </a:p>
        </p:txBody>
      </p:sp>
      <p:sp>
        <p:nvSpPr>
          <p:cNvPr id="5" name="Text 3"/>
          <p:cNvSpPr txBox="1"/>
          <p:nvPr/>
        </p:nvSpPr>
        <p:spPr>
          <a:xfrm>
            <a:off x="3200400" y="1325880"/>
            <a:ext cx="2103120" cy="274320"/>
          </a:xfrm>
          <a:prstGeom prst="rect">
            <a:avLst/>
          </a:prstGeom>
          <a:noFill/>
          <a:ln/>
        </p:spPr>
        <p:txBody>
          <a:bodyPr wrap="square" lIns="0" tIns="0" rIns="0" bIns="0" rtlCol="0" anchor="t"/>
          <a:lstStyle/>
          <a:p>
            <a:pPr indent="0" marL="0">
              <a:buNone/>
            </a:pPr>
            <a:r>
              <a:rPr lang="en-US" sz="1200" b="1" dirty="0">
                <a:solidFill>
                  <a:schemeClr val="accent6"/>
                </a:solidFill>
              </a:rPr>
              <a:t>Strength</a:t>
            </a:r>
            <a:endParaRPr lang="en-US" sz="1200" dirty="0"/>
          </a:p>
        </p:txBody>
      </p:sp>
      <p:sp>
        <p:nvSpPr>
          <p:cNvPr id="6" name="Text 4"/>
          <p:cNvSpPr txBox="1"/>
          <p:nvPr/>
        </p:nvSpPr>
        <p:spPr>
          <a:xfrm>
            <a:off x="5394960" y="1325880"/>
            <a:ext cx="3291840" cy="274320"/>
          </a:xfrm>
          <a:prstGeom prst="rect">
            <a:avLst/>
          </a:prstGeom>
          <a:noFill/>
          <a:ln/>
        </p:spPr>
        <p:txBody>
          <a:bodyPr wrap="square" lIns="0" tIns="0" rIns="0" bIns="0" rtlCol="0" anchor="t"/>
          <a:lstStyle/>
          <a:p>
            <a:pPr indent="0" marL="0">
              <a:buNone/>
            </a:pPr>
            <a:r>
              <a:rPr lang="en-US" sz="1200" b="1" dirty="0">
                <a:solidFill>
                  <a:schemeClr val="accent6"/>
                </a:solidFill>
              </a:rPr>
              <a:t>Why not here</a:t>
            </a:r>
            <a:endParaRPr lang="en-US" sz="1200" dirty="0"/>
          </a:p>
        </p:txBody>
      </p:sp>
      <p:sp>
        <p:nvSpPr>
          <p:cNvPr id="7" name="Shape 5"/>
          <p:cNvSpPr/>
          <p:nvPr/>
        </p:nvSpPr>
        <p:spPr>
          <a:xfrm>
            <a:off x="457200" y="1645920"/>
            <a:ext cx="8229600" cy="420624"/>
          </a:xfrm>
          <a:prstGeom prst="roundRect">
            <a:avLst>
              <a:gd name="adj" fmla="val 26087"/>
            </a:avLst>
          </a:prstGeom>
          <a:solidFill>
            <a:schemeClr val="bg1"/>
          </a:solidFill>
          <a:ln/>
        </p:spPr>
        <p:txBody>
          <a:bodyPr/>
          <a:p/>
        </p:txBody>
      </p:sp>
      <p:sp>
        <p:nvSpPr>
          <p:cNvPr id="8" name="Shape 6"/>
          <p:cNvSpPr/>
          <p:nvPr/>
        </p:nvSpPr>
        <p:spPr>
          <a:xfrm>
            <a:off x="566928" y="1783080"/>
            <a:ext cx="146304" cy="146304"/>
          </a:xfrm>
          <a:prstGeom prst="ellipse">
            <a:avLst/>
          </a:prstGeom>
          <a:solidFill>
            <a:schemeClr val="accent3"/>
          </a:solidFill>
          <a:ln/>
        </p:spPr>
        <p:txBody>
          <a:bodyPr/>
          <a:p/>
        </p:txBody>
      </p:sp>
      <p:sp>
        <p:nvSpPr>
          <p:cNvPr id="9" name="Text 7"/>
          <p:cNvSpPr txBox="1"/>
          <p:nvPr/>
        </p:nvSpPr>
        <p:spPr>
          <a:xfrm>
            <a:off x="822960" y="1645920"/>
            <a:ext cx="2331720" cy="420624"/>
          </a:xfrm>
          <a:prstGeom prst="rect">
            <a:avLst/>
          </a:prstGeom>
          <a:noFill/>
          <a:ln/>
        </p:spPr>
        <p:txBody>
          <a:bodyPr wrap="square" lIns="0" tIns="0" rIns="0" bIns="0" rtlCol="0" anchor="ctr"/>
          <a:lstStyle/>
          <a:p>
            <a:pPr indent="0" marL="0">
              <a:buNone/>
            </a:pPr>
            <a:r>
              <a:rPr lang="en-US" sz="1300" b="1" dirty="0">
                <a:solidFill>
                  <a:schemeClr val="tx2"/>
                </a:solidFill>
              </a:rPr>
              <a:t>Classical rules (L2)</a:t>
            </a:r>
            <a:endParaRPr lang="en-US" sz="1300" dirty="0"/>
          </a:p>
        </p:txBody>
      </p:sp>
      <p:sp>
        <p:nvSpPr>
          <p:cNvPr id="10" name="Text 8"/>
          <p:cNvSpPr txBox="1"/>
          <p:nvPr/>
        </p:nvSpPr>
        <p:spPr>
          <a:xfrm>
            <a:off x="3200400" y="1645920"/>
            <a:ext cx="2103120" cy="420624"/>
          </a:xfrm>
          <a:prstGeom prst="rect">
            <a:avLst/>
          </a:prstGeom>
          <a:noFill/>
          <a:ln/>
        </p:spPr>
        <p:txBody>
          <a:bodyPr wrap="square" lIns="0" tIns="0" rIns="0" bIns="0" rtlCol="0" anchor="ctr"/>
          <a:lstStyle/>
          <a:p>
            <a:pPr indent="0" marL="0">
              <a:buNone/>
            </a:pPr>
            <a:r>
              <a:rPr lang="en-US" sz="1200" dirty="0">
                <a:solidFill>
                  <a:schemeClr val="tx1"/>
                </a:solidFill>
              </a:rPr>
              <a:t>No training, fast</a:t>
            </a:r>
            <a:endParaRPr lang="en-US" sz="1200" dirty="0"/>
          </a:p>
        </p:txBody>
      </p:sp>
      <p:sp>
        <p:nvSpPr>
          <p:cNvPr id="11" name="Text 9"/>
          <p:cNvSpPr txBox="1"/>
          <p:nvPr/>
        </p:nvSpPr>
        <p:spPr>
          <a:xfrm>
            <a:off x="5394960" y="1645920"/>
            <a:ext cx="3246120" cy="420624"/>
          </a:xfrm>
          <a:prstGeom prst="rect">
            <a:avLst/>
          </a:prstGeom>
          <a:noFill/>
          <a:ln/>
        </p:spPr>
        <p:txBody>
          <a:bodyPr wrap="square" lIns="0" tIns="0" rIns="0" bIns="0" rtlCol="0" anchor="ctr"/>
          <a:lstStyle/>
          <a:p>
            <a:pPr indent="0" marL="0">
              <a:buNone/>
            </a:pPr>
            <a:r>
              <a:rPr lang="en-US" sz="1200" dirty="0">
                <a:solidFill>
                  <a:schemeClr val="tx1"/>
                </a:solidFill>
              </a:rPr>
              <a:t>Breaks on shadows and touching pills (MAE 16.4)</a:t>
            </a:r>
            <a:endParaRPr lang="en-US" sz="1200" dirty="0"/>
          </a:p>
        </p:txBody>
      </p:sp>
      <p:sp>
        <p:nvSpPr>
          <p:cNvPr id="12" name="Shape 10"/>
          <p:cNvSpPr/>
          <p:nvPr/>
        </p:nvSpPr>
        <p:spPr>
          <a:xfrm>
            <a:off x="457200" y="2130552"/>
            <a:ext cx="8229600" cy="420624"/>
          </a:xfrm>
          <a:prstGeom prst="roundRect">
            <a:avLst>
              <a:gd name="adj" fmla="val 26087"/>
            </a:avLst>
          </a:prstGeom>
          <a:solidFill>
            <a:schemeClr val="bg1"/>
          </a:solidFill>
          <a:ln/>
        </p:spPr>
        <p:txBody>
          <a:bodyPr/>
          <a:p/>
        </p:txBody>
      </p:sp>
      <p:sp>
        <p:nvSpPr>
          <p:cNvPr id="13" name="Shape 11"/>
          <p:cNvSpPr/>
          <p:nvPr/>
        </p:nvSpPr>
        <p:spPr>
          <a:xfrm>
            <a:off x="566928" y="2267712"/>
            <a:ext cx="146304" cy="146304"/>
          </a:xfrm>
          <a:prstGeom prst="ellipse">
            <a:avLst/>
          </a:prstGeom>
          <a:solidFill>
            <a:schemeClr val="accent6"/>
          </a:solidFill>
          <a:ln/>
        </p:spPr>
        <p:txBody>
          <a:bodyPr/>
          <a:p/>
        </p:txBody>
      </p:sp>
      <p:sp>
        <p:nvSpPr>
          <p:cNvPr id="14" name="Text 12"/>
          <p:cNvSpPr txBox="1"/>
          <p:nvPr/>
        </p:nvSpPr>
        <p:spPr>
          <a:xfrm>
            <a:off x="822960" y="2130552"/>
            <a:ext cx="2331720" cy="420624"/>
          </a:xfrm>
          <a:prstGeom prst="rect">
            <a:avLst/>
          </a:prstGeom>
          <a:noFill/>
          <a:ln/>
        </p:spPr>
        <p:txBody>
          <a:bodyPr wrap="square" lIns="0" tIns="0" rIns="0" bIns="0" rtlCol="0" anchor="ctr"/>
          <a:lstStyle/>
          <a:p>
            <a:pPr indent="0" marL="0">
              <a:buNone/>
            </a:pPr>
            <a:r>
              <a:rPr lang="en-US" sz="1300" b="1" dirty="0">
                <a:solidFill>
                  <a:schemeClr val="tx2"/>
                </a:solidFill>
              </a:rPr>
              <a:t>Density-map regression</a:t>
            </a:r>
            <a:endParaRPr lang="en-US" sz="1300" dirty="0"/>
          </a:p>
        </p:txBody>
      </p:sp>
      <p:sp>
        <p:nvSpPr>
          <p:cNvPr id="15" name="Text 13"/>
          <p:cNvSpPr txBox="1"/>
          <p:nvPr/>
        </p:nvSpPr>
        <p:spPr>
          <a:xfrm>
            <a:off x="3200400" y="2130552"/>
            <a:ext cx="2103120" cy="420624"/>
          </a:xfrm>
          <a:prstGeom prst="rect">
            <a:avLst/>
          </a:prstGeom>
          <a:noFill/>
          <a:ln/>
        </p:spPr>
        <p:txBody>
          <a:bodyPr wrap="square" lIns="0" tIns="0" rIns="0" bIns="0" rtlCol="0" anchor="ctr"/>
          <a:lstStyle/>
          <a:p>
            <a:pPr indent="0" marL="0">
              <a:buNone/>
            </a:pPr>
            <a:r>
              <a:rPr lang="en-US" sz="1200" dirty="0">
                <a:solidFill>
                  <a:schemeClr val="tx1"/>
                </a:solidFill>
              </a:rPr>
              <a:t>Good for huge crowds</a:t>
            </a:r>
            <a:endParaRPr lang="en-US" sz="1200" dirty="0"/>
          </a:p>
        </p:txBody>
      </p:sp>
      <p:sp>
        <p:nvSpPr>
          <p:cNvPr id="16" name="Text 14"/>
          <p:cNvSpPr txBox="1"/>
          <p:nvPr/>
        </p:nvSpPr>
        <p:spPr>
          <a:xfrm>
            <a:off x="5394960" y="2130552"/>
            <a:ext cx="3246120" cy="420624"/>
          </a:xfrm>
          <a:prstGeom prst="rect">
            <a:avLst/>
          </a:prstGeom>
          <a:noFill/>
          <a:ln/>
        </p:spPr>
        <p:txBody>
          <a:bodyPr wrap="square" lIns="0" tIns="0" rIns="0" bIns="0" rtlCol="0" anchor="ctr"/>
          <a:lstStyle/>
          <a:p>
            <a:pPr indent="0" marL="0">
              <a:buNone/>
            </a:pPr>
            <a:r>
              <a:rPr lang="en-US" sz="1200" dirty="0">
                <a:solidFill>
                  <a:schemeClr val="tx1"/>
                </a:solidFill>
              </a:rPr>
              <a:t>Gives a number, not boxes: pharmacist can't verify</a:t>
            </a:r>
            <a:endParaRPr lang="en-US" sz="1200" dirty="0"/>
          </a:p>
        </p:txBody>
      </p:sp>
      <p:sp>
        <p:nvSpPr>
          <p:cNvPr id="17" name="Shape 15"/>
          <p:cNvSpPr/>
          <p:nvPr/>
        </p:nvSpPr>
        <p:spPr>
          <a:xfrm>
            <a:off x="457200" y="2615184"/>
            <a:ext cx="8229600" cy="420624"/>
          </a:xfrm>
          <a:prstGeom prst="roundRect">
            <a:avLst>
              <a:gd name="adj" fmla="val 26087"/>
            </a:avLst>
          </a:prstGeom>
          <a:solidFill>
            <a:schemeClr val="bg1"/>
          </a:solidFill>
          <a:ln/>
        </p:spPr>
        <p:txBody>
          <a:bodyPr/>
          <a:p/>
        </p:txBody>
      </p:sp>
      <p:sp>
        <p:nvSpPr>
          <p:cNvPr id="18" name="Shape 16"/>
          <p:cNvSpPr/>
          <p:nvPr/>
        </p:nvSpPr>
        <p:spPr>
          <a:xfrm>
            <a:off x="566928" y="2752344"/>
            <a:ext cx="146304" cy="146304"/>
          </a:xfrm>
          <a:prstGeom prst="ellipse">
            <a:avLst/>
          </a:prstGeom>
          <a:solidFill>
            <a:schemeClr val="accent6"/>
          </a:solidFill>
          <a:ln/>
        </p:spPr>
        <p:txBody>
          <a:bodyPr/>
          <a:p/>
        </p:txBody>
      </p:sp>
      <p:sp>
        <p:nvSpPr>
          <p:cNvPr id="19" name="Text 17"/>
          <p:cNvSpPr txBox="1"/>
          <p:nvPr/>
        </p:nvSpPr>
        <p:spPr>
          <a:xfrm>
            <a:off x="822960" y="2615184"/>
            <a:ext cx="2331720" cy="420624"/>
          </a:xfrm>
          <a:prstGeom prst="rect">
            <a:avLst/>
          </a:prstGeom>
          <a:noFill/>
          <a:ln/>
        </p:spPr>
        <p:txBody>
          <a:bodyPr wrap="square" lIns="0" tIns="0" rIns="0" bIns="0" rtlCol="0" anchor="ctr"/>
          <a:lstStyle/>
          <a:p>
            <a:pPr indent="0" marL="0">
              <a:buNone/>
            </a:pPr>
            <a:r>
              <a:rPr lang="en-US" sz="1300" b="1" dirty="0">
                <a:solidFill>
                  <a:schemeClr val="tx2"/>
                </a:solidFill>
              </a:rPr>
              <a:t>Two-stage (Faster R-CNN)</a:t>
            </a:r>
            <a:endParaRPr lang="en-US" sz="1300" dirty="0"/>
          </a:p>
        </p:txBody>
      </p:sp>
      <p:sp>
        <p:nvSpPr>
          <p:cNvPr id="20" name="Text 18"/>
          <p:cNvSpPr txBox="1"/>
          <p:nvPr/>
        </p:nvSpPr>
        <p:spPr>
          <a:xfrm>
            <a:off x="3200400" y="2615184"/>
            <a:ext cx="2103120" cy="420624"/>
          </a:xfrm>
          <a:prstGeom prst="rect">
            <a:avLst/>
          </a:prstGeom>
          <a:noFill/>
          <a:ln/>
        </p:spPr>
        <p:txBody>
          <a:bodyPr wrap="square" lIns="0" tIns="0" rIns="0" bIns="0" rtlCol="0" anchor="ctr"/>
          <a:lstStyle/>
          <a:p>
            <a:pPr indent="0" marL="0">
              <a:buNone/>
            </a:pPr>
            <a:r>
              <a:rPr lang="en-US" sz="1200" dirty="0">
                <a:solidFill>
                  <a:schemeClr val="tx1"/>
                </a:solidFill>
              </a:rPr>
              <a:t>Strong accuracy</a:t>
            </a:r>
            <a:endParaRPr lang="en-US" sz="1200" dirty="0"/>
          </a:p>
        </p:txBody>
      </p:sp>
      <p:sp>
        <p:nvSpPr>
          <p:cNvPr id="21" name="Text 19"/>
          <p:cNvSpPr txBox="1"/>
          <p:nvPr/>
        </p:nvSpPr>
        <p:spPr>
          <a:xfrm>
            <a:off x="5394960" y="2615184"/>
            <a:ext cx="3246120" cy="420624"/>
          </a:xfrm>
          <a:prstGeom prst="rect">
            <a:avLst/>
          </a:prstGeom>
          <a:noFill/>
          <a:ln/>
        </p:spPr>
        <p:txBody>
          <a:bodyPr wrap="square" lIns="0" tIns="0" rIns="0" bIns="0" rtlCol="0" anchor="ctr"/>
          <a:lstStyle/>
          <a:p>
            <a:pPr indent="0" marL="0">
              <a:buNone/>
            </a:pPr>
            <a:r>
              <a:rPr lang="en-US" sz="1200" dirty="0">
                <a:solidFill>
                  <a:schemeClr val="tx1"/>
                </a:solidFill>
              </a:rPr>
              <a:t>Slower and heavier; harder to serve on a laptop</a:t>
            </a:r>
            <a:endParaRPr lang="en-US" sz="1200" dirty="0"/>
          </a:p>
        </p:txBody>
      </p:sp>
      <p:sp>
        <p:nvSpPr>
          <p:cNvPr id="22" name="Shape 20"/>
          <p:cNvSpPr/>
          <p:nvPr/>
        </p:nvSpPr>
        <p:spPr>
          <a:xfrm>
            <a:off x="457200" y="3099816"/>
            <a:ext cx="8229600" cy="420624"/>
          </a:xfrm>
          <a:prstGeom prst="roundRect">
            <a:avLst>
              <a:gd name="adj" fmla="val 26087"/>
            </a:avLst>
          </a:prstGeom>
          <a:solidFill>
            <a:schemeClr val="bg1"/>
          </a:solidFill>
          <a:ln/>
        </p:spPr>
        <p:txBody>
          <a:bodyPr/>
          <a:p/>
        </p:txBody>
      </p:sp>
      <p:sp>
        <p:nvSpPr>
          <p:cNvPr id="23" name="Shape 21"/>
          <p:cNvSpPr/>
          <p:nvPr/>
        </p:nvSpPr>
        <p:spPr>
          <a:xfrm>
            <a:off x="566928" y="3236976"/>
            <a:ext cx="146304" cy="146304"/>
          </a:xfrm>
          <a:prstGeom prst="ellipse">
            <a:avLst/>
          </a:prstGeom>
          <a:solidFill>
            <a:schemeClr val="accent6"/>
          </a:solidFill>
          <a:ln/>
        </p:spPr>
        <p:txBody>
          <a:bodyPr/>
          <a:p/>
        </p:txBody>
      </p:sp>
      <p:sp>
        <p:nvSpPr>
          <p:cNvPr id="24" name="Text 22"/>
          <p:cNvSpPr txBox="1"/>
          <p:nvPr/>
        </p:nvSpPr>
        <p:spPr>
          <a:xfrm>
            <a:off x="822960" y="3099816"/>
            <a:ext cx="2331720" cy="420624"/>
          </a:xfrm>
          <a:prstGeom prst="rect">
            <a:avLst/>
          </a:prstGeom>
          <a:noFill/>
          <a:ln/>
        </p:spPr>
        <p:txBody>
          <a:bodyPr wrap="square" lIns="0" tIns="0" rIns="0" bIns="0" rtlCol="0" anchor="ctr"/>
          <a:lstStyle/>
          <a:p>
            <a:pPr indent="0" marL="0">
              <a:buNone/>
            </a:pPr>
            <a:r>
              <a:rPr lang="en-US" sz="1300" b="1" dirty="0">
                <a:solidFill>
                  <a:schemeClr val="tx2"/>
                </a:solidFill>
              </a:rPr>
              <a:t>Transformer (RT-DETR)</a:t>
            </a:r>
            <a:endParaRPr lang="en-US" sz="1300" dirty="0"/>
          </a:p>
        </p:txBody>
      </p:sp>
      <p:sp>
        <p:nvSpPr>
          <p:cNvPr id="25" name="Text 23"/>
          <p:cNvSpPr txBox="1"/>
          <p:nvPr/>
        </p:nvSpPr>
        <p:spPr>
          <a:xfrm>
            <a:off x="3200400" y="3099816"/>
            <a:ext cx="2103120" cy="420624"/>
          </a:xfrm>
          <a:prstGeom prst="rect">
            <a:avLst/>
          </a:prstGeom>
          <a:noFill/>
          <a:ln/>
        </p:spPr>
        <p:txBody>
          <a:bodyPr wrap="square" lIns="0" tIns="0" rIns="0" bIns="0" rtlCol="0" anchor="ctr"/>
          <a:lstStyle/>
          <a:p>
            <a:pPr indent="0" marL="0">
              <a:buNone/>
            </a:pPr>
            <a:r>
              <a:rPr lang="en-US" sz="1200" dirty="0">
                <a:solidFill>
                  <a:schemeClr val="tx1"/>
                </a:solidFill>
              </a:rPr>
              <a:t>No NMS needed</a:t>
            </a:r>
            <a:endParaRPr lang="en-US" sz="1200" dirty="0"/>
          </a:p>
        </p:txBody>
      </p:sp>
      <p:sp>
        <p:nvSpPr>
          <p:cNvPr id="26" name="Text 24"/>
          <p:cNvSpPr txBox="1"/>
          <p:nvPr/>
        </p:nvSpPr>
        <p:spPr>
          <a:xfrm>
            <a:off x="5394960" y="3099816"/>
            <a:ext cx="3246120" cy="420624"/>
          </a:xfrm>
          <a:prstGeom prst="rect">
            <a:avLst/>
          </a:prstGeom>
          <a:noFill/>
          <a:ln/>
        </p:spPr>
        <p:txBody>
          <a:bodyPr wrap="square" lIns="0" tIns="0" rIns="0" bIns="0" rtlCol="0" anchor="ctr"/>
          <a:lstStyle/>
          <a:p>
            <a:pPr indent="0" marL="0">
              <a:buNone/>
            </a:pPr>
            <a:r>
              <a:rPr lang="en-US" sz="1200" dirty="0">
                <a:solidFill>
                  <a:schemeClr val="tx1"/>
                </a:solidFill>
              </a:rPr>
              <a:t>Fixed 300 queries caps the count; needs more data</a:t>
            </a:r>
            <a:endParaRPr lang="en-US" sz="1200" dirty="0"/>
          </a:p>
        </p:txBody>
      </p:sp>
      <p:sp>
        <p:nvSpPr>
          <p:cNvPr id="27" name="Shape 25"/>
          <p:cNvSpPr/>
          <p:nvPr/>
        </p:nvSpPr>
        <p:spPr>
          <a:xfrm>
            <a:off x="457200" y="3584448"/>
            <a:ext cx="8229600" cy="420624"/>
          </a:xfrm>
          <a:prstGeom prst="roundRect">
            <a:avLst>
              <a:gd name="adj" fmla="val 26087"/>
            </a:avLst>
          </a:prstGeom>
          <a:solidFill>
            <a:schemeClr val="bg1"/>
          </a:solidFill>
          <a:ln/>
        </p:spPr>
        <p:txBody>
          <a:bodyPr/>
          <a:p/>
        </p:txBody>
      </p:sp>
      <p:sp>
        <p:nvSpPr>
          <p:cNvPr id="28" name="Shape 26"/>
          <p:cNvSpPr/>
          <p:nvPr/>
        </p:nvSpPr>
        <p:spPr>
          <a:xfrm>
            <a:off x="566928" y="3721608"/>
            <a:ext cx="146304" cy="146304"/>
          </a:xfrm>
          <a:prstGeom prst="ellipse">
            <a:avLst/>
          </a:prstGeom>
          <a:solidFill>
            <a:schemeClr val="accent6"/>
          </a:solidFill>
          <a:ln/>
        </p:spPr>
        <p:txBody>
          <a:bodyPr/>
          <a:p/>
        </p:txBody>
      </p:sp>
      <p:sp>
        <p:nvSpPr>
          <p:cNvPr id="29" name="Text 27"/>
          <p:cNvSpPr txBox="1"/>
          <p:nvPr/>
        </p:nvSpPr>
        <p:spPr>
          <a:xfrm>
            <a:off x="822960" y="3584448"/>
            <a:ext cx="2331720" cy="420624"/>
          </a:xfrm>
          <a:prstGeom prst="rect">
            <a:avLst/>
          </a:prstGeom>
          <a:noFill/>
          <a:ln/>
        </p:spPr>
        <p:txBody>
          <a:bodyPr wrap="square" lIns="0" tIns="0" rIns="0" bIns="0" rtlCol="0" anchor="ctr"/>
          <a:lstStyle/>
          <a:p>
            <a:pPr indent="0" marL="0">
              <a:buNone/>
            </a:pPr>
            <a:r>
              <a:rPr lang="en-US" sz="1300" b="1" dirty="0">
                <a:solidFill>
                  <a:schemeClr val="tx2"/>
                </a:solidFill>
              </a:rPr>
              <a:t>Segmentation (YOLO-seg)</a:t>
            </a:r>
            <a:endParaRPr lang="en-US" sz="1300" dirty="0"/>
          </a:p>
        </p:txBody>
      </p:sp>
      <p:sp>
        <p:nvSpPr>
          <p:cNvPr id="30" name="Text 28"/>
          <p:cNvSpPr txBox="1"/>
          <p:nvPr/>
        </p:nvSpPr>
        <p:spPr>
          <a:xfrm>
            <a:off x="3200400" y="3584448"/>
            <a:ext cx="2103120" cy="420624"/>
          </a:xfrm>
          <a:prstGeom prst="rect">
            <a:avLst/>
          </a:prstGeom>
          <a:noFill/>
          <a:ln/>
        </p:spPr>
        <p:txBody>
          <a:bodyPr wrap="square" lIns="0" tIns="0" rIns="0" bIns="0" rtlCol="0" anchor="ctr"/>
          <a:lstStyle/>
          <a:p>
            <a:pPr indent="0" marL="0">
              <a:buNone/>
            </a:pPr>
            <a:r>
              <a:rPr lang="en-US" sz="1200" dirty="0">
                <a:solidFill>
                  <a:schemeClr val="tx1"/>
                </a:solidFill>
              </a:rPr>
              <a:t>Pill outlines</a:t>
            </a:r>
            <a:endParaRPr lang="en-US" sz="1200" dirty="0"/>
          </a:p>
        </p:txBody>
      </p:sp>
      <p:sp>
        <p:nvSpPr>
          <p:cNvPr id="31" name="Text 29"/>
          <p:cNvSpPr txBox="1"/>
          <p:nvPr/>
        </p:nvSpPr>
        <p:spPr>
          <a:xfrm>
            <a:off x="5394960" y="3584448"/>
            <a:ext cx="3246120" cy="420624"/>
          </a:xfrm>
          <a:prstGeom prst="rect">
            <a:avLst/>
          </a:prstGeom>
          <a:noFill/>
          <a:ln/>
        </p:spPr>
        <p:txBody>
          <a:bodyPr wrap="square" lIns="0" tIns="0" rIns="0" bIns="0" rtlCol="0" anchor="ctr"/>
          <a:lstStyle/>
          <a:p>
            <a:pPr indent="0" marL="0">
              <a:buNone/>
            </a:pPr>
            <a:r>
              <a:rPr lang="en-US" sz="1200" dirty="0">
                <a:solidFill>
                  <a:schemeClr val="tx1"/>
                </a:solidFill>
              </a:rPr>
              <a:t>Needs polygon labels: much slower labeling</a:t>
            </a:r>
            <a:endParaRPr lang="en-US" sz="1200" dirty="0"/>
          </a:p>
        </p:txBody>
      </p:sp>
      <p:sp>
        <p:nvSpPr>
          <p:cNvPr id="32" name="Shape 30"/>
          <p:cNvSpPr/>
          <p:nvPr/>
        </p:nvSpPr>
        <p:spPr>
          <a:xfrm>
            <a:off x="457200" y="4069080"/>
            <a:ext cx="8229600" cy="420624"/>
          </a:xfrm>
          <a:prstGeom prst="roundRect">
            <a:avLst>
              <a:gd name="adj" fmla="val 26087"/>
            </a:avLst>
          </a:prstGeom>
          <a:solidFill>
            <a:schemeClr val="bg2"/>
          </a:solidFill>
          <a:ln/>
        </p:spPr>
        <p:txBody>
          <a:bodyPr/>
          <a:p/>
        </p:txBody>
      </p:sp>
      <p:sp>
        <p:nvSpPr>
          <p:cNvPr id="33" name="Shape 31"/>
          <p:cNvSpPr/>
          <p:nvPr/>
        </p:nvSpPr>
        <p:spPr>
          <a:xfrm>
            <a:off x="566928" y="4206240"/>
            <a:ext cx="146304" cy="146304"/>
          </a:xfrm>
          <a:prstGeom prst="ellipse">
            <a:avLst/>
          </a:prstGeom>
          <a:solidFill>
            <a:schemeClr val="accent1"/>
          </a:solidFill>
          <a:ln/>
        </p:spPr>
        <p:txBody>
          <a:bodyPr/>
          <a:p/>
        </p:txBody>
      </p:sp>
      <p:sp>
        <p:nvSpPr>
          <p:cNvPr id="34" name="Text 32"/>
          <p:cNvSpPr txBox="1"/>
          <p:nvPr/>
        </p:nvSpPr>
        <p:spPr>
          <a:xfrm>
            <a:off x="822960" y="4069080"/>
            <a:ext cx="2331720" cy="420624"/>
          </a:xfrm>
          <a:prstGeom prst="rect">
            <a:avLst/>
          </a:prstGeom>
          <a:noFill/>
          <a:ln/>
        </p:spPr>
        <p:txBody>
          <a:bodyPr wrap="square" lIns="0" tIns="0" rIns="0" bIns="0" rtlCol="0" anchor="ctr"/>
          <a:lstStyle/>
          <a:p>
            <a:pPr indent="0" marL="0">
              <a:buNone/>
            </a:pPr>
            <a:r>
              <a:rPr lang="en-US" sz="1300" b="1" dirty="0">
                <a:solidFill>
                  <a:schemeClr val="tx2"/>
                </a:solidFill>
              </a:rPr>
              <a:t>YOLO11 detection ✓</a:t>
            </a:r>
            <a:endParaRPr lang="en-US" sz="1300" dirty="0"/>
          </a:p>
        </p:txBody>
      </p:sp>
      <p:sp>
        <p:nvSpPr>
          <p:cNvPr id="35" name="Text 33"/>
          <p:cNvSpPr txBox="1"/>
          <p:nvPr/>
        </p:nvSpPr>
        <p:spPr>
          <a:xfrm>
            <a:off x="3200400" y="4069080"/>
            <a:ext cx="2103120" cy="420624"/>
          </a:xfrm>
          <a:prstGeom prst="rect">
            <a:avLst/>
          </a:prstGeom>
          <a:noFill/>
          <a:ln/>
        </p:spPr>
        <p:txBody>
          <a:bodyPr wrap="square" lIns="0" tIns="0" rIns="0" bIns="0" rtlCol="0" anchor="ctr"/>
          <a:lstStyle/>
          <a:p>
            <a:pPr indent="0" marL="0">
              <a:buNone/>
            </a:pPr>
            <a:r>
              <a:rPr lang="en-US" sz="1200" dirty="0">
                <a:solidFill>
                  <a:schemeClr val="tx1"/>
                </a:solidFill>
              </a:rPr>
              <a:t>Fast, boxes, small data OK</a:t>
            </a:r>
            <a:endParaRPr lang="en-US" sz="1200" dirty="0"/>
          </a:p>
        </p:txBody>
      </p:sp>
      <p:sp>
        <p:nvSpPr>
          <p:cNvPr id="36" name="Text 34"/>
          <p:cNvSpPr txBox="1"/>
          <p:nvPr/>
        </p:nvSpPr>
        <p:spPr>
          <a:xfrm>
            <a:off x="5394960" y="4069080"/>
            <a:ext cx="3246120" cy="420624"/>
          </a:xfrm>
          <a:prstGeom prst="rect">
            <a:avLst/>
          </a:prstGeom>
          <a:noFill/>
          <a:ln/>
        </p:spPr>
        <p:txBody>
          <a:bodyPr wrap="square" lIns="0" tIns="0" rIns="0" bIns="0" rtlCol="0" anchor="ctr"/>
          <a:lstStyle/>
          <a:p>
            <a:pPr indent="0" marL="0">
              <a:buNone/>
            </a:pPr>
            <a:r>
              <a:rPr lang="en-US" sz="1200" dirty="0">
                <a:solidFill>
                  <a:schemeClr val="tx1"/>
                </a:solidFill>
              </a:rPr>
              <a:t>Needs NMS tuning for touching pills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Why the small (s) size, after trying m</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The YOLO11 family scales width and depth; with the right data, s beat every m</a:t>
            </a:r>
            <a:endParaRPr lang="en-US" sz="1500" dirty="0"/>
          </a:p>
        </p:txBody>
      </p:sp>
      <p:graphicFrame>
        <p:nvGraphicFramePr>
          <p:cNvPr id="4" name="Chart 0" descr=""/>
          <p:cNvGraphicFramePr/>
          <p:nvPr/>
        </p:nvGraphicFramePr>
        <p:xfrm>
          <a:off x="457200" y="1325880"/>
          <a:ext cx="4206240" cy="3246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937760" y="1371600"/>
            <a:ext cx="3749040" cy="274320"/>
          </a:xfrm>
          <a:prstGeom prst="rect">
            <a:avLst/>
          </a:prstGeom>
          <a:noFill/>
          <a:ln/>
        </p:spPr>
        <p:txBody>
          <a:bodyPr wrap="square" lIns="0" tIns="0" rIns="0" bIns="0" rtlCol="0" anchor="t"/>
          <a:lstStyle/>
          <a:p>
            <a:pPr indent="0" marL="0">
              <a:buNone/>
            </a:pPr>
            <a:r>
              <a:rPr lang="en-US" sz="1400" b="1" dirty="0">
                <a:solidFill>
                  <a:schemeClr val="tx2"/>
                </a:solidFill>
              </a:rPr>
              <a:t>Data size</a:t>
            </a:r>
            <a:endParaRPr lang="en-US" sz="1400" dirty="0"/>
          </a:p>
        </p:txBody>
      </p:sp>
      <p:sp>
        <p:nvSpPr>
          <p:cNvPr id="6" name="Text 3"/>
          <p:cNvSpPr txBox="1"/>
          <p:nvPr/>
        </p:nvSpPr>
        <p:spPr>
          <a:xfrm>
            <a:off x="4937760" y="1645920"/>
            <a:ext cx="3749040" cy="502920"/>
          </a:xfrm>
          <a:prstGeom prst="rect">
            <a:avLst/>
          </a:prstGeom>
          <a:noFill/>
          <a:ln/>
        </p:spPr>
        <p:txBody>
          <a:bodyPr wrap="square" lIns="0" tIns="0" rIns="0" bIns="0" rtlCol="0" anchor="t"/>
          <a:lstStyle/>
          <a:p>
            <a:pPr indent="0" marL="0">
              <a:buNone/>
            </a:pPr>
            <a:r>
              <a:rPr lang="en-US" sz="1200" dirty="0">
                <a:solidFill>
                  <a:schemeClr val="tx1"/>
                </a:solidFill>
              </a:rPr>
              <a:t>m on my photos only: good on my trays, bad on other medicines (17% exact)</a:t>
            </a:r>
            <a:endParaRPr lang="en-US" sz="1200" dirty="0"/>
          </a:p>
        </p:txBody>
      </p:sp>
      <p:sp>
        <p:nvSpPr>
          <p:cNvPr id="7" name="Text 4"/>
          <p:cNvSpPr txBox="1"/>
          <p:nvPr/>
        </p:nvSpPr>
        <p:spPr>
          <a:xfrm>
            <a:off x="4937760" y="2176272"/>
            <a:ext cx="3749040" cy="274320"/>
          </a:xfrm>
          <a:prstGeom prst="rect">
            <a:avLst/>
          </a:prstGeom>
          <a:noFill/>
          <a:ln/>
        </p:spPr>
        <p:txBody>
          <a:bodyPr wrap="square" lIns="0" tIns="0" rIns="0" bIns="0" rtlCol="0" anchor="t"/>
          <a:lstStyle/>
          <a:p>
            <a:pPr indent="0" marL="0">
              <a:buNone/>
            </a:pPr>
            <a:r>
              <a:rPr lang="en-US" sz="1400" b="1" dirty="0">
                <a:solidFill>
                  <a:schemeClr val="tx2"/>
                </a:solidFill>
              </a:rPr>
              <a:t>Speed</a:t>
            </a:r>
            <a:endParaRPr lang="en-US" sz="1400" dirty="0"/>
          </a:p>
        </p:txBody>
      </p:sp>
      <p:sp>
        <p:nvSpPr>
          <p:cNvPr id="8" name="Text 5"/>
          <p:cNvSpPr txBox="1"/>
          <p:nvPr/>
        </p:nvSpPr>
        <p:spPr>
          <a:xfrm>
            <a:off x="4937760" y="2450592"/>
            <a:ext cx="3749040" cy="502920"/>
          </a:xfrm>
          <a:prstGeom prst="rect">
            <a:avLst/>
          </a:prstGeom>
          <a:noFill/>
          <a:ln/>
        </p:spPr>
        <p:txBody>
          <a:bodyPr wrap="square" lIns="0" tIns="0" rIns="0" bIns="0" rtlCol="0" anchor="t"/>
          <a:lstStyle/>
          <a:p>
            <a:pPr indent="0" marL="0">
              <a:buNone/>
            </a:pPr>
            <a:r>
              <a:rPr lang="en-US" sz="1200" dirty="0">
                <a:solidFill>
                  <a:schemeClr val="tx1"/>
                </a:solidFill>
              </a:rPr>
              <a:t>s: 0.2 s per photo vs 0.4 s for m (21.7 vs 68.5 GFLOPs)</a:t>
            </a:r>
            <a:endParaRPr lang="en-US" sz="1200" dirty="0"/>
          </a:p>
        </p:txBody>
      </p:sp>
      <p:sp>
        <p:nvSpPr>
          <p:cNvPr id="9" name="Text 6"/>
          <p:cNvSpPr txBox="1"/>
          <p:nvPr/>
        </p:nvSpPr>
        <p:spPr>
          <a:xfrm>
            <a:off x="4937760" y="2980944"/>
            <a:ext cx="3749040" cy="274320"/>
          </a:xfrm>
          <a:prstGeom prst="rect">
            <a:avLst/>
          </a:prstGeom>
          <a:noFill/>
          <a:ln/>
        </p:spPr>
        <p:txBody>
          <a:bodyPr wrap="square" lIns="0" tIns="0" rIns="0" bIns="0" rtlCol="0" anchor="t"/>
          <a:lstStyle/>
          <a:p>
            <a:pPr indent="0" marL="0">
              <a:buNone/>
            </a:pPr>
            <a:r>
              <a:rPr lang="en-US" sz="1400" b="1" dirty="0">
                <a:solidFill>
                  <a:schemeClr val="tx2"/>
                </a:solidFill>
              </a:rPr>
              <a:t>Accuracy</a:t>
            </a:r>
            <a:endParaRPr lang="en-US" sz="1400" dirty="0"/>
          </a:p>
        </p:txBody>
      </p:sp>
      <p:sp>
        <p:nvSpPr>
          <p:cNvPr id="10" name="Text 7"/>
          <p:cNvSpPr txBox="1"/>
          <p:nvPr/>
        </p:nvSpPr>
        <p:spPr>
          <a:xfrm>
            <a:off x="4937760" y="3255264"/>
            <a:ext cx="3749040" cy="502920"/>
          </a:xfrm>
          <a:prstGeom prst="rect">
            <a:avLst/>
          </a:prstGeom>
          <a:noFill/>
          <a:ln/>
        </p:spPr>
        <p:txBody>
          <a:bodyPr wrap="square" lIns="0" tIns="0" rIns="0" bIns="0" rtlCol="0" anchor="t"/>
          <a:lstStyle/>
          <a:p>
            <a:pPr indent="0" marL="0">
              <a:buNone/>
            </a:pPr>
            <a:r>
              <a:rPr lang="en-US" sz="1200" dirty="0">
                <a:solidFill>
                  <a:schemeClr val="tx1"/>
                </a:solidFill>
              </a:rPr>
              <a:t>mixed-data s: 93% val vs 87% for m; crowded tray 93% vs 87%</a:t>
            </a:r>
            <a:endParaRPr lang="en-US" sz="1200" dirty="0"/>
          </a:p>
        </p:txBody>
      </p:sp>
      <p:sp>
        <p:nvSpPr>
          <p:cNvPr id="11" name="Text 8"/>
          <p:cNvSpPr txBox="1"/>
          <p:nvPr/>
        </p:nvSpPr>
        <p:spPr>
          <a:xfrm>
            <a:off x="4937760" y="3785616"/>
            <a:ext cx="3749040" cy="274320"/>
          </a:xfrm>
          <a:prstGeom prst="rect">
            <a:avLst/>
          </a:prstGeom>
          <a:noFill/>
          <a:ln/>
        </p:spPr>
        <p:txBody>
          <a:bodyPr wrap="square" lIns="0" tIns="0" rIns="0" bIns="0" rtlCol="0" anchor="t"/>
          <a:lstStyle/>
          <a:p>
            <a:pPr indent="0" marL="0">
              <a:buNone/>
            </a:pPr>
            <a:r>
              <a:rPr lang="en-US" sz="1400" b="1" dirty="0">
                <a:solidFill>
                  <a:schemeClr val="tx2"/>
                </a:solidFill>
              </a:rPr>
              <a:t>Next</a:t>
            </a:r>
            <a:endParaRPr lang="en-US" sz="1400" dirty="0"/>
          </a:p>
        </p:txBody>
      </p:sp>
      <p:sp>
        <p:nvSpPr>
          <p:cNvPr id="12" name="Text 9"/>
          <p:cNvSpPr txBox="1"/>
          <p:nvPr/>
        </p:nvSpPr>
        <p:spPr>
          <a:xfrm>
            <a:off x="4937760" y="4059936"/>
            <a:ext cx="3749040" cy="502920"/>
          </a:xfrm>
          <a:prstGeom prst="rect">
            <a:avLst/>
          </a:prstGeom>
          <a:noFill/>
          <a:ln/>
        </p:spPr>
        <p:txBody>
          <a:bodyPr wrap="square" lIns="0" tIns="0" rIns="0" bIns="0" rtlCol="0" anchor="t"/>
          <a:lstStyle/>
          <a:p>
            <a:pPr indent="0" marL="0">
              <a:buNone/>
            </a:pPr>
            <a:r>
              <a:rPr lang="en-US" sz="1200" dirty="0">
                <a:solidFill>
                  <a:schemeClr val="tx1"/>
                </a:solidFill>
              </a:rPr>
              <a:t>a mixed-data m is the next experiment</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Two models: count, then classify</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The counter finds every pill; a small classifier then names each pill's form</a:t>
            </a:r>
            <a:endParaRPr lang="en-US" sz="1500" dirty="0"/>
          </a:p>
        </p:txBody>
      </p:sp>
      <p:sp>
        <p:nvSpPr>
          <p:cNvPr id="4" name="Shape 2"/>
          <p:cNvSpPr/>
          <p:nvPr/>
        </p:nvSpPr>
        <p:spPr>
          <a:xfrm>
            <a:off x="457200" y="1399032"/>
            <a:ext cx="411480" cy="411480"/>
          </a:xfrm>
          <a:prstGeom prst="ellipse">
            <a:avLst/>
          </a:prstGeom>
          <a:solidFill>
            <a:schemeClr val="accent1"/>
          </a:solidFill>
          <a:ln/>
        </p:spPr>
        <p:txBody>
          <a:bodyPr/>
          <a:p/>
        </p:txBody>
      </p:sp>
      <p:sp>
        <p:nvSpPr>
          <p:cNvPr id="5" name="Text 3"/>
          <p:cNvSpPr txBox="1"/>
          <p:nvPr/>
        </p:nvSpPr>
        <p:spPr>
          <a:xfrm>
            <a:off x="457200" y="1399032"/>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005840" y="1353312"/>
            <a:ext cx="3291840" cy="274320"/>
          </a:xfrm>
          <a:prstGeom prst="rect">
            <a:avLst/>
          </a:prstGeom>
          <a:noFill/>
          <a:ln/>
        </p:spPr>
        <p:txBody>
          <a:bodyPr wrap="square" lIns="0" tIns="0" rIns="0" bIns="0" rtlCol="0" anchor="t"/>
          <a:lstStyle/>
          <a:p>
            <a:pPr indent="0" marL="0">
              <a:buNone/>
            </a:pPr>
            <a:r>
              <a:rPr lang="en-US" sz="1500" b="1" dirty="0">
                <a:solidFill>
                  <a:schemeClr val="tx2"/>
                </a:solidFill>
              </a:rPr>
              <a:t>Counter</a:t>
            </a:r>
            <a:endParaRPr lang="en-US" sz="1500" dirty="0"/>
          </a:p>
        </p:txBody>
      </p:sp>
      <p:sp>
        <p:nvSpPr>
          <p:cNvPr id="7" name="Text 5"/>
          <p:cNvSpPr txBox="1"/>
          <p:nvPr/>
        </p:nvSpPr>
        <p:spPr>
          <a:xfrm>
            <a:off x="1005840" y="1627632"/>
            <a:ext cx="3291840" cy="228600"/>
          </a:xfrm>
          <a:prstGeom prst="rect">
            <a:avLst/>
          </a:prstGeom>
          <a:noFill/>
          <a:ln/>
        </p:spPr>
        <p:txBody>
          <a:bodyPr wrap="square" lIns="0" tIns="0" rIns="0" bIns="0" rtlCol="0" anchor="t"/>
          <a:lstStyle/>
          <a:p>
            <a:pPr indent="0" marL="0">
              <a:buNone/>
            </a:pPr>
            <a:r>
              <a:rPr lang="en-US" sz="1100" dirty="0">
                <a:solidFill>
                  <a:schemeClr val="accent6"/>
                </a:solidFill>
              </a:rPr>
              <a:t>thai_mix_s1024 · YOLO11s detector</a:t>
            </a:r>
            <a:endParaRPr lang="en-US" sz="1100" dirty="0"/>
          </a:p>
        </p:txBody>
      </p:sp>
      <p:sp>
        <p:nvSpPr>
          <p:cNvPr id="8" name="Text 6"/>
          <p:cNvSpPr txBox="1"/>
          <p:nvPr/>
        </p:nvSpPr>
        <p:spPr>
          <a:xfrm>
            <a:off x="1005840" y="1856232"/>
            <a:ext cx="3291840" cy="274320"/>
          </a:xfrm>
          <a:prstGeom prst="rect">
            <a:avLst/>
          </a:prstGeom>
          <a:noFill/>
          <a:ln/>
        </p:spPr>
        <p:txBody>
          <a:bodyPr wrap="square" lIns="0" tIns="0" rIns="0" bIns="0" rtlCol="0" anchor="t"/>
          <a:lstStyle/>
          <a:p>
            <a:pPr indent="0" marL="0">
              <a:buNone/>
            </a:pPr>
            <a:r>
              <a:rPr lang="en-US" sz="1200" dirty="0">
                <a:solidFill>
                  <a:schemeClr val="tx1"/>
                </a:solidFill>
              </a:rPr>
              <a:t>1 class "pill": a box on every pill</a:t>
            </a:r>
            <a:endParaRPr lang="en-US" sz="1200" dirty="0"/>
          </a:p>
        </p:txBody>
      </p:sp>
      <p:sp>
        <p:nvSpPr>
          <p:cNvPr id="9" name="Shape 7"/>
          <p:cNvSpPr/>
          <p:nvPr/>
        </p:nvSpPr>
        <p:spPr>
          <a:xfrm>
            <a:off x="457200" y="2267712"/>
            <a:ext cx="411480" cy="411480"/>
          </a:xfrm>
          <a:prstGeom prst="ellipse">
            <a:avLst/>
          </a:prstGeom>
          <a:solidFill>
            <a:schemeClr val="accent1"/>
          </a:solidFill>
          <a:ln/>
        </p:spPr>
        <p:txBody>
          <a:bodyPr/>
          <a:p/>
        </p:txBody>
      </p:sp>
      <p:sp>
        <p:nvSpPr>
          <p:cNvPr id="10" name="Text 8"/>
          <p:cNvSpPr txBox="1"/>
          <p:nvPr/>
        </p:nvSpPr>
        <p:spPr>
          <a:xfrm>
            <a:off x="457200" y="2267712"/>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9"/>
          <p:cNvSpPr txBox="1"/>
          <p:nvPr/>
        </p:nvSpPr>
        <p:spPr>
          <a:xfrm>
            <a:off x="1005840" y="2221992"/>
            <a:ext cx="3291840" cy="274320"/>
          </a:xfrm>
          <a:prstGeom prst="rect">
            <a:avLst/>
          </a:prstGeom>
          <a:noFill/>
          <a:ln/>
        </p:spPr>
        <p:txBody>
          <a:bodyPr wrap="square" lIns="0" tIns="0" rIns="0" bIns="0" rtlCol="0" anchor="t"/>
          <a:lstStyle/>
          <a:p>
            <a:pPr indent="0" marL="0">
              <a:buNone/>
            </a:pPr>
            <a:r>
              <a:rPr lang="en-US" sz="1500" b="1" dirty="0">
                <a:solidFill>
                  <a:schemeClr val="tx2"/>
                </a:solidFill>
              </a:rPr>
              <a:t>Crop + mask</a:t>
            </a:r>
            <a:endParaRPr lang="en-US" sz="1500" dirty="0"/>
          </a:p>
        </p:txBody>
      </p:sp>
      <p:sp>
        <p:nvSpPr>
          <p:cNvPr id="12" name="Text 10"/>
          <p:cNvSpPr txBox="1"/>
          <p:nvPr/>
        </p:nvSpPr>
        <p:spPr>
          <a:xfrm>
            <a:off x="1005840" y="2496312"/>
            <a:ext cx="3291840" cy="228600"/>
          </a:xfrm>
          <a:prstGeom prst="rect">
            <a:avLst/>
          </a:prstGeom>
          <a:noFill/>
          <a:ln/>
        </p:spPr>
        <p:txBody>
          <a:bodyPr wrap="square" lIns="0" tIns="0" rIns="0" bIns="0" rtlCol="0" anchor="t"/>
          <a:lstStyle/>
          <a:p>
            <a:pPr indent="0" marL="0">
              <a:buNone/>
            </a:pPr>
            <a:r>
              <a:rPr lang="en-US" sz="1100" dirty="0">
                <a:solidFill>
                  <a:schemeClr val="accent6"/>
                </a:solidFill>
              </a:rPr>
              <a:t>full-resolution photo</a:t>
            </a:r>
            <a:endParaRPr lang="en-US" sz="1100" dirty="0"/>
          </a:p>
        </p:txBody>
      </p:sp>
      <p:sp>
        <p:nvSpPr>
          <p:cNvPr id="13" name="Text 11"/>
          <p:cNvSpPr txBox="1"/>
          <p:nvPr/>
        </p:nvSpPr>
        <p:spPr>
          <a:xfrm>
            <a:off x="1005840" y="2724912"/>
            <a:ext cx="3291840" cy="274320"/>
          </a:xfrm>
          <a:prstGeom prst="rect">
            <a:avLst/>
          </a:prstGeom>
          <a:noFill/>
          <a:ln/>
        </p:spPr>
        <p:txBody>
          <a:bodyPr wrap="square" lIns="0" tIns="0" rIns="0" bIns="0" rtlCol="0" anchor="t"/>
          <a:lstStyle/>
          <a:p>
            <a:pPr indent="0" marL="0">
              <a:buNone/>
            </a:pPr>
            <a:r>
              <a:rPr lang="en-US" sz="1200" dirty="0">
                <a:solidFill>
                  <a:schemeClr val="tx1"/>
                </a:solidFill>
              </a:rPr>
              <a:t>each box cut out, everything but the pill gray</a:t>
            </a:r>
            <a:endParaRPr lang="en-US" sz="1200" dirty="0"/>
          </a:p>
        </p:txBody>
      </p:sp>
      <p:sp>
        <p:nvSpPr>
          <p:cNvPr id="14" name="Shape 12"/>
          <p:cNvSpPr/>
          <p:nvPr/>
        </p:nvSpPr>
        <p:spPr>
          <a:xfrm>
            <a:off x="457200" y="3136392"/>
            <a:ext cx="411480" cy="411480"/>
          </a:xfrm>
          <a:prstGeom prst="ellipse">
            <a:avLst/>
          </a:prstGeom>
          <a:solidFill>
            <a:schemeClr val="accent2"/>
          </a:solidFill>
          <a:ln/>
        </p:spPr>
        <p:txBody>
          <a:bodyPr/>
          <a:p/>
        </p:txBody>
      </p:sp>
      <p:sp>
        <p:nvSpPr>
          <p:cNvPr id="15" name="Text 13"/>
          <p:cNvSpPr txBox="1"/>
          <p:nvPr/>
        </p:nvSpPr>
        <p:spPr>
          <a:xfrm>
            <a:off x="457200" y="3136392"/>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4"/>
          <p:cNvSpPr txBox="1"/>
          <p:nvPr/>
        </p:nvSpPr>
        <p:spPr>
          <a:xfrm>
            <a:off x="1005840" y="3090672"/>
            <a:ext cx="3291840" cy="274320"/>
          </a:xfrm>
          <a:prstGeom prst="rect">
            <a:avLst/>
          </a:prstGeom>
          <a:noFill/>
          <a:ln/>
        </p:spPr>
        <p:txBody>
          <a:bodyPr wrap="square" lIns="0" tIns="0" rIns="0" bIns="0" rtlCol="0" anchor="t"/>
          <a:lstStyle/>
          <a:p>
            <a:pPr indent="0" marL="0">
              <a:buNone/>
            </a:pPr>
            <a:r>
              <a:rPr lang="en-US" sz="1500" b="1" dirty="0">
                <a:solidFill>
                  <a:schemeClr val="tx2"/>
                </a:solidFill>
              </a:rPr>
              <a:t>Classifier</a:t>
            </a:r>
            <a:endParaRPr lang="en-US" sz="1500" dirty="0"/>
          </a:p>
        </p:txBody>
      </p:sp>
      <p:sp>
        <p:nvSpPr>
          <p:cNvPr id="17" name="Text 15"/>
          <p:cNvSpPr txBox="1"/>
          <p:nvPr/>
        </p:nvSpPr>
        <p:spPr>
          <a:xfrm>
            <a:off x="1005840" y="3364992"/>
            <a:ext cx="3291840" cy="228600"/>
          </a:xfrm>
          <a:prstGeom prst="rect">
            <a:avLst/>
          </a:prstGeom>
          <a:noFill/>
          <a:ln/>
        </p:spPr>
        <p:txBody>
          <a:bodyPr wrap="square" lIns="0" tIns="0" rIns="0" bIns="0" rtlCol="0" anchor="t"/>
          <a:lstStyle/>
          <a:p>
            <a:pPr indent="0" marL="0">
              <a:buNone/>
            </a:pPr>
            <a:r>
              <a:rPr lang="en-US" sz="1100" dirty="0">
                <a:solidFill>
                  <a:schemeClr val="accent6"/>
                </a:solidFill>
              </a:rPr>
              <a:t>pill_type.pt · YOLO11n-cls</a:t>
            </a:r>
            <a:endParaRPr lang="en-US" sz="1100" dirty="0"/>
          </a:p>
        </p:txBody>
      </p:sp>
      <p:sp>
        <p:nvSpPr>
          <p:cNvPr id="18" name="Text 16"/>
          <p:cNvSpPr txBox="1"/>
          <p:nvPr/>
        </p:nvSpPr>
        <p:spPr>
          <a:xfrm>
            <a:off x="1005840" y="3593592"/>
            <a:ext cx="3291840" cy="274320"/>
          </a:xfrm>
          <a:prstGeom prst="rect">
            <a:avLst/>
          </a:prstGeom>
          <a:noFill/>
          <a:ln/>
        </p:spPr>
        <p:txBody>
          <a:bodyPr wrap="square" lIns="0" tIns="0" rIns="0" bIns="0" rtlCol="0" anchor="t"/>
          <a:lstStyle/>
          <a:p>
            <a:pPr indent="0" marL="0">
              <a:buNone/>
            </a:pPr>
            <a:r>
              <a:rPr lang="en-US" sz="1200" dirty="0">
                <a:solidFill>
                  <a:schemeClr val="tx1"/>
                </a:solidFill>
              </a:rPr>
              <a:t>ImageNet base → tablet / caplet / mini tablet</a:t>
            </a:r>
            <a:endParaRPr lang="en-US" sz="1200" dirty="0"/>
          </a:p>
        </p:txBody>
      </p:sp>
      <p:pic>
        <p:nvPicPr>
          <p:cNvPr id="19" name="Image 0" descr="/private/tmp/claude-501/-Users-pee-Documents-projectss/830d9427-1c57-4896-95df-e61c1a8daabe/scratchpad/deck/img/form_crops.jpg">    </p:cNvPr>
          <p:cNvPicPr>
            <a:picLocks noChangeAspect="1"/>
          </p:cNvPicPr>
          <p:nvPr/>
        </p:nvPicPr>
        <p:blipFill>
          <a:blip r:embed="rId1"/>
          <a:stretch>
            <a:fillRect/>
          </a:stretch>
        </p:blipFill>
        <p:spPr>
          <a:xfrm>
            <a:off x="4663440" y="1371600"/>
            <a:ext cx="4023360" cy="1341120"/>
          </a:xfrm>
          <a:prstGeom prst="rect">
            <a:avLst/>
          </a:prstGeom>
        </p:spPr>
      </p:pic>
      <p:sp>
        <p:nvSpPr>
          <p:cNvPr id="20" name="Text 17"/>
          <p:cNvSpPr txBox="1"/>
          <p:nvPr/>
        </p:nvSpPr>
        <p:spPr>
          <a:xfrm>
            <a:off x="4773168" y="2788920"/>
            <a:ext cx="1121664"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tablet</a:t>
            </a:r>
            <a:endParaRPr lang="en-US" sz="1100" dirty="0"/>
          </a:p>
        </p:txBody>
      </p:sp>
      <p:sp>
        <p:nvSpPr>
          <p:cNvPr id="21" name="Text 18"/>
          <p:cNvSpPr txBox="1"/>
          <p:nvPr/>
        </p:nvSpPr>
        <p:spPr>
          <a:xfrm>
            <a:off x="6114288" y="2788920"/>
            <a:ext cx="1121664"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caplet</a:t>
            </a:r>
            <a:endParaRPr lang="en-US" sz="1100" dirty="0"/>
          </a:p>
        </p:txBody>
      </p:sp>
      <p:sp>
        <p:nvSpPr>
          <p:cNvPr id="22" name="Text 19"/>
          <p:cNvSpPr txBox="1"/>
          <p:nvPr/>
        </p:nvSpPr>
        <p:spPr>
          <a:xfrm>
            <a:off x="7455408" y="2788920"/>
            <a:ext cx="1121664"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mini tablet</a:t>
            </a:r>
            <a:endParaRPr lang="en-US" sz="1100" dirty="0"/>
          </a:p>
        </p:txBody>
      </p:sp>
      <p:sp>
        <p:nvSpPr>
          <p:cNvPr id="23" name="Shape 20"/>
          <p:cNvSpPr/>
          <p:nvPr/>
        </p:nvSpPr>
        <p:spPr>
          <a:xfrm>
            <a:off x="4663440" y="3246120"/>
            <a:ext cx="4023360" cy="1371600"/>
          </a:xfrm>
          <a:prstGeom prst="roundRect">
            <a:avLst>
              <a:gd name="adj" fmla="val 8000"/>
            </a:avLst>
          </a:prstGeom>
          <a:solidFill>
            <a:schemeClr val="bg2"/>
          </a:solidFill>
          <a:ln/>
        </p:spPr>
        <p:txBody>
          <a:bodyPr/>
          <a:p/>
        </p:txBody>
      </p:sp>
      <p:sp>
        <p:nvSpPr>
          <p:cNvPr id="24" name="Text 21"/>
          <p:cNvSpPr txBox="1"/>
          <p:nvPr/>
        </p:nvSpPr>
        <p:spPr>
          <a:xfrm>
            <a:off x="4800600" y="3319272"/>
            <a:ext cx="3749040" cy="274320"/>
          </a:xfrm>
          <a:prstGeom prst="rect">
            <a:avLst/>
          </a:prstGeom>
          <a:noFill/>
          <a:ln/>
        </p:spPr>
        <p:txBody>
          <a:bodyPr wrap="square" lIns="0" tIns="0" rIns="0" bIns="0" rtlCol="0" anchor="t"/>
          <a:lstStyle/>
          <a:p>
            <a:pPr indent="0" marL="0">
              <a:buNone/>
            </a:pPr>
            <a:r>
              <a:rPr lang="en-US" sz="1300" b="1" dirty="0">
                <a:solidFill>
                  <a:schemeClr val="tx2"/>
                </a:solidFill>
              </a:rPr>
              <a:t>Why not one 3-class detector?</a:t>
            </a:r>
            <a:endParaRPr lang="en-US" sz="1300" dirty="0"/>
          </a:p>
        </p:txBody>
      </p:sp>
      <p:sp>
        <p:nvSpPr>
          <p:cNvPr id="25" name="Text 22"/>
          <p:cNvSpPr txBox="1"/>
          <p:nvPr/>
        </p:nvSpPr>
        <p:spPr>
          <a:xfrm>
            <a:off x="4800600" y="3611880"/>
            <a:ext cx="3749040" cy="9601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1"/>
                </a:solidFill>
              </a:rPr>
              <a:t>Counting learns from every pill as one class</a:t>
            </a:r>
            <a:endParaRPr lang="en-US" sz="1100" dirty="0"/>
          </a:p>
          <a:p>
            <a:pPr marL="342900" indent="-342900">
              <a:spcAft>
                <a:spcPts val="600"/>
              </a:spcAft>
              <a:buSzPct val="100000"/>
              <a:buChar char="•"/>
            </a:pPr>
            <a:r>
              <a:rPr lang="en-US" sz="1100" dirty="0">
                <a:solidFill>
                  <a:schemeClr val="tx1"/>
                </a:solidFill>
              </a:rPr>
              <a:t>The classifier sees each pill at full resolution</a:t>
            </a:r>
            <a:endParaRPr lang="en-US" sz="1100" dirty="0"/>
          </a:p>
          <a:p>
            <a:pPr marL="342900" indent="-342900">
              <a:spcAft>
                <a:spcPts val="600"/>
              </a:spcAft>
              <a:buSzPct val="100000"/>
              <a:buChar char="•"/>
            </a:pPr>
            <a:r>
              <a:rPr lang="en-US" sz="1100" dirty="0">
                <a:solidFill>
                  <a:schemeClr val="tx1"/>
                </a:solidFill>
              </a:rPr>
              <a:t>Forms come from session names: no extra labels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Two thresholds decide the count</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The detector proposes many boxes; these two settings decide which ones count</a:t>
            </a:r>
            <a:endParaRPr lang="en-US" sz="1500" dirty="0"/>
          </a:p>
        </p:txBody>
      </p:sp>
      <p:sp>
        <p:nvSpPr>
          <p:cNvPr id="4" name="Shape 2"/>
          <p:cNvSpPr/>
          <p:nvPr/>
        </p:nvSpPr>
        <p:spPr>
          <a:xfrm>
            <a:off x="457200" y="1371600"/>
            <a:ext cx="4206240" cy="1463040"/>
          </a:xfrm>
          <a:prstGeom prst="roundRect">
            <a:avLst>
              <a:gd name="adj" fmla="val 7500"/>
            </a:avLst>
          </a:prstGeom>
          <a:solidFill>
            <a:schemeClr val="bg2"/>
          </a:solidFill>
          <a:ln/>
        </p:spPr>
        <p:txBody>
          <a:bodyPr/>
          <a:p/>
        </p:txBody>
      </p:sp>
      <p:sp>
        <p:nvSpPr>
          <p:cNvPr id="5" name="Text 3"/>
          <p:cNvSpPr txBox="1"/>
          <p:nvPr/>
        </p:nvSpPr>
        <p:spPr>
          <a:xfrm>
            <a:off x="640080" y="1481328"/>
            <a:ext cx="3840480" cy="292608"/>
          </a:xfrm>
          <a:prstGeom prst="rect">
            <a:avLst/>
          </a:prstGeom>
          <a:noFill/>
          <a:ln/>
        </p:spPr>
        <p:txBody>
          <a:bodyPr wrap="square" lIns="0" tIns="0" rIns="0" bIns="0" rtlCol="0" anchor="t"/>
          <a:lstStyle/>
          <a:p>
            <a:pPr indent="0" marL="0">
              <a:buNone/>
            </a:pPr>
            <a:r>
              <a:rPr lang="en-US" sz="1500" b="1" dirty="0">
                <a:solidFill>
                  <a:schemeClr val="tx2"/>
                </a:solidFill>
              </a:rPr>
              <a:t>Confidence cut-off (conf)</a:t>
            </a:r>
            <a:endParaRPr lang="en-US" sz="1500" dirty="0"/>
          </a:p>
        </p:txBody>
      </p:sp>
      <p:sp>
        <p:nvSpPr>
          <p:cNvPr id="6" name="Text 4"/>
          <p:cNvSpPr txBox="1"/>
          <p:nvPr/>
        </p:nvSpPr>
        <p:spPr>
          <a:xfrm>
            <a:off x="640080" y="1810512"/>
            <a:ext cx="3840480" cy="960120"/>
          </a:xfrm>
          <a:prstGeom prst="rect">
            <a:avLst/>
          </a:prstGeom>
          <a:noFill/>
          <a:ln/>
        </p:spPr>
        <p:txBody>
          <a:bodyPr wrap="square" lIns="0" tIns="0" rIns="0" bIns="0" rtlCol="0" anchor="t"/>
          <a:lstStyle/>
          <a:p>
            <a:pPr indent="0" marL="0">
              <a:buNone/>
            </a:pPr>
            <a:r>
              <a:rPr lang="en-US" sz="1300" dirty="0">
                <a:solidFill>
                  <a:schemeClr val="tx1"/>
                </a:solidFill>
              </a:rPr>
              <a:t>Keep boxes scoring above it. Too low: shadows and specks count. Too high: real but unclear pills are dropped.</a:t>
            </a:r>
            <a:endParaRPr lang="en-US" sz="1300" dirty="0"/>
          </a:p>
        </p:txBody>
      </p:sp>
      <p:sp>
        <p:nvSpPr>
          <p:cNvPr id="7" name="Shape 5"/>
          <p:cNvSpPr/>
          <p:nvPr/>
        </p:nvSpPr>
        <p:spPr>
          <a:xfrm>
            <a:off x="457200" y="3017520"/>
            <a:ext cx="4206240" cy="1554480"/>
          </a:xfrm>
          <a:prstGeom prst="roundRect">
            <a:avLst>
              <a:gd name="adj" fmla="val 7059"/>
            </a:avLst>
          </a:prstGeom>
          <a:solidFill>
            <a:schemeClr val="bg2"/>
          </a:solidFill>
          <a:ln/>
        </p:spPr>
        <p:txBody>
          <a:bodyPr/>
          <a:p/>
        </p:txBody>
      </p:sp>
      <p:sp>
        <p:nvSpPr>
          <p:cNvPr id="8" name="Text 6"/>
          <p:cNvSpPr txBox="1"/>
          <p:nvPr/>
        </p:nvSpPr>
        <p:spPr>
          <a:xfrm>
            <a:off x="640080" y="3127248"/>
            <a:ext cx="3840480" cy="292608"/>
          </a:xfrm>
          <a:prstGeom prst="rect">
            <a:avLst/>
          </a:prstGeom>
          <a:noFill/>
          <a:ln/>
        </p:spPr>
        <p:txBody>
          <a:bodyPr wrap="square" lIns="0" tIns="0" rIns="0" bIns="0" rtlCol="0" anchor="t"/>
          <a:lstStyle/>
          <a:p>
            <a:pPr indent="0" marL="0">
              <a:buNone/>
            </a:pPr>
            <a:r>
              <a:rPr lang="en-US" sz="1500" b="1" dirty="0">
                <a:solidFill>
                  <a:schemeClr val="tx2"/>
                </a:solidFill>
              </a:rPr>
              <a:t>Overlap limit (NMS IoU)</a:t>
            </a:r>
            <a:endParaRPr lang="en-US" sz="1500" dirty="0"/>
          </a:p>
        </p:txBody>
      </p:sp>
      <p:sp>
        <p:nvSpPr>
          <p:cNvPr id="9" name="Text 7"/>
          <p:cNvSpPr txBox="1"/>
          <p:nvPr/>
        </p:nvSpPr>
        <p:spPr>
          <a:xfrm>
            <a:off x="640080" y="3456432"/>
            <a:ext cx="3840480" cy="1051560"/>
          </a:xfrm>
          <a:prstGeom prst="rect">
            <a:avLst/>
          </a:prstGeom>
          <a:noFill/>
          <a:ln/>
        </p:spPr>
        <p:txBody>
          <a:bodyPr wrap="square" lIns="0" tIns="0" rIns="0" bIns="0" rtlCol="0" anchor="t"/>
          <a:lstStyle/>
          <a:p>
            <a:pPr indent="0" marL="0">
              <a:buNone/>
            </a:pPr>
            <a:r>
              <a:rPr lang="en-US" sz="1300" dirty="0">
                <a:solidFill>
                  <a:schemeClr val="tx1"/>
                </a:solidFill>
              </a:rPr>
              <a:t>If two boxes overlap more than this, keep only the stronger one. Too low: touching pills merge. Too high: one pill gets two boxes.</a:t>
            </a:r>
            <a:endParaRPr lang="en-US" sz="1300" dirty="0"/>
          </a:p>
        </p:txBody>
      </p:sp>
      <p:sp>
        <p:nvSpPr>
          <p:cNvPr id="10" name="Text 8"/>
          <p:cNvSpPr txBox="1"/>
          <p:nvPr/>
        </p:nvSpPr>
        <p:spPr>
          <a:xfrm>
            <a:off x="5029200" y="1371600"/>
            <a:ext cx="3657600" cy="274320"/>
          </a:xfrm>
          <a:prstGeom prst="rect">
            <a:avLst/>
          </a:prstGeom>
          <a:noFill/>
          <a:ln/>
        </p:spPr>
        <p:txBody>
          <a:bodyPr wrap="square" lIns="0" tIns="0" rIns="0" bIns="0" rtlCol="0" anchor="t"/>
          <a:lstStyle/>
          <a:p>
            <a:pPr indent="0" marL="0">
              <a:buNone/>
            </a:pPr>
            <a:r>
              <a:rPr lang="en-US" sz="1300" b="1" dirty="0">
                <a:solidFill>
                  <a:schemeClr val="accent6"/>
                </a:solidFill>
              </a:rPr>
              <a:t>Tuning alone, v4 model on v4 validation</a:t>
            </a:r>
            <a:endParaRPr lang="en-US" sz="1300" dirty="0"/>
          </a:p>
        </p:txBody>
      </p:sp>
      <p:sp>
        <p:nvSpPr>
          <p:cNvPr id="11" name="Text 9"/>
          <p:cNvSpPr txBox="1"/>
          <p:nvPr/>
        </p:nvSpPr>
        <p:spPr>
          <a:xfrm>
            <a:off x="5029200" y="1691640"/>
            <a:ext cx="1463040" cy="731520"/>
          </a:xfrm>
          <a:prstGeom prst="rect">
            <a:avLst/>
          </a:prstGeom>
          <a:noFill/>
          <a:ln/>
        </p:spPr>
        <p:txBody>
          <a:bodyPr wrap="square" lIns="0" tIns="0" rIns="0" bIns="0" rtlCol="0" anchor="t"/>
          <a:lstStyle/>
          <a:p>
            <a:pPr indent="0" marL="0">
              <a:buNone/>
            </a:pPr>
            <a:r>
              <a:rPr lang="en-US" sz="3600" b="1" dirty="0">
                <a:solidFill>
                  <a:schemeClr val="accent6"/>
                </a:solidFill>
              </a:rPr>
              <a:t>34.6%</a:t>
            </a:r>
            <a:endParaRPr lang="en-US" sz="3600" dirty="0"/>
          </a:p>
        </p:txBody>
      </p:sp>
      <p:sp>
        <p:nvSpPr>
          <p:cNvPr id="12" name="Shape 10"/>
          <p:cNvSpPr/>
          <p:nvPr/>
        </p:nvSpPr>
        <p:spPr>
          <a:xfrm>
            <a:off x="6537960" y="2057400"/>
            <a:ext cx="365760" cy="0"/>
          </a:xfrm>
          <a:prstGeom prst="line">
            <a:avLst/>
          </a:prstGeom>
          <a:noFill/>
          <a:ln w="25400">
            <a:solidFill>
              <a:schemeClr val="accent6"/>
            </a:solidFill>
            <a:prstDash val="solid"/>
            <a:tailEnd type="triangle"/>
          </a:ln>
        </p:spPr>
        <p:txBody>
          <a:bodyPr/>
          <a:p/>
        </p:txBody>
      </p:sp>
      <p:sp>
        <p:nvSpPr>
          <p:cNvPr id="13" name="Text 11"/>
          <p:cNvSpPr txBox="1"/>
          <p:nvPr/>
        </p:nvSpPr>
        <p:spPr>
          <a:xfrm>
            <a:off x="7086600" y="1691640"/>
            <a:ext cx="1645920" cy="731520"/>
          </a:xfrm>
          <a:prstGeom prst="rect">
            <a:avLst/>
          </a:prstGeom>
          <a:noFill/>
          <a:ln/>
        </p:spPr>
        <p:txBody>
          <a:bodyPr wrap="square" lIns="0" tIns="0" rIns="0" bIns="0" rtlCol="0" anchor="t"/>
          <a:lstStyle/>
          <a:p>
            <a:pPr indent="0" marL="0">
              <a:buNone/>
            </a:pPr>
            <a:r>
              <a:rPr lang="en-US" sz="3600" b="1" dirty="0">
                <a:solidFill>
                  <a:schemeClr val="accent1"/>
                </a:solidFill>
              </a:rPr>
              <a:t>76.4%</a:t>
            </a:r>
            <a:endParaRPr lang="en-US" sz="3600" dirty="0"/>
          </a:p>
        </p:txBody>
      </p:sp>
      <p:sp>
        <p:nvSpPr>
          <p:cNvPr id="14" name="Text 12"/>
          <p:cNvSpPr txBox="1"/>
          <p:nvPr/>
        </p:nvSpPr>
        <p:spPr>
          <a:xfrm>
            <a:off x="5029200" y="2423160"/>
            <a:ext cx="3657600" cy="274320"/>
          </a:xfrm>
          <a:prstGeom prst="rect">
            <a:avLst/>
          </a:prstGeom>
          <a:noFill/>
          <a:ln/>
        </p:spPr>
        <p:txBody>
          <a:bodyPr wrap="square" lIns="0" tIns="0" rIns="0" bIns="0" rtlCol="0" anchor="t"/>
          <a:lstStyle/>
          <a:p>
            <a:pPr indent="0" marL="0">
              <a:buNone/>
            </a:pPr>
            <a:r>
              <a:rPr lang="en-US" sz="1200" dirty="0">
                <a:solidFill>
                  <a:schemeClr val="tx1"/>
                </a:solidFill>
              </a:rPr>
              <a:t>exact count rate, no retraining (MAE 1.90 → 0.38)</a:t>
            </a:r>
            <a:endParaRPr lang="en-US" sz="1200" dirty="0"/>
          </a:p>
        </p:txBody>
      </p:sp>
      <p:sp>
        <p:nvSpPr>
          <p:cNvPr id="15" name="Shape 13"/>
          <p:cNvSpPr/>
          <p:nvPr/>
        </p:nvSpPr>
        <p:spPr>
          <a:xfrm>
            <a:off x="5029200" y="3017520"/>
            <a:ext cx="3657600" cy="1554480"/>
          </a:xfrm>
          <a:prstGeom prst="roundRect">
            <a:avLst>
              <a:gd name="adj" fmla="val 7059"/>
            </a:avLst>
          </a:prstGeom>
          <a:solidFill>
            <a:schemeClr val="bg2"/>
          </a:solidFill>
          <a:ln/>
        </p:spPr>
        <p:txBody>
          <a:bodyPr/>
          <a:p/>
        </p:txBody>
      </p:sp>
      <p:sp>
        <p:nvSpPr>
          <p:cNvPr id="16" name="Text 14"/>
          <p:cNvSpPr txBox="1"/>
          <p:nvPr/>
        </p:nvSpPr>
        <p:spPr>
          <a:xfrm>
            <a:off x="5212080" y="3127248"/>
            <a:ext cx="3291840" cy="292608"/>
          </a:xfrm>
          <a:prstGeom prst="rect">
            <a:avLst/>
          </a:prstGeom>
          <a:noFill/>
          <a:ln/>
        </p:spPr>
        <p:txBody>
          <a:bodyPr wrap="square" lIns="0" tIns="0" rIns="0" bIns="0" rtlCol="0" anchor="t"/>
          <a:lstStyle/>
          <a:p>
            <a:pPr indent="0" marL="0">
              <a:buNone/>
            </a:pPr>
            <a:r>
              <a:rPr lang="en-US" sz="1400" b="1" dirty="0">
                <a:solidFill>
                  <a:schemeClr val="tx2"/>
                </a:solidFill>
              </a:rPr>
              <a:t>Tuned on validation, never on test</a:t>
            </a:r>
            <a:endParaRPr lang="en-US" sz="1400" dirty="0"/>
          </a:p>
        </p:txBody>
      </p:sp>
      <p:sp>
        <p:nvSpPr>
          <p:cNvPr id="17" name="Text 15"/>
          <p:cNvSpPr txBox="1"/>
          <p:nvPr/>
        </p:nvSpPr>
        <p:spPr>
          <a:xfrm>
            <a:off x="5212080" y="3474720"/>
            <a:ext cx="3291840" cy="1051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v4 model: conf 0.50, IoU 0.40</a:t>
            </a:r>
            <a:endParaRPr lang="en-US" sz="1200" dirty="0"/>
          </a:p>
          <a:p>
            <a:pPr marL="342900" indent="-342900">
              <a:spcAft>
                <a:spcPts val="600"/>
              </a:spcAft>
              <a:buSzPct val="100000"/>
              <a:buChar char="•"/>
            </a:pPr>
            <a:r>
              <a:rPr lang="en-US" sz="1200" dirty="0">
                <a:solidFill>
                  <a:schemeClr val="tx1"/>
                </a:solidFill>
              </a:rPr>
              <a:t>thai_mix_s1024: conf 0.55, IoU 0.60</a:t>
            </a:r>
            <a:endParaRPr lang="en-US" sz="1200" dirty="0"/>
          </a:p>
          <a:p>
            <a:pPr marL="342900" indent="-342900">
              <a:spcAft>
                <a:spcPts val="600"/>
              </a:spcAft>
              <a:buSzPct val="100000"/>
              <a:buChar char="•"/>
            </a:pPr>
            <a:r>
              <a:rPr lang="en-US" sz="1200" dirty="0">
                <a:solidFill>
                  <a:schemeClr val="tx1"/>
                </a:solidFill>
              </a:rPr>
              <a:t>Lowest MAE on 5 val sessions, one photo at a time</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Five levels, five questions</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Each level adds one thing, so the gaps show what each part is worth</a:t>
            </a:r>
            <a:endParaRPr lang="en-US" sz="1500" dirty="0"/>
          </a:p>
        </p:txBody>
      </p:sp>
      <p:sp>
        <p:nvSpPr>
          <p:cNvPr id="4" name="Shape 2"/>
          <p:cNvSpPr/>
          <p:nvPr/>
        </p:nvSpPr>
        <p:spPr>
          <a:xfrm>
            <a:off x="457200" y="1325880"/>
            <a:ext cx="8229600" cy="530352"/>
          </a:xfrm>
          <a:prstGeom prst="roundRect">
            <a:avLst>
              <a:gd name="adj" fmla="val 20690"/>
            </a:avLst>
          </a:prstGeom>
          <a:solidFill>
            <a:schemeClr val="bg1"/>
          </a:solidFill>
          <a:ln/>
        </p:spPr>
      </p:sp>
      <p:sp>
        <p:nvSpPr>
          <p:cNvPr id="5" name="Text 3"/>
          <p:cNvSpPr txBox="1"/>
          <p:nvPr/>
        </p:nvSpPr>
        <p:spPr>
          <a:xfrm>
            <a:off x="594360" y="1444752"/>
            <a:ext cx="548640" cy="292608"/>
          </a:xfrm>
          <a:prstGeom prst="roundRect">
            <a:avLst>
              <a:gd name="adj" fmla="val 50000"/>
            </a:avLst>
          </a:prstGeom>
          <a:solidFill>
            <a:schemeClr val="accent6"/>
          </a:solidFill>
          <a:ln/>
        </p:spPr>
        <p:txBody>
          <a:bodyPr wrap="square" lIns="0" tIns="0" rIns="0" bIns="0" rtlCol="0" anchor="ctr"/>
          <a:lstStyle/>
          <a:p>
            <a:pPr algn="ctr" indent="0" marL="0">
              <a:buNone/>
            </a:pPr>
            <a:r>
              <a:rPr lang="en-US" sz="1100" b="1" dirty="0">
                <a:solidFill>
                  <a:schemeClr val="bg1"/>
                </a:solidFill>
              </a:rPr>
              <a:t>L1</a:t>
            </a:r>
            <a:endParaRPr lang="en-US" sz="1100" dirty="0"/>
          </a:p>
        </p:txBody>
      </p:sp>
      <p:sp>
        <p:nvSpPr>
          <p:cNvPr id="6" name="Text 4"/>
          <p:cNvSpPr txBox="1"/>
          <p:nvPr/>
        </p:nvSpPr>
        <p:spPr>
          <a:xfrm>
            <a:off x="1325880" y="1325880"/>
            <a:ext cx="3566160" cy="530352"/>
          </a:xfrm>
          <a:prstGeom prst="rect">
            <a:avLst/>
          </a:prstGeom>
          <a:noFill/>
          <a:ln/>
        </p:spPr>
        <p:txBody>
          <a:bodyPr wrap="square" lIns="0" tIns="0" rIns="0" bIns="0" rtlCol="0" anchor="ctr"/>
          <a:lstStyle/>
          <a:p>
            <a:pPr indent="0" marL="0">
              <a:buNone/>
            </a:pPr>
            <a:r>
              <a:rPr lang="en-US" sz="1400" b="1" dirty="0">
                <a:solidFill>
                  <a:schemeClr val="tx2"/>
                </a:solidFill>
              </a:rPr>
              <a:t>Guess the average train count</a:t>
            </a:r>
            <a:endParaRPr lang="en-US" sz="1400" dirty="0"/>
          </a:p>
        </p:txBody>
      </p:sp>
      <p:sp>
        <p:nvSpPr>
          <p:cNvPr id="7" name="Text 5"/>
          <p:cNvSpPr txBox="1"/>
          <p:nvPr/>
        </p:nvSpPr>
        <p:spPr>
          <a:xfrm>
            <a:off x="4937760" y="1325880"/>
            <a:ext cx="3657600" cy="530352"/>
          </a:xfrm>
          <a:prstGeom prst="rect">
            <a:avLst/>
          </a:prstGeom>
          <a:noFill/>
          <a:ln/>
        </p:spPr>
        <p:txBody>
          <a:bodyPr wrap="square" lIns="0" tIns="0" rIns="0" bIns="0" rtlCol="0" anchor="ctr"/>
          <a:lstStyle/>
          <a:p>
            <a:pPr indent="0" marL="0">
              <a:buNone/>
            </a:pPr>
            <a:r>
              <a:rPr lang="en-US" sz="1300" i="1" dirty="0">
                <a:solidFill>
                  <a:schemeClr val="tx1"/>
                </a:solidFill>
              </a:rPr>
              <a:t>Is there anything to learn at all?</a:t>
            </a:r>
            <a:endParaRPr lang="en-US" sz="1300" dirty="0"/>
          </a:p>
        </p:txBody>
      </p:sp>
      <p:sp>
        <p:nvSpPr>
          <p:cNvPr id="8" name="Shape 6"/>
          <p:cNvSpPr/>
          <p:nvPr/>
        </p:nvSpPr>
        <p:spPr>
          <a:xfrm>
            <a:off x="457200" y="1947672"/>
            <a:ext cx="8229600" cy="530352"/>
          </a:xfrm>
          <a:prstGeom prst="roundRect">
            <a:avLst>
              <a:gd name="adj" fmla="val 20690"/>
            </a:avLst>
          </a:prstGeom>
          <a:solidFill>
            <a:schemeClr val="bg1"/>
          </a:solidFill>
          <a:ln/>
        </p:spPr>
      </p:sp>
      <p:sp>
        <p:nvSpPr>
          <p:cNvPr id="9" name="Text 7"/>
          <p:cNvSpPr txBox="1"/>
          <p:nvPr/>
        </p:nvSpPr>
        <p:spPr>
          <a:xfrm>
            <a:off x="594360" y="2066544"/>
            <a:ext cx="54864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L2</a:t>
            </a:r>
            <a:endParaRPr lang="en-US" sz="1100" dirty="0"/>
          </a:p>
        </p:txBody>
      </p:sp>
      <p:sp>
        <p:nvSpPr>
          <p:cNvPr id="10" name="Text 8"/>
          <p:cNvSpPr txBox="1"/>
          <p:nvPr/>
        </p:nvSpPr>
        <p:spPr>
          <a:xfrm>
            <a:off x="1325880" y="1947672"/>
            <a:ext cx="3566160" cy="530352"/>
          </a:xfrm>
          <a:prstGeom prst="rect">
            <a:avLst/>
          </a:prstGeom>
          <a:noFill/>
          <a:ln/>
        </p:spPr>
        <p:txBody>
          <a:bodyPr wrap="square" lIns="0" tIns="0" rIns="0" bIns="0" rtlCol="0" anchor="ctr"/>
          <a:lstStyle/>
          <a:p>
            <a:pPr indent="0" marL="0">
              <a:buNone/>
            </a:pPr>
            <a:r>
              <a:rPr lang="en-US" sz="1400" b="1" dirty="0">
                <a:solidFill>
                  <a:schemeClr val="tx2"/>
                </a:solidFill>
              </a:rPr>
              <a:t>Classical image processing, no ML</a:t>
            </a:r>
            <a:endParaRPr lang="en-US" sz="1400" dirty="0"/>
          </a:p>
        </p:txBody>
      </p:sp>
      <p:sp>
        <p:nvSpPr>
          <p:cNvPr id="11" name="Text 9"/>
          <p:cNvSpPr txBox="1"/>
          <p:nvPr/>
        </p:nvSpPr>
        <p:spPr>
          <a:xfrm>
            <a:off x="4937760" y="1947672"/>
            <a:ext cx="3657600" cy="530352"/>
          </a:xfrm>
          <a:prstGeom prst="rect">
            <a:avLst/>
          </a:prstGeom>
          <a:noFill/>
          <a:ln/>
        </p:spPr>
        <p:txBody>
          <a:bodyPr wrap="square" lIns="0" tIns="0" rIns="0" bIns="0" rtlCol="0" anchor="ctr"/>
          <a:lstStyle/>
          <a:p>
            <a:pPr indent="0" marL="0">
              <a:buNone/>
            </a:pPr>
            <a:r>
              <a:rPr lang="en-US" sz="1300" i="1" dirty="0">
                <a:solidFill>
                  <a:schemeClr val="tx1"/>
                </a:solidFill>
              </a:rPr>
              <a:t>Could simple, cheap rules already do it?</a:t>
            </a:r>
            <a:endParaRPr lang="en-US" sz="1300" dirty="0"/>
          </a:p>
        </p:txBody>
      </p:sp>
      <p:sp>
        <p:nvSpPr>
          <p:cNvPr id="12" name="Shape 10"/>
          <p:cNvSpPr/>
          <p:nvPr/>
        </p:nvSpPr>
        <p:spPr>
          <a:xfrm>
            <a:off x="457200" y="2569464"/>
            <a:ext cx="8229600" cy="530352"/>
          </a:xfrm>
          <a:prstGeom prst="roundRect">
            <a:avLst>
              <a:gd name="adj" fmla="val 20690"/>
            </a:avLst>
          </a:prstGeom>
          <a:solidFill>
            <a:schemeClr val="bg1"/>
          </a:solidFill>
          <a:ln/>
        </p:spPr>
      </p:sp>
      <p:sp>
        <p:nvSpPr>
          <p:cNvPr id="13" name="Text 11"/>
          <p:cNvSpPr txBox="1"/>
          <p:nvPr/>
        </p:nvSpPr>
        <p:spPr>
          <a:xfrm>
            <a:off x="594360" y="2688336"/>
            <a:ext cx="548640" cy="292608"/>
          </a:xfrm>
          <a:prstGeom prst="roundRect">
            <a:avLst>
              <a:gd name="adj" fmla="val 50000"/>
            </a:avLst>
          </a:prstGeom>
          <a:solidFill>
            <a:schemeClr val="accent6"/>
          </a:solidFill>
          <a:ln/>
        </p:spPr>
        <p:txBody>
          <a:bodyPr wrap="square" lIns="0" tIns="0" rIns="0" bIns="0" rtlCol="0" anchor="ctr"/>
          <a:lstStyle/>
          <a:p>
            <a:pPr algn="ctr" indent="0" marL="0">
              <a:buNone/>
            </a:pPr>
            <a:r>
              <a:rPr lang="en-US" sz="1100" b="1" dirty="0">
                <a:solidFill>
                  <a:schemeClr val="bg1"/>
                </a:solidFill>
              </a:rPr>
              <a:t>L3</a:t>
            </a:r>
            <a:endParaRPr lang="en-US" sz="1100" dirty="0"/>
          </a:p>
        </p:txBody>
      </p:sp>
      <p:sp>
        <p:nvSpPr>
          <p:cNvPr id="14" name="Text 12"/>
          <p:cNvSpPr txBox="1"/>
          <p:nvPr/>
        </p:nvSpPr>
        <p:spPr>
          <a:xfrm>
            <a:off x="1325880" y="2569464"/>
            <a:ext cx="3566160" cy="530352"/>
          </a:xfrm>
          <a:prstGeom prst="rect">
            <a:avLst/>
          </a:prstGeom>
          <a:noFill/>
          <a:ln/>
        </p:spPr>
        <p:txBody>
          <a:bodyPr wrap="square" lIns="0" tIns="0" rIns="0" bIns="0" rtlCol="0" anchor="ctr"/>
          <a:lstStyle/>
          <a:p>
            <a:pPr indent="0" marL="0">
              <a:buNone/>
            </a:pPr>
            <a:r>
              <a:rPr lang="en-US" sz="1400" b="1" dirty="0">
                <a:solidFill>
                  <a:schemeClr val="tx2"/>
                </a:solidFill>
              </a:rPr>
              <a:t>Pretrained YOLO, no pill training</a:t>
            </a:r>
            <a:endParaRPr lang="en-US" sz="1400" dirty="0"/>
          </a:p>
        </p:txBody>
      </p:sp>
      <p:sp>
        <p:nvSpPr>
          <p:cNvPr id="15" name="Text 13"/>
          <p:cNvSpPr txBox="1"/>
          <p:nvPr/>
        </p:nvSpPr>
        <p:spPr>
          <a:xfrm>
            <a:off x="4937760" y="2569464"/>
            <a:ext cx="3657600" cy="530352"/>
          </a:xfrm>
          <a:prstGeom prst="rect">
            <a:avLst/>
          </a:prstGeom>
          <a:noFill/>
          <a:ln/>
        </p:spPr>
        <p:txBody>
          <a:bodyPr wrap="square" lIns="0" tIns="0" rIns="0" bIns="0" rtlCol="0" anchor="ctr"/>
          <a:lstStyle/>
          <a:p>
            <a:pPr indent="0" marL="0">
              <a:buNone/>
            </a:pPr>
            <a:r>
              <a:rPr lang="en-US" sz="1300" i="1" dirty="0">
                <a:solidFill>
                  <a:schemeClr val="tx1"/>
                </a:solidFill>
              </a:rPr>
              <a:t>Can we just download a model?</a:t>
            </a:r>
            <a:endParaRPr lang="en-US" sz="1300" dirty="0"/>
          </a:p>
        </p:txBody>
      </p:sp>
      <p:sp>
        <p:nvSpPr>
          <p:cNvPr id="16" name="Shape 14"/>
          <p:cNvSpPr/>
          <p:nvPr/>
        </p:nvSpPr>
        <p:spPr>
          <a:xfrm>
            <a:off x="457200" y="3191256"/>
            <a:ext cx="8229600" cy="530352"/>
          </a:xfrm>
          <a:prstGeom prst="roundRect">
            <a:avLst>
              <a:gd name="adj" fmla="val 20690"/>
            </a:avLst>
          </a:prstGeom>
          <a:solidFill>
            <a:schemeClr val="bg1"/>
          </a:solidFill>
          <a:ln/>
        </p:spPr>
      </p:sp>
      <p:sp>
        <p:nvSpPr>
          <p:cNvPr id="17" name="Text 15"/>
          <p:cNvSpPr txBox="1"/>
          <p:nvPr/>
        </p:nvSpPr>
        <p:spPr>
          <a:xfrm>
            <a:off x="594360" y="3310128"/>
            <a:ext cx="548640" cy="292608"/>
          </a:xfrm>
          <a:prstGeom prst="roundRect">
            <a:avLst>
              <a:gd name="adj" fmla="val 50000"/>
            </a:avLst>
          </a:prstGeom>
          <a:solidFill>
            <a:schemeClr val="accent6"/>
          </a:solidFill>
          <a:ln/>
        </p:spPr>
        <p:txBody>
          <a:bodyPr wrap="square" lIns="0" tIns="0" rIns="0" bIns="0" rtlCol="0" anchor="ctr"/>
          <a:lstStyle/>
          <a:p>
            <a:pPr algn="ctr" indent="0" marL="0">
              <a:buNone/>
            </a:pPr>
            <a:r>
              <a:rPr lang="en-US" sz="1100" b="1" dirty="0">
                <a:solidFill>
                  <a:schemeClr val="bg1"/>
                </a:solidFill>
              </a:rPr>
              <a:t>L4</a:t>
            </a:r>
            <a:endParaRPr lang="en-US" sz="1100" dirty="0"/>
          </a:p>
        </p:txBody>
      </p:sp>
      <p:sp>
        <p:nvSpPr>
          <p:cNvPr id="18" name="Text 16"/>
          <p:cNvSpPr txBox="1"/>
          <p:nvPr/>
        </p:nvSpPr>
        <p:spPr>
          <a:xfrm>
            <a:off x="1325880" y="3191256"/>
            <a:ext cx="3566160" cy="530352"/>
          </a:xfrm>
          <a:prstGeom prst="rect">
            <a:avLst/>
          </a:prstGeom>
          <a:noFill/>
          <a:ln/>
        </p:spPr>
        <p:txBody>
          <a:bodyPr wrap="square" lIns="0" tIns="0" rIns="0" bIns="0" rtlCol="0" anchor="ctr"/>
          <a:lstStyle/>
          <a:p>
            <a:pPr indent="0" marL="0">
              <a:buNone/>
            </a:pPr>
            <a:r>
              <a:rPr lang="en-US" sz="1400" b="1" dirty="0">
                <a:solidFill>
                  <a:schemeClr val="tx2"/>
                </a:solidFill>
              </a:rPr>
              <a:t>Trained on public pill data (v4)</a:t>
            </a:r>
            <a:endParaRPr lang="en-US" sz="1400" dirty="0"/>
          </a:p>
        </p:txBody>
      </p:sp>
      <p:sp>
        <p:nvSpPr>
          <p:cNvPr id="19" name="Text 17"/>
          <p:cNvSpPr txBox="1"/>
          <p:nvPr/>
        </p:nvSpPr>
        <p:spPr>
          <a:xfrm>
            <a:off x="4937760" y="3191256"/>
            <a:ext cx="3657600" cy="530352"/>
          </a:xfrm>
          <a:prstGeom prst="rect">
            <a:avLst/>
          </a:prstGeom>
          <a:noFill/>
          <a:ln/>
        </p:spPr>
        <p:txBody>
          <a:bodyPr wrap="square" lIns="0" tIns="0" rIns="0" bIns="0" rtlCol="0" anchor="ctr"/>
          <a:lstStyle/>
          <a:p>
            <a:pPr indent="0" marL="0">
              <a:buNone/>
            </a:pPr>
            <a:r>
              <a:rPr lang="en-US" sz="1300" i="1" dirty="0">
                <a:solidFill>
                  <a:schemeClr val="tx1"/>
                </a:solidFill>
              </a:rPr>
              <a:t>Is public data enough for my conditions?</a:t>
            </a:r>
            <a:endParaRPr lang="en-US" sz="1300" dirty="0"/>
          </a:p>
        </p:txBody>
      </p:sp>
      <p:sp>
        <p:nvSpPr>
          <p:cNvPr id="20" name="Shape 18"/>
          <p:cNvSpPr/>
          <p:nvPr/>
        </p:nvSpPr>
        <p:spPr>
          <a:xfrm>
            <a:off x="457200" y="3813048"/>
            <a:ext cx="8229600" cy="530352"/>
          </a:xfrm>
          <a:prstGeom prst="roundRect">
            <a:avLst>
              <a:gd name="adj" fmla="val 20690"/>
            </a:avLst>
          </a:prstGeom>
          <a:solidFill>
            <a:schemeClr val="bg2"/>
          </a:solidFill>
          <a:ln/>
        </p:spPr>
      </p:sp>
      <p:sp>
        <p:nvSpPr>
          <p:cNvPr id="21" name="Text 19"/>
          <p:cNvSpPr txBox="1"/>
          <p:nvPr/>
        </p:nvSpPr>
        <p:spPr>
          <a:xfrm>
            <a:off x="594360" y="3931920"/>
            <a:ext cx="5486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L5</a:t>
            </a:r>
            <a:endParaRPr lang="en-US" sz="1100" dirty="0"/>
          </a:p>
        </p:txBody>
      </p:sp>
      <p:sp>
        <p:nvSpPr>
          <p:cNvPr id="22" name="Text 20"/>
          <p:cNvSpPr txBox="1"/>
          <p:nvPr/>
        </p:nvSpPr>
        <p:spPr>
          <a:xfrm>
            <a:off x="1325880" y="3813048"/>
            <a:ext cx="3566160" cy="530352"/>
          </a:xfrm>
          <a:prstGeom prst="rect">
            <a:avLst/>
          </a:prstGeom>
          <a:noFill/>
          <a:ln/>
        </p:spPr>
        <p:txBody>
          <a:bodyPr wrap="square" lIns="0" tIns="0" rIns="0" bIns="0" rtlCol="0" anchor="ctr"/>
          <a:lstStyle/>
          <a:p>
            <a:pPr indent="0" marL="0">
              <a:buNone/>
            </a:pPr>
            <a:r>
              <a:rPr lang="en-US" sz="1400" b="1" dirty="0">
                <a:solidFill>
                  <a:schemeClr val="tx2"/>
                </a:solidFill>
              </a:rPr>
              <a:t>v4 + fine-tuned on my photos</a:t>
            </a:r>
            <a:endParaRPr lang="en-US" sz="1400" dirty="0"/>
          </a:p>
        </p:txBody>
      </p:sp>
      <p:sp>
        <p:nvSpPr>
          <p:cNvPr id="23" name="Text 21"/>
          <p:cNvSpPr txBox="1"/>
          <p:nvPr/>
        </p:nvSpPr>
        <p:spPr>
          <a:xfrm>
            <a:off x="4937760" y="3813048"/>
            <a:ext cx="3657600" cy="530352"/>
          </a:xfrm>
          <a:prstGeom prst="rect">
            <a:avLst/>
          </a:prstGeom>
          <a:noFill/>
          <a:ln/>
        </p:spPr>
        <p:txBody>
          <a:bodyPr wrap="square" lIns="0" tIns="0" rIns="0" bIns="0" rtlCol="0" anchor="ctr"/>
          <a:lstStyle/>
          <a:p>
            <a:pPr indent="0" marL="0">
              <a:buNone/>
            </a:pPr>
            <a:r>
              <a:rPr lang="en-US" sz="1300" i="1" dirty="0">
                <a:solidFill>
                  <a:schemeClr val="tx1"/>
                </a:solidFill>
              </a:rPr>
              <a:t>Does a little local data make it work?</a:t>
            </a:r>
            <a:endParaRPr lang="en-US" sz="1300" dirty="0"/>
          </a:p>
        </p:txBody>
      </p:sp>
      <p:sp>
        <p:nvSpPr>
          <p:cNvPr id="24" name="Text 22"/>
          <p:cNvSpPr txBox="1"/>
          <p:nvPr/>
        </p:nvSpPr>
        <p:spPr>
          <a:xfrm>
            <a:off x="457200" y="4480560"/>
            <a:ext cx="8229600" cy="201168"/>
          </a:xfrm>
          <a:prstGeom prst="rect">
            <a:avLst/>
          </a:prstGeom>
          <a:noFill/>
          <a:ln/>
        </p:spPr>
        <p:txBody>
          <a:bodyPr wrap="square" lIns="0" tIns="0" rIns="0" bIns="0" rtlCol="0" anchor="t"/>
          <a:lstStyle/>
          <a:p>
            <a:pPr indent="0" marL="0">
              <a:buNone/>
            </a:pPr>
            <a:r>
              <a:rPr lang="en-US" sz="1000" dirty="0">
                <a:solidFill>
                  <a:schemeClr val="accent6"/>
                </a:solidFill>
              </a:rPr>
              <a:t>Lecture 5 baseline types: predict the mean (L1), simple heuristic (L2), previous versions (L3, L4)</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First comparison: one granite pile</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Session s06, 39 tablets, 5 photos: only the fine-tuned model was exact</a:t>
            </a:r>
            <a:endParaRPr lang="en-US" sz="1500" dirty="0"/>
          </a:p>
        </p:txBody>
      </p:sp>
      <p:graphicFrame>
        <p:nvGraphicFramePr>
          <p:cNvPr id="4" name="Chart 0" descr=""/>
          <p:cNvGraphicFramePr/>
          <p:nvPr/>
        </p:nvGraphicFramePr>
        <p:xfrm>
          <a:off x="457200" y="1325880"/>
          <a:ext cx="484632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577840" y="1527048"/>
            <a:ext cx="5486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L5</a:t>
            </a:r>
            <a:endParaRPr lang="en-US" sz="1100" dirty="0"/>
          </a:p>
        </p:txBody>
      </p:sp>
      <p:sp>
        <p:nvSpPr>
          <p:cNvPr id="6" name="Text 3"/>
          <p:cNvSpPr txBox="1"/>
          <p:nvPr/>
        </p:nvSpPr>
        <p:spPr>
          <a:xfrm>
            <a:off x="6263640" y="1371600"/>
            <a:ext cx="1051560" cy="594360"/>
          </a:xfrm>
          <a:prstGeom prst="rect">
            <a:avLst/>
          </a:prstGeom>
          <a:noFill/>
          <a:ln/>
        </p:spPr>
        <p:txBody>
          <a:bodyPr wrap="square" lIns="0" tIns="0" rIns="0" bIns="0" rtlCol="0" anchor="ctr"/>
          <a:lstStyle/>
          <a:p>
            <a:pPr indent="0" marL="0">
              <a:buNone/>
            </a:pPr>
            <a:r>
              <a:rPr lang="en-US" sz="2600" b="1" dirty="0">
                <a:solidFill>
                  <a:schemeClr val="tx2"/>
                </a:solidFill>
              </a:rPr>
              <a:t>5 / 5</a:t>
            </a:r>
            <a:endParaRPr lang="en-US" sz="2600" dirty="0"/>
          </a:p>
        </p:txBody>
      </p:sp>
      <p:sp>
        <p:nvSpPr>
          <p:cNvPr id="7" name="Text 4"/>
          <p:cNvSpPr txBox="1"/>
          <p:nvPr/>
        </p:nvSpPr>
        <p:spPr>
          <a:xfrm>
            <a:off x="7315200" y="1371600"/>
            <a:ext cx="1371600" cy="594360"/>
          </a:xfrm>
          <a:prstGeom prst="rect">
            <a:avLst/>
          </a:prstGeom>
          <a:noFill/>
          <a:ln/>
        </p:spPr>
        <p:txBody>
          <a:bodyPr wrap="square" lIns="0" tIns="0" rIns="0" bIns="0" rtlCol="0" anchor="ctr"/>
          <a:lstStyle/>
          <a:p>
            <a:pPr indent="0" marL="0">
              <a:buNone/>
            </a:pPr>
            <a:r>
              <a:rPr lang="en-US" sz="1100" dirty="0">
                <a:solidFill>
                  <a:schemeClr val="tx1"/>
                </a:solidFill>
              </a:rPr>
              <a:t>exact, all 39</a:t>
            </a:r>
            <a:endParaRPr lang="en-US" sz="1100" dirty="0"/>
          </a:p>
        </p:txBody>
      </p:sp>
      <p:sp>
        <p:nvSpPr>
          <p:cNvPr id="8" name="Text 5"/>
          <p:cNvSpPr txBox="1"/>
          <p:nvPr/>
        </p:nvSpPr>
        <p:spPr>
          <a:xfrm>
            <a:off x="5577840" y="2276856"/>
            <a:ext cx="548640" cy="292608"/>
          </a:xfrm>
          <a:prstGeom prst="roundRect">
            <a:avLst>
              <a:gd name="adj" fmla="val 50000"/>
            </a:avLst>
          </a:prstGeom>
          <a:solidFill>
            <a:schemeClr val="accent6"/>
          </a:solidFill>
          <a:ln/>
        </p:spPr>
        <p:txBody>
          <a:bodyPr wrap="square" lIns="0" tIns="0" rIns="0" bIns="0" rtlCol="0" anchor="ctr"/>
          <a:lstStyle/>
          <a:p>
            <a:pPr algn="ctr" indent="0" marL="0">
              <a:buNone/>
            </a:pPr>
            <a:r>
              <a:rPr lang="en-US" sz="1100" b="1" dirty="0">
                <a:solidFill>
                  <a:schemeClr val="bg1"/>
                </a:solidFill>
              </a:rPr>
              <a:t>L4</a:t>
            </a:r>
            <a:endParaRPr lang="en-US" sz="1100" dirty="0"/>
          </a:p>
        </p:txBody>
      </p:sp>
      <p:sp>
        <p:nvSpPr>
          <p:cNvPr id="9" name="Text 6"/>
          <p:cNvSpPr txBox="1"/>
          <p:nvPr/>
        </p:nvSpPr>
        <p:spPr>
          <a:xfrm>
            <a:off x="6263640" y="2121408"/>
            <a:ext cx="1051560" cy="594360"/>
          </a:xfrm>
          <a:prstGeom prst="rect">
            <a:avLst/>
          </a:prstGeom>
          <a:noFill/>
          <a:ln/>
        </p:spPr>
        <p:txBody>
          <a:bodyPr wrap="square" lIns="0" tIns="0" rIns="0" bIns="0" rtlCol="0" anchor="ctr"/>
          <a:lstStyle/>
          <a:p>
            <a:pPr indent="0" marL="0">
              <a:buNone/>
            </a:pPr>
            <a:r>
              <a:rPr lang="en-US" sz="2600" b="1" dirty="0">
                <a:solidFill>
                  <a:schemeClr val="tx2"/>
                </a:solidFill>
              </a:rPr>
              <a:t>1 / 5</a:t>
            </a:r>
            <a:endParaRPr lang="en-US" sz="2600" dirty="0"/>
          </a:p>
        </p:txBody>
      </p:sp>
      <p:sp>
        <p:nvSpPr>
          <p:cNvPr id="10" name="Text 7"/>
          <p:cNvSpPr txBox="1"/>
          <p:nvPr/>
        </p:nvSpPr>
        <p:spPr>
          <a:xfrm>
            <a:off x="7315200" y="2121408"/>
            <a:ext cx="1371600" cy="594360"/>
          </a:xfrm>
          <a:prstGeom prst="rect">
            <a:avLst/>
          </a:prstGeom>
          <a:noFill/>
          <a:ln/>
        </p:spPr>
        <p:txBody>
          <a:bodyPr wrap="square" lIns="0" tIns="0" rIns="0" bIns="0" rtlCol="0" anchor="ctr"/>
          <a:lstStyle/>
          <a:p>
            <a:pPr indent="0" marL="0">
              <a:buNone/>
            </a:pPr>
            <a:r>
              <a:rPr lang="en-US" sz="1100" dirty="0">
                <a:solidFill>
                  <a:schemeClr val="tx1"/>
                </a:solidFill>
              </a:rPr>
              <a:t>38, 39, 41, 40, 38</a:t>
            </a:r>
            <a:endParaRPr lang="en-US" sz="1100" dirty="0"/>
          </a:p>
        </p:txBody>
      </p:sp>
      <p:sp>
        <p:nvSpPr>
          <p:cNvPr id="11" name="Text 8"/>
          <p:cNvSpPr txBox="1"/>
          <p:nvPr/>
        </p:nvSpPr>
        <p:spPr>
          <a:xfrm>
            <a:off x="5577840" y="3026664"/>
            <a:ext cx="54864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L2</a:t>
            </a:r>
            <a:endParaRPr lang="en-US" sz="1100" dirty="0"/>
          </a:p>
        </p:txBody>
      </p:sp>
      <p:sp>
        <p:nvSpPr>
          <p:cNvPr id="12" name="Text 9"/>
          <p:cNvSpPr txBox="1"/>
          <p:nvPr/>
        </p:nvSpPr>
        <p:spPr>
          <a:xfrm>
            <a:off x="6263640" y="2871216"/>
            <a:ext cx="1051560" cy="594360"/>
          </a:xfrm>
          <a:prstGeom prst="rect">
            <a:avLst/>
          </a:prstGeom>
          <a:noFill/>
          <a:ln/>
        </p:spPr>
        <p:txBody>
          <a:bodyPr wrap="square" lIns="0" tIns="0" rIns="0" bIns="0" rtlCol="0" anchor="ctr"/>
          <a:lstStyle/>
          <a:p>
            <a:pPr indent="0" marL="0">
              <a:buNone/>
            </a:pPr>
            <a:r>
              <a:rPr lang="en-US" sz="2600" b="1" dirty="0">
                <a:solidFill>
                  <a:schemeClr val="tx2"/>
                </a:solidFill>
              </a:rPr>
              <a:t>0 / 5</a:t>
            </a:r>
            <a:endParaRPr lang="en-US" sz="2600" dirty="0"/>
          </a:p>
        </p:txBody>
      </p:sp>
      <p:sp>
        <p:nvSpPr>
          <p:cNvPr id="13" name="Text 10"/>
          <p:cNvSpPr txBox="1"/>
          <p:nvPr/>
        </p:nvSpPr>
        <p:spPr>
          <a:xfrm>
            <a:off x="7315200" y="2871216"/>
            <a:ext cx="1371600" cy="594360"/>
          </a:xfrm>
          <a:prstGeom prst="rect">
            <a:avLst/>
          </a:prstGeom>
          <a:noFill/>
          <a:ln/>
        </p:spPr>
        <p:txBody>
          <a:bodyPr wrap="square" lIns="0" tIns="0" rIns="0" bIns="0" rtlCol="0" anchor="ctr"/>
          <a:lstStyle/>
          <a:p>
            <a:pPr indent="0" marL="0">
              <a:buNone/>
            </a:pPr>
            <a:r>
              <a:rPr lang="en-US" sz="1100" dirty="0">
                <a:solidFill>
                  <a:schemeClr val="tx1"/>
                </a:solidFill>
              </a:rPr>
              <a:t>40, 23, 21, 12, 19</a:t>
            </a:r>
            <a:endParaRPr lang="en-US" sz="1100" dirty="0"/>
          </a:p>
        </p:txBody>
      </p:sp>
      <p:sp>
        <p:nvSpPr>
          <p:cNvPr id="14" name="Shape 11"/>
          <p:cNvSpPr/>
          <p:nvPr/>
        </p:nvSpPr>
        <p:spPr>
          <a:xfrm>
            <a:off x="5577840" y="3657600"/>
            <a:ext cx="3108960" cy="960120"/>
          </a:xfrm>
          <a:prstGeom prst="roundRect">
            <a:avLst>
              <a:gd name="adj" fmla="val 11429"/>
            </a:avLst>
          </a:prstGeom>
          <a:solidFill>
            <a:schemeClr val="bg2"/>
          </a:solidFill>
          <a:ln/>
        </p:spPr>
      </p:sp>
      <p:sp>
        <p:nvSpPr>
          <p:cNvPr id="15" name="Text 12"/>
          <p:cNvSpPr txBox="1"/>
          <p:nvPr/>
        </p:nvSpPr>
        <p:spPr>
          <a:xfrm>
            <a:off x="5715000" y="3730752"/>
            <a:ext cx="2834640" cy="822960"/>
          </a:xfrm>
          <a:prstGeom prst="rect">
            <a:avLst/>
          </a:prstGeom>
          <a:noFill/>
          <a:ln/>
        </p:spPr>
        <p:txBody>
          <a:bodyPr wrap="square" lIns="0" tIns="0" rIns="0" bIns="0" rtlCol="0" anchor="ctr"/>
          <a:lstStyle/>
          <a:p>
            <a:pPr indent="0" marL="0">
              <a:buNone/>
            </a:pPr>
            <a:r>
              <a:rPr lang="en-US" sz="1100" i="1" dirty="0">
                <a:solidFill>
                  <a:schemeClr val="tx1"/>
                </a:solidFill>
              </a:rPr>
              <a:t>Optimistic: one pile, and thresholds were tuned on it. The test set is held out and run once.</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Mixed-data counter: 77% → 93% exact</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Validation, 5 held-out sessions, each photo scored one at a time as in the app</a:t>
            </a:r>
            <a:endParaRPr lang="en-US" sz="1500" dirty="0"/>
          </a:p>
        </p:txBody>
      </p:sp>
      <p:graphicFrame>
        <p:nvGraphicFramePr>
          <p:cNvPr id="4" name="Chart 0" descr=""/>
          <p:cNvGraphicFramePr/>
          <p:nvPr/>
        </p:nvGraphicFramePr>
        <p:xfrm>
          <a:off x="457200" y="1325880"/>
          <a:ext cx="548640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217920" y="1371600"/>
            <a:ext cx="2468880" cy="914400"/>
          </a:xfrm>
          <a:prstGeom prst="roundRect">
            <a:avLst>
              <a:gd name="adj" fmla="val 12000"/>
            </a:avLst>
          </a:prstGeom>
          <a:solidFill>
            <a:schemeClr val="accent1"/>
          </a:solidFill>
          <a:ln/>
        </p:spPr>
        <p:txBody>
          <a:bodyPr/>
          <a:p/>
        </p:txBody>
      </p:sp>
      <p:sp>
        <p:nvSpPr>
          <p:cNvPr id="6" name="Text 3"/>
          <p:cNvSpPr txBox="1"/>
          <p:nvPr/>
        </p:nvSpPr>
        <p:spPr>
          <a:xfrm>
            <a:off x="6355080" y="1444752"/>
            <a:ext cx="2194560" cy="411480"/>
          </a:xfrm>
          <a:prstGeom prst="rect">
            <a:avLst/>
          </a:prstGeom>
          <a:noFill/>
          <a:ln/>
        </p:spPr>
        <p:txBody>
          <a:bodyPr wrap="square" lIns="0" tIns="0" rIns="0" bIns="0" rtlCol="0" anchor="t"/>
          <a:lstStyle/>
          <a:p>
            <a:pPr indent="0" marL="0">
              <a:buNone/>
            </a:pPr>
            <a:r>
              <a:rPr lang="en-US" sz="2000" b="1" dirty="0">
                <a:solidFill>
                  <a:schemeClr val="bg1"/>
                </a:solidFill>
              </a:rPr>
              <a:t>0.30 → 0.10</a:t>
            </a:r>
            <a:endParaRPr lang="en-US" sz="2000" dirty="0"/>
          </a:p>
        </p:txBody>
      </p:sp>
      <p:sp>
        <p:nvSpPr>
          <p:cNvPr id="7" name="Text 4"/>
          <p:cNvSpPr txBox="1"/>
          <p:nvPr/>
        </p:nvSpPr>
        <p:spPr>
          <a:xfrm>
            <a:off x="6355080" y="1847088"/>
            <a:ext cx="2194560" cy="384048"/>
          </a:xfrm>
          <a:prstGeom prst="rect">
            <a:avLst/>
          </a:prstGeom>
          <a:noFill/>
          <a:ln/>
        </p:spPr>
        <p:txBody>
          <a:bodyPr wrap="square" lIns="0" tIns="0" rIns="0" bIns="0" rtlCol="0" anchor="t"/>
          <a:lstStyle/>
          <a:p>
            <a:pPr indent="0" marL="0">
              <a:buNone/>
            </a:pPr>
            <a:r>
              <a:rPr lang="en-US" sz="1100" dirty="0">
                <a:solidFill>
                  <a:schemeClr val="bg1"/>
                </a:solidFill>
              </a:rPr>
              <a:t>average miss per photo (pills)</a:t>
            </a:r>
            <a:endParaRPr lang="en-US" sz="1100" dirty="0"/>
          </a:p>
        </p:txBody>
      </p:sp>
      <p:sp>
        <p:nvSpPr>
          <p:cNvPr id="8" name="Shape 5"/>
          <p:cNvSpPr/>
          <p:nvPr/>
        </p:nvSpPr>
        <p:spPr>
          <a:xfrm>
            <a:off x="6217920" y="2450592"/>
            <a:ext cx="2468880" cy="914400"/>
          </a:xfrm>
          <a:prstGeom prst="roundRect">
            <a:avLst>
              <a:gd name="adj" fmla="val 12000"/>
            </a:avLst>
          </a:prstGeom>
          <a:solidFill>
            <a:schemeClr val="bg2"/>
          </a:solidFill>
          <a:ln/>
        </p:spPr>
        <p:txBody>
          <a:bodyPr/>
          <a:p/>
        </p:txBody>
      </p:sp>
      <p:sp>
        <p:nvSpPr>
          <p:cNvPr id="9" name="Text 6"/>
          <p:cNvSpPr txBox="1"/>
          <p:nvPr/>
        </p:nvSpPr>
        <p:spPr>
          <a:xfrm>
            <a:off x="6355080" y="2523744"/>
            <a:ext cx="2194560" cy="411480"/>
          </a:xfrm>
          <a:prstGeom prst="rect">
            <a:avLst/>
          </a:prstGeom>
          <a:noFill/>
          <a:ln/>
        </p:spPr>
        <p:txBody>
          <a:bodyPr wrap="square" lIns="0" tIns="0" rIns="0" bIns="0" rtlCol="0" anchor="t"/>
          <a:lstStyle/>
          <a:p>
            <a:pPr indent="0" marL="0">
              <a:buNone/>
            </a:pPr>
            <a:r>
              <a:rPr lang="en-US" sz="2000" b="1" dirty="0">
                <a:solidFill>
                  <a:schemeClr val="tx2"/>
                </a:solidFill>
              </a:rPr>
              <a:t>+ 1,900</a:t>
            </a:r>
            <a:endParaRPr lang="en-US" sz="2000" dirty="0"/>
          </a:p>
        </p:txBody>
      </p:sp>
      <p:sp>
        <p:nvSpPr>
          <p:cNvPr id="10" name="Text 7"/>
          <p:cNvSpPr txBox="1"/>
          <p:nvPr/>
        </p:nvSpPr>
        <p:spPr>
          <a:xfrm>
            <a:off x="6355080" y="2926080"/>
            <a:ext cx="2194560" cy="384048"/>
          </a:xfrm>
          <a:prstGeom prst="rect">
            <a:avLst/>
          </a:prstGeom>
          <a:noFill/>
          <a:ln/>
        </p:spPr>
        <p:txBody>
          <a:bodyPr wrap="square" lIns="0" tIns="0" rIns="0" bIns="0" rtlCol="0" anchor="t"/>
          <a:lstStyle/>
          <a:p>
            <a:pPr indent="0" marL="0">
              <a:buNone/>
            </a:pPr>
            <a:r>
              <a:rPr lang="en-US" sz="1100" dirty="0">
                <a:solidFill>
                  <a:schemeClr val="tx1"/>
                </a:solidFill>
              </a:rPr>
              <a:t>public photos of 110 drugs, mixed into training</a:t>
            </a:r>
            <a:endParaRPr lang="en-US" sz="1100" dirty="0"/>
          </a:p>
        </p:txBody>
      </p:sp>
      <p:sp>
        <p:nvSpPr>
          <p:cNvPr id="11" name="Shape 8"/>
          <p:cNvSpPr/>
          <p:nvPr/>
        </p:nvSpPr>
        <p:spPr>
          <a:xfrm>
            <a:off x="6217920" y="3529584"/>
            <a:ext cx="2468880" cy="914400"/>
          </a:xfrm>
          <a:prstGeom prst="roundRect">
            <a:avLst>
              <a:gd name="adj" fmla="val 12000"/>
            </a:avLst>
          </a:prstGeom>
          <a:solidFill>
            <a:schemeClr val="bg2"/>
          </a:solidFill>
          <a:ln/>
        </p:spPr>
        <p:txBody>
          <a:bodyPr/>
          <a:p/>
        </p:txBody>
      </p:sp>
      <p:sp>
        <p:nvSpPr>
          <p:cNvPr id="12" name="Text 9"/>
          <p:cNvSpPr txBox="1"/>
          <p:nvPr/>
        </p:nvSpPr>
        <p:spPr>
          <a:xfrm>
            <a:off x="6355080" y="3602736"/>
            <a:ext cx="2194560" cy="411480"/>
          </a:xfrm>
          <a:prstGeom prst="rect">
            <a:avLst/>
          </a:prstGeom>
          <a:noFill/>
          <a:ln/>
        </p:spPr>
        <p:txBody>
          <a:bodyPr wrap="square" lIns="0" tIns="0" rIns="0" bIns="0" rtlCol="0" anchor="t"/>
          <a:lstStyle/>
          <a:p>
            <a:pPr indent="0" marL="0">
              <a:buNone/>
            </a:pPr>
            <a:r>
              <a:rPr lang="en-US" sz="2000" b="1" dirty="0">
                <a:solidFill>
                  <a:schemeClr val="tx2"/>
                </a:solidFill>
              </a:rPr>
              <a:t>63% → 93%</a:t>
            </a:r>
            <a:endParaRPr lang="en-US" sz="2000" dirty="0"/>
          </a:p>
        </p:txBody>
      </p:sp>
      <p:sp>
        <p:nvSpPr>
          <p:cNvPr id="13" name="Text 10"/>
          <p:cNvSpPr txBox="1"/>
          <p:nvPr/>
        </p:nvSpPr>
        <p:spPr>
          <a:xfrm>
            <a:off x="6355080" y="4005072"/>
            <a:ext cx="2194560" cy="384048"/>
          </a:xfrm>
          <a:prstGeom prst="rect">
            <a:avLst/>
          </a:prstGeom>
          <a:noFill/>
          <a:ln/>
        </p:spPr>
        <p:txBody>
          <a:bodyPr wrap="square" lIns="0" tIns="0" rIns="0" bIns="0" rtlCol="0" anchor="t"/>
          <a:lstStyle/>
          <a:p>
            <a:pPr indent="0" marL="0">
              <a:buNone/>
            </a:pPr>
            <a:r>
              <a:rPr lang="en-US" sz="1100" dirty="0">
                <a:solidFill>
                  <a:schemeClr val="tx1"/>
                </a:solidFill>
              </a:rPr>
              <a:t>on the crowded tray s26 (90 pills)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Minimum viable evaluation</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The Lecture 5 checklist, applied to PillTally</a:t>
            </a:r>
            <a:endParaRPr lang="en-US" sz="1500" dirty="0"/>
          </a:p>
        </p:txBody>
      </p:sp>
      <p:sp>
        <p:nvSpPr>
          <p:cNvPr id="4" name="Shape 2"/>
          <p:cNvSpPr/>
          <p:nvPr/>
        </p:nvSpPr>
        <p:spPr>
          <a:xfrm>
            <a:off x="457200" y="1325880"/>
            <a:ext cx="8229600" cy="713232"/>
          </a:xfrm>
          <a:prstGeom prst="roundRect">
            <a:avLst>
              <a:gd name="adj" fmla="val 15385"/>
            </a:avLst>
          </a:prstGeom>
          <a:solidFill>
            <a:schemeClr val="bg2"/>
          </a:solidFill>
          <a:ln/>
        </p:spPr>
        <p:txBody>
          <a:bodyPr/>
          <a:p/>
        </p:txBody>
      </p:sp>
      <p:sp>
        <p:nvSpPr>
          <p:cNvPr id="5" name="Shape 3"/>
          <p:cNvSpPr/>
          <p:nvPr/>
        </p:nvSpPr>
        <p:spPr>
          <a:xfrm>
            <a:off x="621792" y="1481328"/>
            <a:ext cx="402336" cy="402336"/>
          </a:xfrm>
          <a:prstGeom prst="ellipse">
            <a:avLst/>
          </a:prstGeom>
          <a:solidFill>
            <a:schemeClr val="accent4"/>
          </a:solidFill>
          <a:ln/>
        </p:spPr>
        <p:txBody>
          <a:bodyPr/>
          <a:p/>
        </p:txBody>
      </p:sp>
      <p:pic>
        <p:nvPicPr>
          <p:cNvPr id="6" name="Image 0" descr="preencoded.png">    </p:cNvPr>
          <p:cNvPicPr>
            <a:picLocks noChangeAspect="1"/>
          </p:cNvPicPr>
          <p:nvPr/>
        </p:nvPicPr>
        <p:blipFill>
          <a:blip r:embed="rId1"/>
          <a:stretch>
            <a:fillRect/>
          </a:stretch>
        </p:blipFill>
        <p:spPr>
          <a:xfrm>
            <a:off x="722376" y="1581912"/>
            <a:ext cx="201168" cy="201168"/>
          </a:xfrm>
          <a:prstGeom prst="rect">
            <a:avLst/>
          </a:prstGeom>
        </p:spPr>
      </p:pic>
      <p:sp>
        <p:nvSpPr>
          <p:cNvPr id="7" name="Text 4"/>
          <p:cNvSpPr txBox="1"/>
          <p:nvPr/>
        </p:nvSpPr>
        <p:spPr>
          <a:xfrm>
            <a:off x="1188720" y="1325880"/>
            <a:ext cx="2377440" cy="713232"/>
          </a:xfrm>
          <a:prstGeom prst="rect">
            <a:avLst/>
          </a:prstGeom>
          <a:noFill/>
          <a:ln/>
        </p:spPr>
        <p:txBody>
          <a:bodyPr wrap="square" lIns="0" tIns="0" rIns="0" bIns="0" rtlCol="0" anchor="ctr"/>
          <a:lstStyle/>
          <a:p>
            <a:pPr indent="0" marL="0">
              <a:buNone/>
            </a:pPr>
            <a:r>
              <a:rPr lang="en-US" sz="1400" b="1" dirty="0">
                <a:solidFill>
                  <a:schemeClr val="tx2"/>
                </a:solidFill>
              </a:rPr>
              <a:t>A clearly justified metric</a:t>
            </a:r>
            <a:endParaRPr lang="en-US" sz="1400" dirty="0"/>
          </a:p>
        </p:txBody>
      </p:sp>
      <p:sp>
        <p:nvSpPr>
          <p:cNvPr id="8" name="Text 5"/>
          <p:cNvSpPr txBox="1"/>
          <p:nvPr/>
        </p:nvSpPr>
        <p:spPr>
          <a:xfrm>
            <a:off x="3611880" y="1325880"/>
            <a:ext cx="4937760" cy="713232"/>
          </a:xfrm>
          <a:prstGeom prst="rect">
            <a:avLst/>
          </a:prstGeom>
          <a:noFill/>
          <a:ln/>
        </p:spPr>
        <p:txBody>
          <a:bodyPr wrap="square" lIns="0" tIns="0" rIns="0" bIns="0" rtlCol="0" anchor="ctr"/>
          <a:lstStyle/>
          <a:p>
            <a:pPr indent="0" marL="0">
              <a:buNone/>
            </a:pPr>
            <a:r>
              <a:rPr lang="en-US" sz="1200" dirty="0">
                <a:solidFill>
                  <a:schemeClr val="tx1"/>
                </a:solidFill>
              </a:rPr>
              <a:t>Exact count rate: a pharmacy needs the exact number ("the metric is a product decision"). MAE and relative error show how far off.</a:t>
            </a:r>
            <a:endParaRPr lang="en-US" sz="1200" dirty="0"/>
          </a:p>
        </p:txBody>
      </p:sp>
      <p:sp>
        <p:nvSpPr>
          <p:cNvPr id="9" name="Shape 6"/>
          <p:cNvSpPr/>
          <p:nvPr/>
        </p:nvSpPr>
        <p:spPr>
          <a:xfrm>
            <a:off x="457200" y="2148840"/>
            <a:ext cx="8229600" cy="713232"/>
          </a:xfrm>
          <a:prstGeom prst="roundRect">
            <a:avLst>
              <a:gd name="adj" fmla="val 15385"/>
            </a:avLst>
          </a:prstGeom>
          <a:solidFill>
            <a:schemeClr val="bg2"/>
          </a:solidFill>
          <a:ln/>
        </p:spPr>
        <p:txBody>
          <a:bodyPr/>
          <a:p/>
        </p:txBody>
      </p:sp>
      <p:sp>
        <p:nvSpPr>
          <p:cNvPr id="10" name="Shape 7"/>
          <p:cNvSpPr/>
          <p:nvPr/>
        </p:nvSpPr>
        <p:spPr>
          <a:xfrm>
            <a:off x="621792" y="2304288"/>
            <a:ext cx="402336" cy="402336"/>
          </a:xfrm>
          <a:prstGeom prst="ellipse">
            <a:avLst/>
          </a:prstGeom>
          <a:solidFill>
            <a:schemeClr val="accent4"/>
          </a:solidFill>
          <a:ln/>
        </p:spPr>
        <p:txBody>
          <a:bodyPr/>
          <a:p/>
        </p:txBody>
      </p:sp>
      <p:pic>
        <p:nvPicPr>
          <p:cNvPr id="11" name="Image 1" descr="preencoded.png">    </p:cNvPr>
          <p:cNvPicPr>
            <a:picLocks noChangeAspect="1"/>
          </p:cNvPicPr>
          <p:nvPr/>
        </p:nvPicPr>
        <p:blipFill>
          <a:blip r:embed="rId2"/>
          <a:stretch>
            <a:fillRect/>
          </a:stretch>
        </p:blipFill>
        <p:spPr>
          <a:xfrm>
            <a:off x="722376" y="2404872"/>
            <a:ext cx="201168" cy="201168"/>
          </a:xfrm>
          <a:prstGeom prst="rect">
            <a:avLst/>
          </a:prstGeom>
        </p:spPr>
      </p:pic>
      <p:sp>
        <p:nvSpPr>
          <p:cNvPr id="12" name="Text 8"/>
          <p:cNvSpPr txBox="1"/>
          <p:nvPr/>
        </p:nvSpPr>
        <p:spPr>
          <a:xfrm>
            <a:off x="1188720" y="2148840"/>
            <a:ext cx="2377440" cy="713232"/>
          </a:xfrm>
          <a:prstGeom prst="rect">
            <a:avLst/>
          </a:prstGeom>
          <a:noFill/>
          <a:ln/>
        </p:spPr>
        <p:txBody>
          <a:bodyPr wrap="square" lIns="0" tIns="0" rIns="0" bIns="0" rtlCol="0" anchor="ctr"/>
          <a:lstStyle/>
          <a:p>
            <a:pPr indent="0" marL="0">
              <a:buNone/>
            </a:pPr>
            <a:r>
              <a:rPr lang="en-US" sz="1400" b="1" dirty="0">
                <a:solidFill>
                  <a:schemeClr val="tx2"/>
                </a:solidFill>
              </a:rPr>
              <a:t>A baseline comparison</a:t>
            </a:r>
            <a:endParaRPr lang="en-US" sz="1400" dirty="0"/>
          </a:p>
        </p:txBody>
      </p:sp>
      <p:sp>
        <p:nvSpPr>
          <p:cNvPr id="13" name="Text 9"/>
          <p:cNvSpPr txBox="1"/>
          <p:nvPr/>
        </p:nvSpPr>
        <p:spPr>
          <a:xfrm>
            <a:off x="3611880" y="2148840"/>
            <a:ext cx="4937760" cy="713232"/>
          </a:xfrm>
          <a:prstGeom prst="rect">
            <a:avLst/>
          </a:prstGeom>
          <a:noFill/>
          <a:ln/>
        </p:spPr>
        <p:txBody>
          <a:bodyPr wrap="square" lIns="0" tIns="0" rIns="0" bIns="0" rtlCol="0" anchor="ctr"/>
          <a:lstStyle/>
          <a:p>
            <a:pPr indent="0" marL="0">
              <a:buNone/>
            </a:pPr>
            <a:r>
              <a:rPr lang="en-US" sz="1200" dirty="0">
                <a:solidFill>
                  <a:schemeClr val="tx1"/>
                </a:solidFill>
              </a:rPr>
              <a:t>Predict the mean (L1), simple heuristic (L2), previous versions (L3, L4) vs my model (L5).</a:t>
            </a:r>
            <a:endParaRPr lang="en-US" sz="1200" dirty="0"/>
          </a:p>
        </p:txBody>
      </p:sp>
      <p:sp>
        <p:nvSpPr>
          <p:cNvPr id="14" name="Shape 10"/>
          <p:cNvSpPr/>
          <p:nvPr/>
        </p:nvSpPr>
        <p:spPr>
          <a:xfrm>
            <a:off x="457200" y="2971800"/>
            <a:ext cx="8229600" cy="713232"/>
          </a:xfrm>
          <a:prstGeom prst="roundRect">
            <a:avLst>
              <a:gd name="adj" fmla="val 15385"/>
            </a:avLst>
          </a:prstGeom>
          <a:solidFill>
            <a:schemeClr val="bg2"/>
          </a:solidFill>
          <a:ln/>
        </p:spPr>
        <p:txBody>
          <a:bodyPr/>
          <a:p/>
        </p:txBody>
      </p:sp>
      <p:sp>
        <p:nvSpPr>
          <p:cNvPr id="15" name="Shape 11"/>
          <p:cNvSpPr/>
          <p:nvPr/>
        </p:nvSpPr>
        <p:spPr>
          <a:xfrm>
            <a:off x="621792" y="3127248"/>
            <a:ext cx="402336" cy="402336"/>
          </a:xfrm>
          <a:prstGeom prst="ellipse">
            <a:avLst/>
          </a:prstGeom>
          <a:solidFill>
            <a:schemeClr val="accent2"/>
          </a:solidFill>
          <a:ln/>
        </p:spPr>
        <p:txBody>
          <a:bodyPr/>
          <a:p/>
        </p:txBody>
      </p:sp>
      <p:pic>
        <p:nvPicPr>
          <p:cNvPr id="16" name="Image 2" descr="preencoded.png">    </p:cNvPr>
          <p:cNvPicPr>
            <a:picLocks noChangeAspect="1"/>
          </p:cNvPicPr>
          <p:nvPr/>
        </p:nvPicPr>
        <p:blipFill>
          <a:blip r:embed="rId3"/>
          <a:stretch>
            <a:fillRect/>
          </a:stretch>
        </p:blipFill>
        <p:spPr>
          <a:xfrm>
            <a:off x="722376" y="3227832"/>
            <a:ext cx="201168" cy="201168"/>
          </a:xfrm>
          <a:prstGeom prst="rect">
            <a:avLst/>
          </a:prstGeom>
        </p:spPr>
      </p:pic>
      <p:sp>
        <p:nvSpPr>
          <p:cNvPr id="17" name="Text 12"/>
          <p:cNvSpPr txBox="1"/>
          <p:nvPr/>
        </p:nvSpPr>
        <p:spPr>
          <a:xfrm>
            <a:off x="1188720" y="2971800"/>
            <a:ext cx="2377440" cy="713232"/>
          </a:xfrm>
          <a:prstGeom prst="rect">
            <a:avLst/>
          </a:prstGeom>
          <a:noFill/>
          <a:ln/>
        </p:spPr>
        <p:txBody>
          <a:bodyPr wrap="square" lIns="0" tIns="0" rIns="0" bIns="0" rtlCol="0" anchor="ctr"/>
          <a:lstStyle/>
          <a:p>
            <a:pPr indent="0" marL="0">
              <a:buNone/>
            </a:pPr>
            <a:r>
              <a:rPr lang="en-US" sz="1400" b="1" dirty="0">
                <a:solidFill>
                  <a:schemeClr val="tx2"/>
                </a:solidFill>
              </a:rPr>
              <a:t>Proper evaluation, no leakage</a:t>
            </a:r>
            <a:endParaRPr lang="en-US" sz="1400" dirty="0"/>
          </a:p>
        </p:txBody>
      </p:sp>
      <p:sp>
        <p:nvSpPr>
          <p:cNvPr id="18" name="Text 13"/>
          <p:cNvSpPr txBox="1"/>
          <p:nvPr/>
        </p:nvSpPr>
        <p:spPr>
          <a:xfrm>
            <a:off x="3611880" y="2971800"/>
            <a:ext cx="4937760" cy="713232"/>
          </a:xfrm>
          <a:prstGeom prst="rect">
            <a:avLst/>
          </a:prstGeom>
          <a:noFill/>
          <a:ln/>
        </p:spPr>
        <p:txBody>
          <a:bodyPr wrap="square" lIns="0" tIns="0" rIns="0" bIns="0" rtlCol="0" anchor="ctr"/>
          <a:lstStyle/>
          <a:p>
            <a:pPr indent="0" marL="0">
              <a:buNone/>
            </a:pPr>
            <a:r>
              <a:rPr lang="en-US" sz="1200" dirty="0">
                <a:solidFill>
                  <a:schemeClr val="tx1"/>
                </a:solidFill>
              </a:rPr>
              <a:t>Split by session; thresholds and models chosen on val only; test guarded in code, run once at the end.</a:t>
            </a:r>
            <a:endParaRPr lang="en-US" sz="1200" dirty="0"/>
          </a:p>
        </p:txBody>
      </p:sp>
      <p:sp>
        <p:nvSpPr>
          <p:cNvPr id="19" name="Shape 14"/>
          <p:cNvSpPr/>
          <p:nvPr/>
        </p:nvSpPr>
        <p:spPr>
          <a:xfrm>
            <a:off x="457200" y="3794760"/>
            <a:ext cx="8229600" cy="713232"/>
          </a:xfrm>
          <a:prstGeom prst="roundRect">
            <a:avLst>
              <a:gd name="adj" fmla="val 15385"/>
            </a:avLst>
          </a:prstGeom>
          <a:solidFill>
            <a:schemeClr val="bg2"/>
          </a:solidFill>
          <a:ln/>
        </p:spPr>
        <p:txBody>
          <a:bodyPr/>
          <a:p/>
        </p:txBody>
      </p:sp>
      <p:sp>
        <p:nvSpPr>
          <p:cNvPr id="20" name="Shape 15"/>
          <p:cNvSpPr/>
          <p:nvPr/>
        </p:nvSpPr>
        <p:spPr>
          <a:xfrm>
            <a:off x="621792" y="3950208"/>
            <a:ext cx="402336" cy="402336"/>
          </a:xfrm>
          <a:prstGeom prst="ellipse">
            <a:avLst/>
          </a:prstGeom>
          <a:solidFill>
            <a:schemeClr val="accent2"/>
          </a:solidFill>
          <a:ln/>
        </p:spPr>
        <p:txBody>
          <a:bodyPr/>
          <a:p/>
        </p:txBody>
      </p:sp>
      <p:pic>
        <p:nvPicPr>
          <p:cNvPr id="21" name="Image 3" descr="preencoded.png">    </p:cNvPr>
          <p:cNvPicPr>
            <a:picLocks noChangeAspect="1"/>
          </p:cNvPicPr>
          <p:nvPr/>
        </p:nvPicPr>
        <p:blipFill>
          <a:blip r:embed="rId4"/>
          <a:stretch>
            <a:fillRect/>
          </a:stretch>
        </p:blipFill>
        <p:spPr>
          <a:xfrm>
            <a:off x="722376" y="4050792"/>
            <a:ext cx="201168" cy="201168"/>
          </a:xfrm>
          <a:prstGeom prst="rect">
            <a:avLst/>
          </a:prstGeom>
        </p:spPr>
      </p:pic>
      <p:sp>
        <p:nvSpPr>
          <p:cNvPr id="22" name="Text 16"/>
          <p:cNvSpPr txBox="1"/>
          <p:nvPr/>
        </p:nvSpPr>
        <p:spPr>
          <a:xfrm>
            <a:off x="1188720" y="3794760"/>
            <a:ext cx="2377440" cy="713232"/>
          </a:xfrm>
          <a:prstGeom prst="rect">
            <a:avLst/>
          </a:prstGeom>
          <a:noFill/>
          <a:ln/>
        </p:spPr>
        <p:txBody>
          <a:bodyPr wrap="square" lIns="0" tIns="0" rIns="0" bIns="0" rtlCol="0" anchor="ctr"/>
          <a:lstStyle/>
          <a:p>
            <a:pPr indent="0" marL="0">
              <a:buNone/>
            </a:pPr>
            <a:r>
              <a:rPr lang="en-US" sz="1400" b="1" dirty="0">
                <a:solidFill>
                  <a:schemeClr val="tx2"/>
                </a:solidFill>
              </a:rPr>
              <a:t>Confidence in the results</a:t>
            </a:r>
            <a:endParaRPr lang="en-US" sz="1400" dirty="0"/>
          </a:p>
        </p:txBody>
      </p:sp>
      <p:sp>
        <p:nvSpPr>
          <p:cNvPr id="23" name="Text 17"/>
          <p:cNvSpPr txBox="1"/>
          <p:nvPr/>
        </p:nvSpPr>
        <p:spPr>
          <a:xfrm>
            <a:off x="3611880" y="3794760"/>
            <a:ext cx="4937760" cy="713232"/>
          </a:xfrm>
          <a:prstGeom prst="rect">
            <a:avLst/>
          </a:prstGeom>
          <a:noFill/>
          <a:ln/>
        </p:spPr>
        <p:txBody>
          <a:bodyPr wrap="square" lIns="0" tIns="0" rIns="0" bIns="0" rtlCol="0" anchor="ctr"/>
          <a:lstStyle/>
          <a:p>
            <a:pPr indent="0" marL="0">
              <a:buNone/>
            </a:pPr>
            <a:r>
              <a:rPr lang="en-US" sz="1200" dirty="0">
                <a:solidFill>
                  <a:schemeClr val="tx1"/>
                </a:solidFill>
              </a:rPr>
              <a:t>Bootstrap CIs over whole sessions. With 5 val and 6 test sessions they're wide: more sessions or leave-one-session-out CV next.</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Rules break, a learned model adapts</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Same photo, 39 pills: AI counts 39, the classical method counts 12</a:t>
            </a:r>
            <a:endParaRPr lang="en-US" sz="1500" dirty="0"/>
          </a:p>
        </p:txBody>
      </p:sp>
      <p:pic>
        <p:nvPicPr>
          <p:cNvPr id="4" name="Image 0" descr="/private/tmp/claude-501/-Users-pee-Documents-projectss/830d9427-1c57-4896-95df-e61c1a8daabe/scratchpad/deck/img/ai_s06.jpg">    </p:cNvPr>
          <p:cNvPicPr>
            <a:picLocks noChangeAspect="1"/>
          </p:cNvPicPr>
          <p:nvPr/>
        </p:nvPicPr>
        <p:blipFill>
          <a:blip r:embed="rId1"/>
          <a:stretch>
            <a:fillRect/>
          </a:stretch>
        </p:blipFill>
        <p:spPr>
          <a:xfrm>
            <a:off x="457200" y="1325880"/>
            <a:ext cx="2697480" cy="2697480"/>
          </a:xfrm>
          <a:prstGeom prst="rect">
            <a:avLst/>
          </a:prstGeom>
        </p:spPr>
      </p:pic>
      <p:pic>
        <p:nvPicPr>
          <p:cNvPr id="5" name="Image 1" descr="/private/tmp/claude-501/-Users-pee-Documents-projectss/830d9427-1c57-4896-95df-e61c1a8daabe/scratchpad/deck/img/classical_s06.jpg">    </p:cNvPr>
          <p:cNvPicPr>
            <a:picLocks noChangeAspect="1"/>
          </p:cNvPicPr>
          <p:nvPr/>
        </p:nvPicPr>
        <p:blipFill>
          <a:blip r:embed="rId2"/>
          <a:stretch>
            <a:fillRect/>
          </a:stretch>
        </p:blipFill>
        <p:spPr>
          <a:xfrm>
            <a:off x="3337560" y="1325880"/>
            <a:ext cx="2697480" cy="2697480"/>
          </a:xfrm>
          <a:prstGeom prst="rect">
            <a:avLst/>
          </a:prstGeom>
        </p:spPr>
      </p:pic>
      <p:sp>
        <p:nvSpPr>
          <p:cNvPr id="6" name="Text 2"/>
          <p:cNvSpPr txBox="1"/>
          <p:nvPr/>
        </p:nvSpPr>
        <p:spPr>
          <a:xfrm>
            <a:off x="457200" y="4160520"/>
            <a:ext cx="269748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AI (L5): 39 / 39</a:t>
            </a:r>
            <a:endParaRPr lang="en-US" sz="1200" dirty="0"/>
          </a:p>
        </p:txBody>
      </p:sp>
      <p:sp>
        <p:nvSpPr>
          <p:cNvPr id="7" name="Text 3"/>
          <p:cNvSpPr txBox="1"/>
          <p:nvPr/>
        </p:nvSpPr>
        <p:spPr>
          <a:xfrm>
            <a:off x="3337560" y="4160520"/>
            <a:ext cx="269748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Classical (L2): 12 / 39</a:t>
            </a:r>
            <a:endParaRPr lang="en-US" sz="1200" dirty="0"/>
          </a:p>
        </p:txBody>
      </p:sp>
      <p:sp>
        <p:nvSpPr>
          <p:cNvPr id="8" name="Text 4"/>
          <p:cNvSpPr txBox="1"/>
          <p:nvPr/>
        </p:nvSpPr>
        <p:spPr>
          <a:xfrm>
            <a:off x="6355080" y="1325880"/>
            <a:ext cx="2331720" cy="320040"/>
          </a:xfrm>
          <a:prstGeom prst="rect">
            <a:avLst/>
          </a:prstGeom>
          <a:noFill/>
          <a:ln/>
        </p:spPr>
        <p:txBody>
          <a:bodyPr wrap="square" lIns="0" tIns="0" rIns="0" bIns="0" rtlCol="0" anchor="t"/>
          <a:lstStyle/>
          <a:p>
            <a:pPr indent="0" marL="0">
              <a:buNone/>
            </a:pPr>
            <a:r>
              <a:rPr lang="en-US" sz="1500" b="1" dirty="0">
                <a:solidFill>
                  <a:schemeClr val="tx2"/>
                </a:solidFill>
              </a:rPr>
              <a:t>Why the rules fail</a:t>
            </a:r>
            <a:endParaRPr lang="en-US" sz="1500" dirty="0"/>
          </a:p>
        </p:txBody>
      </p:sp>
      <p:sp>
        <p:nvSpPr>
          <p:cNvPr id="9" name="Text 5"/>
          <p:cNvSpPr txBox="1"/>
          <p:nvPr/>
        </p:nvSpPr>
        <p:spPr>
          <a:xfrm>
            <a:off x="6355080" y="1737360"/>
            <a:ext cx="233172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Shadows join each pill into one long blob</a:t>
            </a:r>
            <a:endParaRPr lang="en-US" sz="1300" dirty="0"/>
          </a:p>
          <a:p>
            <a:pPr marL="342900" indent="-342900">
              <a:spcAft>
                <a:spcPts val="600"/>
              </a:spcAft>
              <a:buSzPct val="100000"/>
              <a:buChar char="•"/>
            </a:pPr>
            <a:r>
              <a:rPr lang="en-US" sz="1300" dirty="0">
                <a:solidFill>
                  <a:schemeClr val="tx1"/>
                </a:solidFill>
              </a:rPr>
              <a:t>Touching pills merge into one region</a:t>
            </a:r>
            <a:endParaRPr lang="en-US" sz="1300" dirty="0"/>
          </a:p>
          <a:p>
            <a:pPr marL="342900" indent="-342900">
              <a:spcAft>
                <a:spcPts val="600"/>
              </a:spcAft>
              <a:buSzPct val="100000"/>
              <a:buChar char="•"/>
            </a:pPr>
            <a:r>
              <a:rPr lang="en-US" sz="1300" dirty="0">
                <a:solidFill>
                  <a:schemeClr val="tx1"/>
                </a:solidFill>
              </a:rPr>
              <a:t>Farther away, pills are smaller than the tuned size, so most are ignored</a:t>
            </a:r>
            <a:endParaRPr lang="en-US" sz="1300" dirty="0"/>
          </a:p>
        </p:txBody>
      </p:sp>
      <p:sp>
        <p:nvSpPr>
          <p:cNvPr id="10" name="Text 6"/>
          <p:cNvSpPr txBox="1"/>
          <p:nvPr/>
        </p:nvSpPr>
        <p:spPr>
          <a:xfrm>
            <a:off x="6355080" y="3794760"/>
            <a:ext cx="2331720" cy="685800"/>
          </a:xfrm>
          <a:prstGeom prst="rect">
            <a:avLst/>
          </a:prstGeom>
          <a:noFill/>
          <a:ln/>
        </p:spPr>
        <p:txBody>
          <a:bodyPr wrap="square" lIns="0" tIns="0" rIns="0" bIns="0" rtlCol="0" anchor="t"/>
          <a:lstStyle/>
          <a:p>
            <a:pPr indent="0" marL="0">
              <a:buNone/>
            </a:pPr>
            <a:r>
              <a:rPr lang="en-US" sz="1100" i="1" dirty="0">
                <a:solidFill>
                  <a:schemeClr val="tx1"/>
                </a:solidFill>
              </a:rPr>
              <a:t>Orange boxes: the AI is unsure and asks the pharmacist to check those</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Local data fixed the granite problem</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Session s05, 37 pills on granite: v4 alone counts 35, after fine-tuning 37</a:t>
            </a:r>
            <a:endParaRPr lang="en-US" sz="1500" dirty="0"/>
          </a:p>
        </p:txBody>
      </p:sp>
      <p:pic>
        <p:nvPicPr>
          <p:cNvPr id="4" name="Image 0" descr="/private/tmp/claude-501/-Users-pee-Documents-projectss/830d9427-1c57-4896-95df-e61c1a8daabe/scratchpad/deck/img/v4_s05.jpg">    </p:cNvPr>
          <p:cNvPicPr>
            <a:picLocks noChangeAspect="1"/>
          </p:cNvPicPr>
          <p:nvPr/>
        </p:nvPicPr>
        <p:blipFill>
          <a:blip r:embed="rId1"/>
          <a:stretch>
            <a:fillRect/>
          </a:stretch>
        </p:blipFill>
        <p:spPr>
          <a:xfrm>
            <a:off x="457200" y="1325880"/>
            <a:ext cx="2697480" cy="2697480"/>
          </a:xfrm>
          <a:prstGeom prst="rect">
            <a:avLst/>
          </a:prstGeom>
        </p:spPr>
      </p:pic>
      <p:pic>
        <p:nvPicPr>
          <p:cNvPr id="5" name="Image 1" descr="/private/tmp/claude-501/-Users-pee-Documents-projectss/830d9427-1c57-4896-95df-e61c1a8daabe/scratchpad/deck/img/thai_s05.jpg">    </p:cNvPr>
          <p:cNvPicPr>
            <a:picLocks noChangeAspect="1"/>
          </p:cNvPicPr>
          <p:nvPr/>
        </p:nvPicPr>
        <p:blipFill>
          <a:blip r:embed="rId2"/>
          <a:stretch>
            <a:fillRect/>
          </a:stretch>
        </p:blipFill>
        <p:spPr>
          <a:xfrm>
            <a:off x="3337560" y="1325880"/>
            <a:ext cx="2697480" cy="2697480"/>
          </a:xfrm>
          <a:prstGeom prst="rect">
            <a:avLst/>
          </a:prstGeom>
        </p:spPr>
      </p:pic>
      <p:sp>
        <p:nvSpPr>
          <p:cNvPr id="6" name="Text 2"/>
          <p:cNvSpPr txBox="1"/>
          <p:nvPr/>
        </p:nvSpPr>
        <p:spPr>
          <a:xfrm>
            <a:off x="457200" y="4160520"/>
            <a:ext cx="2697480" cy="292608"/>
          </a:xfrm>
          <a:prstGeom prst="roundRect">
            <a:avLst>
              <a:gd name="adj" fmla="val 50000"/>
            </a:avLst>
          </a:prstGeom>
          <a:solidFill>
            <a:schemeClr val="accent6"/>
          </a:solidFill>
          <a:ln/>
        </p:spPr>
        <p:txBody>
          <a:bodyPr wrap="square" lIns="0" tIns="0" rIns="0" bIns="0" rtlCol="0" anchor="ctr"/>
          <a:lstStyle/>
          <a:p>
            <a:pPr algn="ctr" indent="0" marL="0">
              <a:buNone/>
            </a:pPr>
            <a:r>
              <a:rPr lang="en-US" sz="1200" b="1" dirty="0">
                <a:solidFill>
                  <a:schemeClr val="bg1"/>
                </a:solidFill>
              </a:rPr>
              <a:t>v4 only (L4): 35 / 37</a:t>
            </a:r>
            <a:endParaRPr lang="en-US" sz="1200" dirty="0"/>
          </a:p>
        </p:txBody>
      </p:sp>
      <p:sp>
        <p:nvSpPr>
          <p:cNvPr id="7" name="Text 3"/>
          <p:cNvSpPr txBox="1"/>
          <p:nvPr/>
        </p:nvSpPr>
        <p:spPr>
          <a:xfrm>
            <a:off x="3337560" y="4160520"/>
            <a:ext cx="269748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Fine-tuned (L5): 37 / 37</a:t>
            </a:r>
            <a:endParaRPr lang="en-US" sz="1200" dirty="0"/>
          </a:p>
        </p:txBody>
      </p:sp>
      <p:sp>
        <p:nvSpPr>
          <p:cNvPr id="8" name="Text 4"/>
          <p:cNvSpPr txBox="1"/>
          <p:nvPr/>
        </p:nvSpPr>
        <p:spPr>
          <a:xfrm>
            <a:off x="6355080" y="1325880"/>
            <a:ext cx="2331720" cy="502920"/>
          </a:xfrm>
          <a:prstGeom prst="rect">
            <a:avLst/>
          </a:prstGeom>
          <a:noFill/>
          <a:ln/>
        </p:spPr>
        <p:txBody>
          <a:bodyPr wrap="square" lIns="0" tIns="0" rIns="0" bIns="0" rtlCol="0" anchor="t"/>
          <a:lstStyle/>
          <a:p>
            <a:pPr indent="0" marL="0">
              <a:buNone/>
            </a:pPr>
            <a:r>
              <a:rPr lang="en-US" sz="1300" b="1" dirty="0">
                <a:solidFill>
                  <a:schemeClr val="tx2"/>
                </a:solidFill>
              </a:rPr>
              <a:t>v4 on all 50 of my photos, no Thai training</a:t>
            </a:r>
            <a:endParaRPr lang="en-US" sz="1300" dirty="0"/>
          </a:p>
        </p:txBody>
      </p:sp>
      <p:sp>
        <p:nvSpPr>
          <p:cNvPr id="9" name="Text 5"/>
          <p:cNvSpPr txBox="1"/>
          <p:nvPr/>
        </p:nvSpPr>
        <p:spPr>
          <a:xfrm>
            <a:off x="6355080" y="1828800"/>
            <a:ext cx="2331720" cy="640080"/>
          </a:xfrm>
          <a:prstGeom prst="rect">
            <a:avLst/>
          </a:prstGeom>
          <a:noFill/>
          <a:ln/>
        </p:spPr>
        <p:txBody>
          <a:bodyPr wrap="square" lIns="0" tIns="0" rIns="0" bIns="0" rtlCol="0" anchor="t"/>
          <a:lstStyle/>
          <a:p>
            <a:pPr indent="0" marL="0">
              <a:buNone/>
            </a:pPr>
            <a:r>
              <a:rPr lang="en-US" sz="4000" b="1" dirty="0">
                <a:solidFill>
                  <a:schemeClr val="accent6"/>
                </a:solidFill>
              </a:rPr>
              <a:t>68%</a:t>
            </a:r>
            <a:endParaRPr lang="en-US" sz="4000" dirty="0"/>
          </a:p>
        </p:txBody>
      </p:sp>
      <p:sp>
        <p:nvSpPr>
          <p:cNvPr id="10" name="Text 6"/>
          <p:cNvSpPr txBox="1"/>
          <p:nvPr/>
        </p:nvSpPr>
        <p:spPr>
          <a:xfrm>
            <a:off x="6355080" y="2468880"/>
            <a:ext cx="2331720" cy="1188720"/>
          </a:xfrm>
          <a:prstGeom prst="rect">
            <a:avLst/>
          </a:prstGeom>
          <a:noFill/>
          <a:ln/>
        </p:spPr>
        <p:txBody>
          <a:bodyPr wrap="square" lIns="0" tIns="0" rIns="0" bIns="0" rtlCol="0" anchor="t"/>
          <a:lstStyle/>
          <a:p>
            <a:pPr indent="0" marL="0">
              <a:buNone/>
            </a:pPr>
            <a:r>
              <a:rPr lang="en-US" sz="1200" dirty="0">
                <a:solidFill>
                  <a:schemeClr val="tx1"/>
                </a:solidFill>
              </a:rPr>
              <a:t>exact. Plain surfaces 24 / 25 exact; every error on granite: specks counted, real pills scored too low</a:t>
            </a:r>
            <a:endParaRPr lang="en-US" sz="1200" dirty="0"/>
          </a:p>
        </p:txBody>
      </p:sp>
      <p:sp>
        <p:nvSpPr>
          <p:cNvPr id="11" name="Text 7"/>
          <p:cNvSpPr txBox="1"/>
          <p:nvPr/>
        </p:nvSpPr>
        <p:spPr>
          <a:xfrm>
            <a:off x="6355080" y="3794760"/>
            <a:ext cx="2331720" cy="685800"/>
          </a:xfrm>
          <a:prstGeom prst="rect">
            <a:avLst/>
          </a:prstGeom>
          <a:noFill/>
          <a:ln/>
        </p:spPr>
        <p:txBody>
          <a:bodyPr wrap="square" lIns="0" tIns="0" rIns="0" bIns="0" rtlCol="0" anchor="t"/>
          <a:lstStyle/>
          <a:p>
            <a:pPr indent="0" marL="0">
              <a:buNone/>
            </a:pPr>
            <a:r>
              <a:rPr lang="en-US" sz="1100" i="1" dirty="0">
                <a:solidFill>
                  <a:schemeClr val="accent6"/>
                </a:solidFill>
              </a:rPr>
              <a:t>s05 is a training session: shown to explain, not as a score</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Three shortcuts, three fixes</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Each time the form classifier scored near 100%, a harder test showed it was cheating</a:t>
            </a:r>
            <a:endParaRPr lang="en-US" sz="1500" dirty="0"/>
          </a:p>
        </p:txBody>
      </p:sp>
      <p:sp>
        <p:nvSpPr>
          <p:cNvPr id="4" name="Shape 2"/>
          <p:cNvSpPr/>
          <p:nvPr/>
        </p:nvSpPr>
        <p:spPr>
          <a:xfrm>
            <a:off x="457200" y="1325880"/>
            <a:ext cx="2606040" cy="3291840"/>
          </a:xfrm>
          <a:prstGeom prst="roundRect">
            <a:avLst>
              <a:gd name="adj" fmla="val 4211"/>
            </a:avLst>
          </a:prstGeom>
          <a:solidFill>
            <a:schemeClr val="bg2"/>
          </a:solidFill>
          <a:ln/>
        </p:spPr>
      </p:sp>
      <p:sp>
        <p:nvSpPr>
          <p:cNvPr id="5" name="Shape 3"/>
          <p:cNvSpPr/>
          <p:nvPr/>
        </p:nvSpPr>
        <p:spPr>
          <a:xfrm>
            <a:off x="594360" y="1444752"/>
            <a:ext cx="457200" cy="45720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708660" y="1559052"/>
            <a:ext cx="228600" cy="228600"/>
          </a:xfrm>
          <a:prstGeom prst="rect">
            <a:avLst/>
          </a:prstGeom>
        </p:spPr>
      </p:pic>
      <p:sp>
        <p:nvSpPr>
          <p:cNvPr id="7" name="Text 4"/>
          <p:cNvSpPr txBox="1"/>
          <p:nvPr/>
        </p:nvSpPr>
        <p:spPr>
          <a:xfrm>
            <a:off x="1143000" y="1463040"/>
            <a:ext cx="1828800" cy="411480"/>
          </a:xfrm>
          <a:prstGeom prst="rect">
            <a:avLst/>
          </a:prstGeom>
          <a:noFill/>
          <a:ln/>
        </p:spPr>
        <p:txBody>
          <a:bodyPr wrap="square" lIns="0" tIns="0" rIns="0" bIns="0" rtlCol="0" anchor="ctr"/>
          <a:lstStyle/>
          <a:p>
            <a:pPr indent="0" marL="0">
              <a:buNone/>
            </a:pPr>
            <a:r>
              <a:rPr lang="en-US" sz="1600" b="1" dirty="0">
                <a:solidFill>
                  <a:schemeClr val="tx2"/>
                </a:solidFill>
              </a:rPr>
              <a:t>Background</a:t>
            </a:r>
            <a:endParaRPr lang="en-US" sz="1600" dirty="0"/>
          </a:p>
        </p:txBody>
      </p:sp>
      <p:sp>
        <p:nvSpPr>
          <p:cNvPr id="8" name="Text 5"/>
          <p:cNvSpPr txBox="1"/>
          <p:nvPr/>
        </p:nvSpPr>
        <p:spPr>
          <a:xfrm>
            <a:off x="594360" y="2011680"/>
            <a:ext cx="2331720" cy="731520"/>
          </a:xfrm>
          <a:prstGeom prst="rect">
            <a:avLst/>
          </a:prstGeom>
          <a:noFill/>
          <a:ln/>
        </p:spPr>
        <p:txBody>
          <a:bodyPr wrap="square" lIns="0" tIns="0" rIns="0" bIns="0" rtlCol="0" anchor="t"/>
          <a:lstStyle/>
          <a:p>
            <a:pPr indent="0" marL="0">
              <a:buNone/>
            </a:pPr>
            <a:r>
              <a:rPr lang="en-US" sz="1100" dirty="0">
                <a:solidFill>
                  <a:schemeClr val="tx1"/>
                </a:solidFill>
              </a:rPr>
              <a:t>A blue pill among white ones was called white 89% of the time</a:t>
            </a:r>
            <a:endParaRPr lang="en-US" sz="1100" dirty="0"/>
          </a:p>
        </p:txBody>
      </p:sp>
      <p:sp>
        <p:nvSpPr>
          <p:cNvPr id="9" name="Text 6"/>
          <p:cNvSpPr txBox="1"/>
          <p:nvPr/>
        </p:nvSpPr>
        <p:spPr>
          <a:xfrm>
            <a:off x="594360" y="2761488"/>
            <a:ext cx="2331720" cy="502920"/>
          </a:xfrm>
          <a:prstGeom prst="rect">
            <a:avLst/>
          </a:prstGeom>
          <a:noFill/>
          <a:ln/>
        </p:spPr>
        <p:txBody>
          <a:bodyPr wrap="square" lIns="0" tIns="0" rIns="0" bIns="0" rtlCol="0" anchor="t"/>
          <a:lstStyle/>
          <a:p>
            <a:pPr indent="0" marL="0">
              <a:buNone/>
            </a:pPr>
            <a:r>
              <a:rPr lang="en-US" sz="1100" i="1" dirty="0">
                <a:solidFill>
                  <a:schemeClr val="accent6"/>
                </a:solidFill>
              </a:rPr>
              <a:t>Found by: pasting a pill onto another background</a:t>
            </a:r>
            <a:endParaRPr lang="en-US" sz="1100" dirty="0"/>
          </a:p>
        </p:txBody>
      </p:sp>
      <p:sp>
        <p:nvSpPr>
          <p:cNvPr id="10" name="Text 7"/>
          <p:cNvSpPr txBox="1"/>
          <p:nvPr/>
        </p:nvSpPr>
        <p:spPr>
          <a:xfrm>
            <a:off x="594360" y="3291840"/>
            <a:ext cx="2331720" cy="457200"/>
          </a:xfrm>
          <a:prstGeom prst="rect">
            <a:avLst/>
          </a:prstGeom>
          <a:noFill/>
          <a:ln/>
        </p:spPr>
        <p:txBody>
          <a:bodyPr wrap="square" lIns="0" tIns="0" rIns="0" bIns="0" rtlCol="0" anchor="t"/>
          <a:lstStyle/>
          <a:p>
            <a:pPr indent="0" marL="0">
              <a:buNone/>
            </a:pPr>
            <a:r>
              <a:rPr lang="en-US" sz="1200" b="1" dirty="0">
                <a:solidFill>
                  <a:schemeClr val="tx1"/>
                </a:solidFill>
              </a:rPr>
              <a:t>Fix: mask everything but the pill</a:t>
            </a:r>
            <a:endParaRPr lang="en-US" sz="1200" dirty="0"/>
          </a:p>
        </p:txBody>
      </p:sp>
      <p:sp>
        <p:nvSpPr>
          <p:cNvPr id="11" name="Text 8"/>
          <p:cNvSpPr txBox="1"/>
          <p:nvPr/>
        </p:nvSpPr>
        <p:spPr>
          <a:xfrm>
            <a:off x="594360" y="4114800"/>
            <a:ext cx="233172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11% → 100%</a:t>
            </a:r>
            <a:endParaRPr lang="en-US" sz="1200" dirty="0"/>
          </a:p>
        </p:txBody>
      </p:sp>
      <p:sp>
        <p:nvSpPr>
          <p:cNvPr id="12" name="Shape 9"/>
          <p:cNvSpPr/>
          <p:nvPr/>
        </p:nvSpPr>
        <p:spPr>
          <a:xfrm>
            <a:off x="3246120" y="1325880"/>
            <a:ext cx="2606040" cy="3291840"/>
          </a:xfrm>
          <a:prstGeom prst="roundRect">
            <a:avLst>
              <a:gd name="adj" fmla="val 4211"/>
            </a:avLst>
          </a:prstGeom>
          <a:solidFill>
            <a:schemeClr val="bg2"/>
          </a:solidFill>
          <a:ln/>
        </p:spPr>
      </p:sp>
      <p:sp>
        <p:nvSpPr>
          <p:cNvPr id="13" name="Shape 10"/>
          <p:cNvSpPr/>
          <p:nvPr/>
        </p:nvSpPr>
        <p:spPr>
          <a:xfrm>
            <a:off x="3383280" y="1444752"/>
            <a:ext cx="457200" cy="457200"/>
          </a:xfrm>
          <a:prstGeom prst="ellipse">
            <a:avLst/>
          </a:prstGeom>
          <a:solidFill>
            <a:schemeClr val="accent2"/>
          </a:solidFill>
          <a:ln/>
        </p:spPr>
      </p:sp>
      <p:pic>
        <p:nvPicPr>
          <p:cNvPr id="14" name="Image 1" descr="preencoded.png">    </p:cNvPr>
          <p:cNvPicPr>
            <a:picLocks noChangeAspect="1"/>
          </p:cNvPicPr>
          <p:nvPr/>
        </p:nvPicPr>
        <p:blipFill>
          <a:blip r:embed="rId2"/>
          <a:stretch>
            <a:fillRect/>
          </a:stretch>
        </p:blipFill>
        <p:spPr>
          <a:xfrm>
            <a:off x="3497580" y="1559052"/>
            <a:ext cx="228600" cy="228600"/>
          </a:xfrm>
          <a:prstGeom prst="rect">
            <a:avLst/>
          </a:prstGeom>
        </p:spPr>
      </p:pic>
      <p:sp>
        <p:nvSpPr>
          <p:cNvPr id="15" name="Text 11"/>
          <p:cNvSpPr txBox="1"/>
          <p:nvPr/>
        </p:nvSpPr>
        <p:spPr>
          <a:xfrm>
            <a:off x="3931920" y="1463040"/>
            <a:ext cx="1828800" cy="411480"/>
          </a:xfrm>
          <a:prstGeom prst="rect">
            <a:avLst/>
          </a:prstGeom>
          <a:noFill/>
          <a:ln/>
        </p:spPr>
        <p:txBody>
          <a:bodyPr wrap="square" lIns="0" tIns="0" rIns="0" bIns="0" rtlCol="0" anchor="ctr"/>
          <a:lstStyle/>
          <a:p>
            <a:pPr indent="0" marL="0">
              <a:buNone/>
            </a:pPr>
            <a:r>
              <a:rPr lang="en-US" sz="1600" b="1" dirty="0">
                <a:solidFill>
                  <a:schemeClr val="tx2"/>
                </a:solidFill>
              </a:rPr>
              <a:t>Lighting</a:t>
            </a:r>
            <a:endParaRPr lang="en-US" sz="1600" dirty="0"/>
          </a:p>
        </p:txBody>
      </p:sp>
      <p:sp>
        <p:nvSpPr>
          <p:cNvPr id="16" name="Text 12"/>
          <p:cNvSpPr txBox="1"/>
          <p:nvPr/>
        </p:nvSpPr>
        <p:spPr>
          <a:xfrm>
            <a:off x="3383280" y="2011680"/>
            <a:ext cx="2331720" cy="731520"/>
          </a:xfrm>
          <a:prstGeom prst="rect">
            <a:avLst/>
          </a:prstGeom>
          <a:noFill/>
          <a:ln/>
        </p:spPr>
        <p:txBody>
          <a:bodyPr wrap="square" lIns="0" tIns="0" rIns="0" bIns="0" rtlCol="0" anchor="t"/>
          <a:lstStyle/>
          <a:p>
            <a:pPr indent="0" marL="0">
              <a:buNone/>
            </a:pPr>
            <a:r>
              <a:rPr lang="en-US" sz="1100" dirty="0">
                <a:solidFill>
                  <a:schemeClr val="tx1"/>
                </a:solidFill>
              </a:rPr>
              <a:t>All caplets were shot on one floor, no tablets were: tablets on it became "caplet"</a:t>
            </a:r>
            <a:endParaRPr lang="en-US" sz="1100" dirty="0"/>
          </a:p>
        </p:txBody>
      </p:sp>
      <p:sp>
        <p:nvSpPr>
          <p:cNvPr id="17" name="Text 13"/>
          <p:cNvSpPr txBox="1"/>
          <p:nvPr/>
        </p:nvSpPr>
        <p:spPr>
          <a:xfrm>
            <a:off x="3383280" y="2761488"/>
            <a:ext cx="2331720" cy="502920"/>
          </a:xfrm>
          <a:prstGeom prst="rect">
            <a:avLst/>
          </a:prstGeom>
          <a:noFill/>
          <a:ln/>
        </p:spPr>
        <p:txBody>
          <a:bodyPr wrap="square" lIns="0" tIns="0" rIns="0" bIns="0" rtlCol="0" anchor="t"/>
          <a:lstStyle/>
          <a:p>
            <a:pPr indent="0" marL="0">
              <a:buNone/>
            </a:pPr>
            <a:r>
              <a:rPr lang="en-US" sz="1100" i="1" dirty="0">
                <a:solidFill>
                  <a:schemeClr val="accent6"/>
                </a:solidFill>
              </a:rPr>
              <a:t>Found by: the real mixed tray (pasted test missed it)</a:t>
            </a:r>
            <a:endParaRPr lang="en-US" sz="1100" dirty="0"/>
          </a:p>
        </p:txBody>
      </p:sp>
      <p:sp>
        <p:nvSpPr>
          <p:cNvPr id="18" name="Text 14"/>
          <p:cNvSpPr txBox="1"/>
          <p:nvPr/>
        </p:nvSpPr>
        <p:spPr>
          <a:xfrm>
            <a:off x="3383280" y="3291840"/>
            <a:ext cx="2331720" cy="457200"/>
          </a:xfrm>
          <a:prstGeom prst="rect">
            <a:avLst/>
          </a:prstGeom>
          <a:noFill/>
          <a:ln/>
        </p:spPr>
        <p:txBody>
          <a:bodyPr wrap="square" lIns="0" tIns="0" rIns="0" bIns="0" rtlCol="0" anchor="t"/>
          <a:lstStyle/>
          <a:p>
            <a:pPr indent="0" marL="0">
              <a:buNone/>
            </a:pPr>
            <a:r>
              <a:rPr lang="en-US" sz="1200" b="1" dirty="0">
                <a:solidFill>
                  <a:schemeClr val="tx1"/>
                </a:solidFill>
              </a:rPr>
              <a:t>Fix: photograph tablets on that floor</a:t>
            </a:r>
            <a:endParaRPr lang="en-US" sz="1200" dirty="0"/>
          </a:p>
        </p:txBody>
      </p:sp>
      <p:sp>
        <p:nvSpPr>
          <p:cNvPr id="19" name="Text 15"/>
          <p:cNvSpPr txBox="1"/>
          <p:nvPr/>
        </p:nvSpPr>
        <p:spPr>
          <a:xfrm>
            <a:off x="3383280" y="4114800"/>
            <a:ext cx="233172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0 → 18 of 20 photos</a:t>
            </a:r>
            <a:endParaRPr lang="en-US" sz="1200" dirty="0"/>
          </a:p>
        </p:txBody>
      </p:sp>
      <p:sp>
        <p:nvSpPr>
          <p:cNvPr id="20" name="Shape 16"/>
          <p:cNvSpPr/>
          <p:nvPr/>
        </p:nvSpPr>
        <p:spPr>
          <a:xfrm>
            <a:off x="6035040" y="1325880"/>
            <a:ext cx="2606040" cy="3291840"/>
          </a:xfrm>
          <a:prstGeom prst="roundRect">
            <a:avLst>
              <a:gd name="adj" fmla="val 4211"/>
            </a:avLst>
          </a:prstGeom>
          <a:solidFill>
            <a:schemeClr val="bg2"/>
          </a:solidFill>
          <a:ln/>
        </p:spPr>
      </p:sp>
      <p:sp>
        <p:nvSpPr>
          <p:cNvPr id="21" name="Shape 17"/>
          <p:cNvSpPr/>
          <p:nvPr/>
        </p:nvSpPr>
        <p:spPr>
          <a:xfrm>
            <a:off x="6172200" y="1444752"/>
            <a:ext cx="457200" cy="457200"/>
          </a:xfrm>
          <a:prstGeom prst="ellipse">
            <a:avLst/>
          </a:prstGeom>
          <a:solidFill>
            <a:schemeClr val="accent2"/>
          </a:solidFill>
          <a:ln/>
        </p:spPr>
      </p:sp>
      <p:pic>
        <p:nvPicPr>
          <p:cNvPr id="22" name="Image 2" descr="preencoded.png">    </p:cNvPr>
          <p:cNvPicPr>
            <a:picLocks noChangeAspect="1"/>
          </p:cNvPicPr>
          <p:nvPr/>
        </p:nvPicPr>
        <p:blipFill>
          <a:blip r:embed="rId3"/>
          <a:stretch>
            <a:fillRect/>
          </a:stretch>
        </p:blipFill>
        <p:spPr>
          <a:xfrm>
            <a:off x="6286500" y="1559052"/>
            <a:ext cx="228600" cy="228600"/>
          </a:xfrm>
          <a:prstGeom prst="rect">
            <a:avLst/>
          </a:prstGeom>
        </p:spPr>
      </p:pic>
      <p:sp>
        <p:nvSpPr>
          <p:cNvPr id="23" name="Text 18"/>
          <p:cNvSpPr txBox="1"/>
          <p:nvPr/>
        </p:nvSpPr>
        <p:spPr>
          <a:xfrm>
            <a:off x="6720840" y="1463040"/>
            <a:ext cx="1828800" cy="411480"/>
          </a:xfrm>
          <a:prstGeom prst="rect">
            <a:avLst/>
          </a:prstGeom>
          <a:noFill/>
          <a:ln/>
        </p:spPr>
        <p:txBody>
          <a:bodyPr wrap="square" lIns="0" tIns="0" rIns="0" bIns="0" rtlCol="0" anchor="ctr"/>
          <a:lstStyle/>
          <a:p>
            <a:pPr indent="0" marL="0">
              <a:buNone/>
            </a:pPr>
            <a:r>
              <a:rPr lang="en-US" sz="1600" b="1" dirty="0">
                <a:solidFill>
                  <a:schemeClr val="tx2"/>
                </a:solidFill>
              </a:rPr>
              <a:t>Box size</a:t>
            </a:r>
            <a:endParaRPr lang="en-US" sz="1600" dirty="0"/>
          </a:p>
        </p:txBody>
      </p:sp>
      <p:sp>
        <p:nvSpPr>
          <p:cNvPr id="24" name="Text 19"/>
          <p:cNvSpPr txBox="1"/>
          <p:nvPr/>
        </p:nvSpPr>
        <p:spPr>
          <a:xfrm>
            <a:off x="6172200" y="2011680"/>
            <a:ext cx="2331720" cy="731520"/>
          </a:xfrm>
          <a:prstGeom prst="rect">
            <a:avLst/>
          </a:prstGeom>
          <a:noFill/>
          <a:ln/>
        </p:spPr>
        <p:txBody>
          <a:bodyPr wrap="square" lIns="0" tIns="0" rIns="0" bIns="0" rtlCol="0" anchor="t"/>
          <a:lstStyle/>
          <a:p>
            <a:pPr indent="0" marL="0">
              <a:buNone/>
            </a:pPr>
            <a:r>
              <a:rPr lang="en-US" sz="1100" dirty="0">
                <a:solidFill>
                  <a:schemeClr val="tx1"/>
                </a:solidFill>
              </a:rPr>
              <a:t>Trained on hand-drawn boxes, confused by the counter's slightly different boxes</a:t>
            </a:r>
            <a:endParaRPr lang="en-US" sz="1100" dirty="0"/>
          </a:p>
        </p:txBody>
      </p:sp>
      <p:sp>
        <p:nvSpPr>
          <p:cNvPr id="25" name="Text 20"/>
          <p:cNvSpPr txBox="1"/>
          <p:nvPr/>
        </p:nvSpPr>
        <p:spPr>
          <a:xfrm>
            <a:off x="6172200" y="2761488"/>
            <a:ext cx="2331720" cy="502920"/>
          </a:xfrm>
          <a:prstGeom prst="rect">
            <a:avLst/>
          </a:prstGeom>
          <a:noFill/>
          <a:ln/>
        </p:spPr>
        <p:txBody>
          <a:bodyPr wrap="square" lIns="0" tIns="0" rIns="0" bIns="0" rtlCol="0" anchor="t"/>
          <a:lstStyle/>
          <a:p>
            <a:pPr indent="0" marL="0">
              <a:buNone/>
            </a:pPr>
            <a:r>
              <a:rPr lang="en-US" sz="1100" i="1" dirty="0">
                <a:solidFill>
                  <a:schemeClr val="accent6"/>
                </a:solidFill>
              </a:rPr>
              <a:t>Found by: validation with the counter's own boxes</a:t>
            </a:r>
            <a:endParaRPr lang="en-US" sz="1100" dirty="0"/>
          </a:p>
        </p:txBody>
      </p:sp>
      <p:sp>
        <p:nvSpPr>
          <p:cNvPr id="26" name="Text 21"/>
          <p:cNvSpPr txBox="1"/>
          <p:nvPr/>
        </p:nvSpPr>
        <p:spPr>
          <a:xfrm>
            <a:off x="6172200" y="3291840"/>
            <a:ext cx="2331720" cy="457200"/>
          </a:xfrm>
          <a:prstGeom prst="rect">
            <a:avLst/>
          </a:prstGeom>
          <a:noFill/>
          <a:ln/>
        </p:spPr>
        <p:txBody>
          <a:bodyPr wrap="square" lIns="0" tIns="0" rIns="0" bIns="0" rtlCol="0" anchor="t"/>
          <a:lstStyle/>
          <a:p>
            <a:pPr indent="0" marL="0">
              <a:buNone/>
            </a:pPr>
            <a:r>
              <a:rPr lang="en-US" sz="1200" b="1" dirty="0">
                <a:solidFill>
                  <a:schemeClr val="tx1"/>
                </a:solidFill>
              </a:rPr>
              <a:t>Fix: train on resized / shifted boxes</a:t>
            </a:r>
            <a:endParaRPr lang="en-US" sz="1200" dirty="0"/>
          </a:p>
        </p:txBody>
      </p:sp>
      <p:sp>
        <p:nvSpPr>
          <p:cNvPr id="27" name="Text 22"/>
          <p:cNvSpPr txBox="1"/>
          <p:nvPr/>
        </p:nvSpPr>
        <p:spPr>
          <a:xfrm>
            <a:off x="6172200" y="4114800"/>
            <a:ext cx="233172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84% → 99.7% tablets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Real mixed tray: 0% → 90%</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82 pills (20 tablets, 40 caplets, 22 minis), 20 photos: all three form counts exact</a:t>
            </a:r>
            <a:endParaRPr lang="en-US" sz="1500" dirty="0"/>
          </a:p>
        </p:txBody>
      </p:sp>
      <p:pic>
        <p:nvPicPr>
          <p:cNvPr id="4" name="Image 0" descr="/private/tmp/claude-501/-Users-pee-Documents-projectss/830d9427-1c57-4896-95df-e61c1a8daabe/scratchpad/deck/img/mixed_forms.jpg">    </p:cNvPr>
          <p:cNvPicPr>
            <a:picLocks noChangeAspect="1"/>
          </p:cNvPicPr>
          <p:nvPr/>
        </p:nvPicPr>
        <p:blipFill>
          <a:blip r:embed="rId1"/>
          <a:stretch>
            <a:fillRect/>
          </a:stretch>
        </p:blipFill>
        <p:spPr>
          <a:xfrm>
            <a:off x="457200" y="1325880"/>
            <a:ext cx="2926080" cy="2926080"/>
          </a:xfrm>
          <a:prstGeom prst="rect">
            <a:avLst/>
          </a:prstGeom>
        </p:spPr>
      </p:pic>
      <p:sp>
        <p:nvSpPr>
          <p:cNvPr id="5" name="Text 2"/>
          <p:cNvSpPr txBox="1"/>
          <p:nvPr/>
        </p:nvSpPr>
        <p:spPr>
          <a:xfrm>
            <a:off x="457200" y="4325112"/>
            <a:ext cx="2926080" cy="292608"/>
          </a:xfrm>
          <a:prstGeom prst="roundRect">
            <a:avLst>
              <a:gd name="adj" fmla="val 50000"/>
            </a:avLst>
          </a:prstGeom>
          <a:solidFill>
            <a:schemeClr val="tx2"/>
          </a:solidFill>
          <a:ln/>
        </p:spPr>
        <p:txBody>
          <a:bodyPr wrap="square" lIns="0" tIns="0" rIns="0" bIns="0" rtlCol="0" anchor="ctr"/>
          <a:lstStyle/>
          <a:p>
            <a:pPr algn="ctr" indent="0" marL="0">
              <a:buNone/>
            </a:pPr>
            <a:r>
              <a:rPr lang="en-US" sz="1000" b="1" dirty="0">
                <a:solidFill>
                  <a:schemeClr val="bg1"/>
                </a:solidFill>
              </a:rPr>
              <a:t>81/82 · green tablet · blue caplet · red mini</a:t>
            </a:r>
            <a:endParaRPr lang="en-US" sz="1000" dirty="0"/>
          </a:p>
        </p:txBody>
      </p:sp>
      <p:graphicFrame>
        <p:nvGraphicFramePr>
          <p:cNvPr id="6" name="Chart 0" descr=""/>
          <p:cNvGraphicFramePr/>
          <p:nvPr/>
        </p:nvGraphicFramePr>
        <p:xfrm>
          <a:off x="3611880" y="1325880"/>
          <a:ext cx="5074920" cy="22402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3611880" y="3703320"/>
            <a:ext cx="1170432" cy="914400"/>
          </a:xfrm>
          <a:prstGeom prst="roundRect">
            <a:avLst>
              <a:gd name="adj" fmla="val 12000"/>
            </a:avLst>
          </a:prstGeom>
          <a:solidFill>
            <a:schemeClr val="bg2"/>
          </a:solidFill>
          <a:ln/>
        </p:spPr>
        <p:txBody>
          <a:bodyPr/>
          <a:p/>
        </p:txBody>
      </p:sp>
      <p:sp>
        <p:nvSpPr>
          <p:cNvPr id="8" name="Text 4"/>
          <p:cNvSpPr txBox="1"/>
          <p:nvPr/>
        </p:nvSpPr>
        <p:spPr>
          <a:xfrm>
            <a:off x="3611880" y="3749040"/>
            <a:ext cx="1170432" cy="457200"/>
          </a:xfrm>
          <a:prstGeom prst="rect">
            <a:avLst/>
          </a:prstGeom>
          <a:noFill/>
          <a:ln/>
        </p:spPr>
        <p:txBody>
          <a:bodyPr wrap="square" lIns="0" tIns="0" rIns="0" bIns="0" rtlCol="0" anchor="t"/>
          <a:lstStyle/>
          <a:p>
            <a:pPr algn="ctr" indent="0" marL="0">
              <a:buNone/>
            </a:pPr>
            <a:r>
              <a:rPr lang="en-US" sz="2000" b="1" dirty="0">
                <a:solidFill>
                  <a:schemeClr val="tx2"/>
                </a:solidFill>
              </a:rPr>
              <a:t>100%</a:t>
            </a:r>
            <a:endParaRPr lang="en-US" sz="2000" dirty="0"/>
          </a:p>
        </p:txBody>
      </p:sp>
      <p:sp>
        <p:nvSpPr>
          <p:cNvPr id="9" name="Text 5"/>
          <p:cNvSpPr txBox="1"/>
          <p:nvPr/>
        </p:nvSpPr>
        <p:spPr>
          <a:xfrm>
            <a:off x="3611880" y="4206240"/>
            <a:ext cx="1170432" cy="320040"/>
          </a:xfrm>
          <a:prstGeom prst="rect">
            <a:avLst/>
          </a:prstGeom>
          <a:noFill/>
          <a:ln/>
        </p:spPr>
        <p:txBody>
          <a:bodyPr wrap="square" lIns="0" tIns="0" rIns="0" bIns="0" rtlCol="0" anchor="t"/>
          <a:lstStyle/>
          <a:p>
            <a:pPr algn="ctr" indent="0" marL="0">
              <a:buNone/>
            </a:pPr>
            <a:r>
              <a:rPr lang="en-US" sz="1100" dirty="0">
                <a:solidFill>
                  <a:schemeClr val="tx1"/>
                </a:solidFill>
              </a:rPr>
              <a:t>Minis exact</a:t>
            </a:r>
            <a:endParaRPr lang="en-US" sz="1100" dirty="0"/>
          </a:p>
        </p:txBody>
      </p:sp>
      <p:sp>
        <p:nvSpPr>
          <p:cNvPr id="10" name="Shape 6"/>
          <p:cNvSpPr/>
          <p:nvPr/>
        </p:nvSpPr>
        <p:spPr>
          <a:xfrm>
            <a:off x="4892040" y="3703320"/>
            <a:ext cx="1170432" cy="914400"/>
          </a:xfrm>
          <a:prstGeom prst="roundRect">
            <a:avLst>
              <a:gd name="adj" fmla="val 12000"/>
            </a:avLst>
          </a:prstGeom>
          <a:solidFill>
            <a:schemeClr val="bg2"/>
          </a:solidFill>
          <a:ln/>
        </p:spPr>
        <p:txBody>
          <a:bodyPr/>
          <a:p/>
        </p:txBody>
      </p:sp>
      <p:sp>
        <p:nvSpPr>
          <p:cNvPr id="11" name="Text 7"/>
          <p:cNvSpPr txBox="1"/>
          <p:nvPr/>
        </p:nvSpPr>
        <p:spPr>
          <a:xfrm>
            <a:off x="4892040" y="3749040"/>
            <a:ext cx="1170432" cy="457200"/>
          </a:xfrm>
          <a:prstGeom prst="rect">
            <a:avLst/>
          </a:prstGeom>
          <a:noFill/>
          <a:ln/>
        </p:spPr>
        <p:txBody>
          <a:bodyPr wrap="square" lIns="0" tIns="0" rIns="0" bIns="0" rtlCol="0" anchor="t"/>
          <a:lstStyle/>
          <a:p>
            <a:pPr algn="ctr" indent="0" marL="0">
              <a:buNone/>
            </a:pPr>
            <a:r>
              <a:rPr lang="en-US" sz="2000" b="1" dirty="0">
                <a:solidFill>
                  <a:schemeClr val="tx2"/>
                </a:solidFill>
              </a:rPr>
              <a:t>95%</a:t>
            </a:r>
            <a:endParaRPr lang="en-US" sz="2000" dirty="0"/>
          </a:p>
        </p:txBody>
      </p:sp>
      <p:sp>
        <p:nvSpPr>
          <p:cNvPr id="12" name="Text 8"/>
          <p:cNvSpPr txBox="1"/>
          <p:nvPr/>
        </p:nvSpPr>
        <p:spPr>
          <a:xfrm>
            <a:off x="4892040" y="4206240"/>
            <a:ext cx="1170432" cy="320040"/>
          </a:xfrm>
          <a:prstGeom prst="rect">
            <a:avLst/>
          </a:prstGeom>
          <a:noFill/>
          <a:ln/>
        </p:spPr>
        <p:txBody>
          <a:bodyPr wrap="square" lIns="0" tIns="0" rIns="0" bIns="0" rtlCol="0" anchor="t"/>
          <a:lstStyle/>
          <a:p>
            <a:pPr algn="ctr" indent="0" marL="0">
              <a:buNone/>
            </a:pPr>
            <a:r>
              <a:rPr lang="en-US" sz="1100" dirty="0">
                <a:solidFill>
                  <a:schemeClr val="tx1"/>
                </a:solidFill>
              </a:rPr>
              <a:t>Tablets exact</a:t>
            </a:r>
            <a:endParaRPr lang="en-US" sz="1100" dirty="0"/>
          </a:p>
        </p:txBody>
      </p:sp>
      <p:sp>
        <p:nvSpPr>
          <p:cNvPr id="13" name="Shape 9"/>
          <p:cNvSpPr/>
          <p:nvPr/>
        </p:nvSpPr>
        <p:spPr>
          <a:xfrm>
            <a:off x="6172200" y="3703320"/>
            <a:ext cx="1170432" cy="914400"/>
          </a:xfrm>
          <a:prstGeom prst="roundRect">
            <a:avLst>
              <a:gd name="adj" fmla="val 12000"/>
            </a:avLst>
          </a:prstGeom>
          <a:solidFill>
            <a:schemeClr val="bg2"/>
          </a:solidFill>
          <a:ln/>
        </p:spPr>
        <p:txBody>
          <a:bodyPr/>
          <a:p/>
        </p:txBody>
      </p:sp>
      <p:sp>
        <p:nvSpPr>
          <p:cNvPr id="14" name="Text 10"/>
          <p:cNvSpPr txBox="1"/>
          <p:nvPr/>
        </p:nvSpPr>
        <p:spPr>
          <a:xfrm>
            <a:off x="6172200" y="3749040"/>
            <a:ext cx="1170432" cy="457200"/>
          </a:xfrm>
          <a:prstGeom prst="rect">
            <a:avLst/>
          </a:prstGeom>
          <a:noFill/>
          <a:ln/>
        </p:spPr>
        <p:txBody>
          <a:bodyPr wrap="square" lIns="0" tIns="0" rIns="0" bIns="0" rtlCol="0" anchor="t"/>
          <a:lstStyle/>
          <a:p>
            <a:pPr algn="ctr" indent="0" marL="0">
              <a:buNone/>
            </a:pPr>
            <a:r>
              <a:rPr lang="en-US" sz="2000" b="1" dirty="0">
                <a:solidFill>
                  <a:schemeClr val="tx2"/>
                </a:solidFill>
              </a:rPr>
              <a:t>90%</a:t>
            </a:r>
            <a:endParaRPr lang="en-US" sz="2000" dirty="0"/>
          </a:p>
        </p:txBody>
      </p:sp>
      <p:sp>
        <p:nvSpPr>
          <p:cNvPr id="15" name="Text 11"/>
          <p:cNvSpPr txBox="1"/>
          <p:nvPr/>
        </p:nvSpPr>
        <p:spPr>
          <a:xfrm>
            <a:off x="6172200" y="4206240"/>
            <a:ext cx="1170432" cy="320040"/>
          </a:xfrm>
          <a:prstGeom prst="rect">
            <a:avLst/>
          </a:prstGeom>
          <a:noFill/>
          <a:ln/>
        </p:spPr>
        <p:txBody>
          <a:bodyPr wrap="square" lIns="0" tIns="0" rIns="0" bIns="0" rtlCol="0" anchor="t"/>
          <a:lstStyle/>
          <a:p>
            <a:pPr algn="ctr" indent="0" marL="0">
              <a:buNone/>
            </a:pPr>
            <a:r>
              <a:rPr lang="en-US" sz="1100" dirty="0">
                <a:solidFill>
                  <a:schemeClr val="tx1"/>
                </a:solidFill>
              </a:rPr>
              <a:t>Caplets exact</a:t>
            </a:r>
            <a:endParaRPr lang="en-US" sz="1100" dirty="0"/>
          </a:p>
        </p:txBody>
      </p:sp>
      <p:sp>
        <p:nvSpPr>
          <p:cNvPr id="16" name="Shape 12"/>
          <p:cNvSpPr/>
          <p:nvPr/>
        </p:nvSpPr>
        <p:spPr>
          <a:xfrm>
            <a:off x="7452360" y="3703320"/>
            <a:ext cx="1170432" cy="914400"/>
          </a:xfrm>
          <a:prstGeom prst="roundRect">
            <a:avLst>
              <a:gd name="adj" fmla="val 12000"/>
            </a:avLst>
          </a:prstGeom>
          <a:solidFill>
            <a:schemeClr val="bg2"/>
          </a:solidFill>
          <a:ln/>
        </p:spPr>
        <p:txBody>
          <a:bodyPr/>
          <a:p/>
        </p:txBody>
      </p:sp>
      <p:sp>
        <p:nvSpPr>
          <p:cNvPr id="17" name="Text 13"/>
          <p:cNvSpPr txBox="1"/>
          <p:nvPr/>
        </p:nvSpPr>
        <p:spPr>
          <a:xfrm>
            <a:off x="7452360" y="3749040"/>
            <a:ext cx="1170432" cy="457200"/>
          </a:xfrm>
          <a:prstGeom prst="rect">
            <a:avLst/>
          </a:prstGeom>
          <a:noFill/>
          <a:ln/>
        </p:spPr>
        <p:txBody>
          <a:bodyPr wrap="square" lIns="0" tIns="0" rIns="0" bIns="0" rtlCol="0" anchor="t"/>
          <a:lstStyle/>
          <a:p>
            <a:pPr algn="ctr" indent="0" marL="0">
              <a:buNone/>
            </a:pPr>
            <a:r>
              <a:rPr lang="en-US" sz="2000" b="1" dirty="0">
                <a:solidFill>
                  <a:schemeClr val="tx2"/>
                </a:solidFill>
              </a:rPr>
              <a:t>95%</a:t>
            </a:r>
            <a:endParaRPr lang="en-US" sz="2000" dirty="0"/>
          </a:p>
        </p:txBody>
      </p:sp>
      <p:sp>
        <p:nvSpPr>
          <p:cNvPr id="18" name="Text 14"/>
          <p:cNvSpPr txBox="1"/>
          <p:nvPr/>
        </p:nvSpPr>
        <p:spPr>
          <a:xfrm>
            <a:off x="7452360" y="4206240"/>
            <a:ext cx="1170432" cy="320040"/>
          </a:xfrm>
          <a:prstGeom prst="rect">
            <a:avLst/>
          </a:prstGeom>
          <a:noFill/>
          <a:ln/>
        </p:spPr>
        <p:txBody>
          <a:bodyPr wrap="square" lIns="0" tIns="0" rIns="0" bIns="0" rtlCol="0" anchor="t"/>
          <a:lstStyle/>
          <a:p>
            <a:pPr algn="ctr" indent="0" marL="0">
              <a:buNone/>
            </a:pPr>
            <a:r>
              <a:rPr lang="en-US" sz="1100" dirty="0">
                <a:solidFill>
                  <a:schemeClr val="tx1"/>
                </a:solidFill>
              </a:rPr>
              <a:t>Total exact</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Test set (2 runs): learned counters win</a:t>
            </a:r>
            <a:endParaRPr lang="en-US" sz="3200" dirty="0"/>
          </a:p>
        </p:txBody>
      </p:sp>
      <p:sp>
        <p:nvSpPr>
          <p:cNvPr id="4"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45 held-out photos, 6 piles of 10–46 pills, incl. blue tablets on brown cloth never seen in training</a:t>
            </a:r>
            <a:endParaRPr lang="en-US" sz="1500" dirty="0"/>
          </a:p>
        </p:txBody>
      </p:sp>
      <p:sp>
        <p:nvSpPr>
          <p:cNvPr id="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graphicFrame>
        <p:nvGraphicFramePr>
          <p:cNvPr id="6" name="Chart 25"/>
          <p:cNvGraphicFramePr>
            <a:graphicFrameLocks noGrp="1"/>
          </p:cNvGraphicFramePr>
          <p:nvPr/>
        </p:nvGraphicFramePr>
        <p:xfrm>
          <a:off x="457200" y="1325880"/>
          <a:ext cx="5486400" cy="3017520"/>
        </p:xfrm>
        <a:graphic>
          <a:graphicData uri="http://schemas.openxmlformats.org/drawingml/2006/chart">
            <c:chart xmlns:c="http://schemas.openxmlformats.org/drawingml/2006/chart" r:id="rId2"/>
          </a:graphicData>
        </a:graphic>
      </p:graphicFrame>
      <p:sp>
        <p:nvSpPr>
          <p:cNvPr id="7" name="Text 7"/>
          <p:cNvSpPr txBox="1"/>
          <p:nvPr/>
        </p:nvSpPr>
        <p:spPr>
          <a:xfrm>
            <a:off x="457200" y="4407408"/>
            <a:ext cx="5486400" cy="274320"/>
          </a:xfrm>
          <a:prstGeom prst="rect">
            <a:avLst/>
          </a:prstGeom>
          <a:noFill/>
          <a:ln/>
        </p:spPr>
        <p:txBody>
          <a:bodyPr wrap="square" lIns="0" tIns="0" rIns="0" bIns="0" rtlCol="0" anchor="t"/>
          <a:lstStyle/>
          <a:p>
            <a:pPr indent="0" marL="0">
              <a:buNone/>
            </a:pPr>
            <a:r>
              <a:rPr lang="en-US" sz="1000" dirty="0">
                <a:solidFill>
                  <a:schemeClr val="tx1"/>
                </a:solidFill>
              </a:rPr>
              <a:t>App counter chosen on validation and other medicines, not on this test; CIs of all L5 rows overlap.</a:t>
            </a:r>
            <a:endParaRPr lang="en-US" sz="1100" dirty="0"/>
          </a:p>
        </p:txBody>
      </p:sp>
      <p:sp>
        <p:nvSpPr>
          <p:cNvPr id="8" name="Shape 2"/>
          <p:cNvSpPr/>
          <p:nvPr/>
        </p:nvSpPr>
        <p:spPr>
          <a:xfrm>
            <a:off x="6217920" y="1371600"/>
            <a:ext cx="2468880" cy="914400"/>
          </a:xfrm>
          <a:prstGeom prst="roundRect">
            <a:avLst>
              <a:gd name="adj" fmla="val 12000"/>
            </a:avLst>
          </a:prstGeom>
          <a:solidFill>
            <a:schemeClr val="accent1"/>
          </a:solidFill>
          <a:ln/>
        </p:spPr>
        <p:txBody>
          <a:bodyPr/>
          <a:p/>
        </p:txBody>
      </p:sp>
      <p:sp>
        <p:nvSpPr>
          <p:cNvPr id="9" name="Text 3"/>
          <p:cNvSpPr txBox="1"/>
          <p:nvPr/>
        </p:nvSpPr>
        <p:spPr>
          <a:xfrm>
            <a:off x="6355080" y="1444752"/>
            <a:ext cx="2194560" cy="411480"/>
          </a:xfrm>
          <a:prstGeom prst="rect">
            <a:avLst/>
          </a:prstGeom>
          <a:noFill/>
          <a:ln/>
        </p:spPr>
        <p:txBody>
          <a:bodyPr wrap="square" lIns="0" tIns="0" rIns="0" bIns="0" rtlCol="0" anchor="t"/>
          <a:lstStyle/>
          <a:p>
            <a:pPr indent="0" marL="0">
              <a:buNone/>
            </a:pPr>
            <a:r>
              <a:rPr lang="en-US" sz="2000" b="1" dirty="0">
                <a:solidFill>
                  <a:schemeClr val="bg1"/>
                </a:solidFill>
              </a:rPr>
              <a:t>89% vs 93%</a:t>
            </a:r>
            <a:endParaRPr lang="en-US" sz="2000" dirty="0"/>
          </a:p>
        </p:txBody>
      </p:sp>
      <p:sp>
        <p:nvSpPr>
          <p:cNvPr id="10" name="Text 4"/>
          <p:cNvSpPr txBox="1"/>
          <p:nvPr/>
        </p:nvSpPr>
        <p:spPr>
          <a:xfrm>
            <a:off x="6355080" y="1847088"/>
            <a:ext cx="2194560" cy="384048"/>
          </a:xfrm>
          <a:prstGeom prst="rect">
            <a:avLst/>
          </a:prstGeom>
          <a:noFill/>
          <a:ln/>
        </p:spPr>
        <p:txBody>
          <a:bodyPr wrap="square" lIns="0" tIns="0" rIns="0" bIns="0" rtlCol="0" anchor="t"/>
          <a:lstStyle/>
          <a:p>
            <a:pPr indent="0" marL="0">
              <a:buNone/>
            </a:pPr>
            <a:r>
              <a:rPr lang="en-US" sz="1100" dirty="0">
                <a:solidFill>
                  <a:schemeClr val="bg1"/>
                </a:solidFill>
              </a:rPr>
              <a:t>app counter vs thai_v2: 5 vs 3 misses, all ±1–2</a:t>
            </a:r>
            <a:endParaRPr lang="en-US" sz="1100" dirty="0"/>
          </a:p>
        </p:txBody>
      </p:sp>
      <p:sp>
        <p:nvSpPr>
          <p:cNvPr id="11" name="Shape 5"/>
          <p:cNvSpPr/>
          <p:nvPr/>
        </p:nvSpPr>
        <p:spPr>
          <a:xfrm>
            <a:off x="6217920" y="2450591"/>
            <a:ext cx="2468880" cy="914400"/>
          </a:xfrm>
          <a:prstGeom prst="roundRect">
            <a:avLst>
              <a:gd name="adj" fmla="val 12000"/>
            </a:avLst>
          </a:prstGeom>
          <a:solidFill>
            <a:schemeClr val="bg2"/>
          </a:solidFill>
          <a:ln/>
        </p:spPr>
        <p:txBody>
          <a:bodyPr/>
          <a:p/>
        </p:txBody>
      </p:sp>
      <p:sp>
        <p:nvSpPr>
          <p:cNvPr id="12" name="Text 6"/>
          <p:cNvSpPr txBox="1"/>
          <p:nvPr/>
        </p:nvSpPr>
        <p:spPr>
          <a:xfrm>
            <a:off x="6355080" y="2523744"/>
            <a:ext cx="2194560" cy="411480"/>
          </a:xfrm>
          <a:prstGeom prst="rect">
            <a:avLst/>
          </a:prstGeom>
          <a:noFill/>
          <a:ln/>
        </p:spPr>
        <p:txBody>
          <a:bodyPr wrap="square" lIns="0" tIns="0" rIns="0" bIns="0" rtlCol="0" anchor="t"/>
          <a:lstStyle/>
          <a:p>
            <a:pPr indent="0" marL="0">
              <a:buNone/>
            </a:pPr>
            <a:r>
              <a:rPr lang="en-US" sz="2000" b="1" dirty="0">
                <a:solidFill>
                  <a:schemeClr val="tx2"/>
                </a:solidFill>
              </a:rPr>
              <a:t>58% vs 23%</a:t>
            </a:r>
            <a:endParaRPr lang="en-US" sz="2000" dirty="0"/>
          </a:p>
        </p:txBody>
      </p:sp>
      <p:sp>
        <p:nvSpPr>
          <p:cNvPr id="13" name="Text 7"/>
          <p:cNvSpPr txBox="1"/>
          <p:nvPr/>
        </p:nvSpPr>
        <p:spPr>
          <a:xfrm>
            <a:off x="6355080" y="2926079"/>
            <a:ext cx="2194560" cy="384048"/>
          </a:xfrm>
          <a:prstGeom prst="rect">
            <a:avLst/>
          </a:prstGeom>
          <a:noFill/>
          <a:ln/>
        </p:spPr>
        <p:txBody>
          <a:bodyPr wrap="square" lIns="0" tIns="0" rIns="0" bIns="0" rtlCol="0" anchor="t"/>
          <a:lstStyle/>
          <a:p>
            <a:pPr indent="0" marL="0">
              <a:buNone/>
            </a:pPr>
            <a:r>
              <a:rPr lang="en-US" sz="1100" dirty="0">
                <a:solidFill>
                  <a:schemeClr val="tx1"/>
                </a:solidFill>
              </a:rPr>
              <a:t>other medicines (187 unseen photos): app vs thai_v2</a:t>
            </a:r>
            <a:endParaRPr lang="en-US" sz="1100" dirty="0"/>
          </a:p>
        </p:txBody>
      </p:sp>
      <p:sp>
        <p:nvSpPr>
          <p:cNvPr id="14" name="Shape 5"/>
          <p:cNvSpPr/>
          <p:nvPr/>
        </p:nvSpPr>
        <p:spPr>
          <a:xfrm>
            <a:off x="6217920" y="3529584"/>
            <a:ext cx="2468880" cy="914400"/>
          </a:xfrm>
          <a:prstGeom prst="roundRect">
            <a:avLst>
              <a:gd name="adj" fmla="val 12000"/>
            </a:avLst>
          </a:prstGeom>
          <a:solidFill>
            <a:schemeClr val="bg2"/>
          </a:solidFill>
          <a:ln/>
        </p:spPr>
        <p:txBody>
          <a:bodyPr/>
          <a:p/>
        </p:txBody>
      </p:sp>
      <p:sp>
        <p:nvSpPr>
          <p:cNvPr id="15" name="Text 6"/>
          <p:cNvSpPr txBox="1"/>
          <p:nvPr/>
        </p:nvSpPr>
        <p:spPr>
          <a:xfrm>
            <a:off x="6355080" y="3602736"/>
            <a:ext cx="2194560" cy="411480"/>
          </a:xfrm>
          <a:prstGeom prst="rect">
            <a:avLst/>
          </a:prstGeom>
          <a:noFill/>
          <a:ln/>
        </p:spPr>
        <p:txBody>
          <a:bodyPr wrap="square" lIns="0" tIns="0" rIns="0" bIns="0" rtlCol="0" anchor="t"/>
          <a:lstStyle/>
          <a:p>
            <a:pPr indent="0" marL="0">
              <a:buNone/>
            </a:pPr>
            <a:r>
              <a:rPr lang="en-US" sz="2000" b="1" dirty="0">
                <a:solidFill>
                  <a:schemeClr val="tx2"/>
                </a:solidFill>
              </a:rPr>
              <a:t>Run twice</a:t>
            </a:r>
            <a:endParaRPr lang="en-US" sz="2000" dirty="0"/>
          </a:p>
        </p:txBody>
      </p:sp>
      <p:sp>
        <p:nvSpPr>
          <p:cNvPr id="16" name="Text 7"/>
          <p:cNvSpPr txBox="1"/>
          <p:nvPr/>
        </p:nvSpPr>
        <p:spPr>
          <a:xfrm>
            <a:off x="6355080" y="4005072"/>
            <a:ext cx="2194560" cy="384048"/>
          </a:xfrm>
          <a:prstGeom prst="rect">
            <a:avLst/>
          </a:prstGeom>
          <a:noFill/>
          <a:ln/>
        </p:spPr>
        <p:txBody>
          <a:bodyPr wrap="square" lIns="0" tIns="0" rIns="0" bIns="0" rtlCol="0" anchor="t"/>
          <a:lstStyle/>
          <a:p>
            <a:pPr indent="0" marL="0">
              <a:buNone/>
            </a:pPr>
            <a:r>
              <a:rPr lang="en-US" sz="1100" dirty="0">
                <a:solidFill>
                  <a:schemeClr val="tx1"/>
                </a:solidFill>
              </a:rPr>
              <a:t>run 1 on earlier models, run 2 on the final one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What works, what doesn't yet</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Honest scope of the prototype</a:t>
            </a:r>
            <a:endParaRPr lang="en-US" sz="1500" dirty="0"/>
          </a:p>
        </p:txBody>
      </p:sp>
      <p:sp>
        <p:nvSpPr>
          <p:cNvPr id="4" name="Shape 2"/>
          <p:cNvSpPr/>
          <p:nvPr/>
        </p:nvSpPr>
        <p:spPr>
          <a:xfrm>
            <a:off x="457200" y="1325880"/>
            <a:ext cx="3977640" cy="3291840"/>
          </a:xfrm>
          <a:prstGeom prst="roundRect">
            <a:avLst>
              <a:gd name="adj" fmla="val 3333"/>
            </a:avLst>
          </a:prstGeom>
          <a:solidFill>
            <a:schemeClr val="bg2"/>
          </a:solidFill>
          <a:ln/>
        </p:spPr>
        <p:txBody>
          <a:bodyPr/>
          <a:p/>
        </p:txBody>
      </p:sp>
      <p:sp>
        <p:nvSpPr>
          <p:cNvPr id="5" name="Shape 3"/>
          <p:cNvSpPr/>
          <p:nvPr/>
        </p:nvSpPr>
        <p:spPr>
          <a:xfrm>
            <a:off x="640080" y="1463040"/>
            <a:ext cx="411480" cy="411480"/>
          </a:xfrm>
          <a:prstGeom prst="ellipse">
            <a:avLst/>
          </a:prstGeom>
          <a:solidFill>
            <a:schemeClr val="accent4"/>
          </a:solidFill>
          <a:ln/>
        </p:spPr>
        <p:txBody>
          <a:bodyPr/>
          <a:p/>
        </p:txBody>
      </p:sp>
      <p:pic>
        <p:nvPicPr>
          <p:cNvPr id="6" name="Image 0" descr="preencoded.png">    </p:cNvPr>
          <p:cNvPicPr>
            <a:picLocks noChangeAspect="1"/>
          </p:cNvPicPr>
          <p:nvPr/>
        </p:nvPicPr>
        <p:blipFill>
          <a:blip r:embed="rId1"/>
          <a:stretch>
            <a:fillRect/>
          </a:stretch>
        </p:blipFill>
        <p:spPr>
          <a:xfrm>
            <a:off x="742950" y="1565910"/>
            <a:ext cx="205740" cy="205740"/>
          </a:xfrm>
          <a:prstGeom prst="rect">
            <a:avLst/>
          </a:prstGeom>
        </p:spPr>
      </p:pic>
      <p:sp>
        <p:nvSpPr>
          <p:cNvPr id="7" name="Text 4"/>
          <p:cNvSpPr txBox="1"/>
          <p:nvPr/>
        </p:nvSpPr>
        <p:spPr>
          <a:xfrm>
            <a:off x="1188720" y="1463040"/>
            <a:ext cx="3017520" cy="411480"/>
          </a:xfrm>
          <a:prstGeom prst="rect">
            <a:avLst/>
          </a:prstGeom>
          <a:noFill/>
          <a:ln/>
        </p:spPr>
        <p:txBody>
          <a:bodyPr wrap="square" lIns="0" tIns="0" rIns="0" bIns="0" rtlCol="0" anchor="ctr"/>
          <a:lstStyle/>
          <a:p>
            <a:pPr indent="0" marL="0">
              <a:buNone/>
            </a:pPr>
            <a:r>
              <a:rPr lang="en-US" sz="1600" b="1" dirty="0">
                <a:solidFill>
                  <a:schemeClr val="tx2"/>
                </a:solidFill>
              </a:rPr>
              <a:t>Works</a:t>
            </a:r>
            <a:endParaRPr lang="en-US" sz="1600" dirty="0"/>
          </a:p>
        </p:txBody>
      </p:sp>
      <p:sp>
        <p:nvSpPr>
          <p:cNvPr id="8" name="Text 5"/>
          <p:cNvSpPr txBox="1"/>
          <p:nvPr/>
        </p:nvSpPr>
        <p:spPr>
          <a:xfrm>
            <a:off x="640080" y="2011680"/>
            <a:ext cx="361188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Counting: 93% val, 89% test exact</a:t>
            </a:r>
            <a:endParaRPr lang="en-US" sz="1300" dirty="0"/>
          </a:p>
          <a:p>
            <a:pPr marL="342900" indent="-342900">
              <a:spcAft>
                <a:spcPts val="600"/>
              </a:spcAft>
              <a:buSzPct val="100000"/>
              <a:buChar char="•"/>
            </a:pPr>
            <a:r>
              <a:rPr lang="en-US" sz="1300" dirty="0">
                <a:solidFill>
                  <a:schemeClr val="tx1"/>
                </a:solidFill>
              </a:rPr>
              <a:t>Forms: 99.9% per pill; mixed tray all 3 exact 90%</a:t>
            </a:r>
            <a:endParaRPr lang="en-US" sz="1300" dirty="0"/>
          </a:p>
          <a:p>
            <a:pPr marL="342900" indent="-342900">
              <a:spcAft>
                <a:spcPts val="600"/>
              </a:spcAft>
              <a:buSzPct val="100000"/>
              <a:buChar char="•"/>
            </a:pPr>
            <a:r>
              <a:rPr lang="en-US" sz="1300" dirty="0">
                <a:solidFill>
                  <a:schemeClr val="tx1"/>
                </a:solidFill>
              </a:rPr>
              <a:t>Phone in, count + forms out in about a second</a:t>
            </a:r>
            <a:endParaRPr lang="en-US" sz="1300" dirty="0"/>
          </a:p>
          <a:p>
            <a:pPr marL="342900" indent="-342900">
              <a:spcAft>
                <a:spcPts val="600"/>
              </a:spcAft>
              <a:buSzPct val="100000"/>
              <a:buChar char="•"/>
            </a:pPr>
            <a:r>
              <a:rPr lang="en-US" sz="1300" dirty="0">
                <a:solidFill>
                  <a:schemeClr val="tx1"/>
                </a:solidFill>
              </a:rPr>
              <a:t>Orange = unsure box, red = wrong form</a:t>
            </a:r>
            <a:endParaRPr lang="en-US" sz="1300" dirty="0"/>
          </a:p>
        </p:txBody>
      </p:sp>
      <p:sp>
        <p:nvSpPr>
          <p:cNvPr id="9" name="Shape 6"/>
          <p:cNvSpPr/>
          <p:nvPr/>
        </p:nvSpPr>
        <p:spPr>
          <a:xfrm>
            <a:off x="4709160" y="1325880"/>
            <a:ext cx="3977640" cy="3291840"/>
          </a:xfrm>
          <a:prstGeom prst="roundRect">
            <a:avLst>
              <a:gd name="adj" fmla="val 3333"/>
            </a:avLst>
          </a:prstGeom>
          <a:solidFill>
            <a:schemeClr val="bg2"/>
          </a:solidFill>
          <a:ln/>
        </p:spPr>
        <p:txBody>
          <a:bodyPr/>
          <a:p/>
        </p:txBody>
      </p:sp>
      <p:sp>
        <p:nvSpPr>
          <p:cNvPr id="10" name="Shape 7"/>
          <p:cNvSpPr/>
          <p:nvPr/>
        </p:nvSpPr>
        <p:spPr>
          <a:xfrm>
            <a:off x="4892040" y="1463040"/>
            <a:ext cx="411480" cy="411480"/>
          </a:xfrm>
          <a:prstGeom prst="ellipse">
            <a:avLst/>
          </a:prstGeom>
          <a:solidFill>
            <a:schemeClr val="accent5"/>
          </a:solidFill>
          <a:ln/>
        </p:spPr>
        <p:txBody>
          <a:bodyPr/>
          <a:p/>
        </p:txBody>
      </p:sp>
      <p:pic>
        <p:nvPicPr>
          <p:cNvPr id="11" name="Image 1" descr="preencoded.png">    </p:cNvPr>
          <p:cNvPicPr>
            <a:picLocks noChangeAspect="1"/>
          </p:cNvPicPr>
          <p:nvPr/>
        </p:nvPicPr>
        <p:blipFill>
          <a:blip r:embed="rId2"/>
          <a:stretch>
            <a:fillRect/>
          </a:stretch>
        </p:blipFill>
        <p:spPr>
          <a:xfrm>
            <a:off x="4994910" y="1565910"/>
            <a:ext cx="205740" cy="205740"/>
          </a:xfrm>
          <a:prstGeom prst="rect">
            <a:avLst/>
          </a:prstGeom>
        </p:spPr>
      </p:pic>
      <p:sp>
        <p:nvSpPr>
          <p:cNvPr id="12" name="Text 8"/>
          <p:cNvSpPr txBox="1"/>
          <p:nvPr/>
        </p:nvSpPr>
        <p:spPr>
          <a:xfrm>
            <a:off x="5440680" y="1463040"/>
            <a:ext cx="3017520" cy="411480"/>
          </a:xfrm>
          <a:prstGeom prst="rect">
            <a:avLst/>
          </a:prstGeom>
          <a:noFill/>
          <a:ln/>
        </p:spPr>
        <p:txBody>
          <a:bodyPr wrap="square" lIns="0" tIns="0" rIns="0" bIns="0" rtlCol="0" anchor="ctr"/>
          <a:lstStyle/>
          <a:p>
            <a:pPr indent="0" marL="0">
              <a:buNone/>
            </a:pPr>
            <a:r>
              <a:rPr lang="en-US" sz="1600" b="1" dirty="0">
                <a:solidFill>
                  <a:schemeClr val="tx2"/>
                </a:solidFill>
              </a:rPr>
              <a:t>Not yet</a:t>
            </a:r>
            <a:endParaRPr lang="en-US" sz="1600" dirty="0"/>
          </a:p>
        </p:txBody>
      </p:sp>
      <p:sp>
        <p:nvSpPr>
          <p:cNvPr id="13" name="Text 9"/>
          <p:cNvSpPr txBox="1"/>
          <p:nvPr/>
        </p:nvSpPr>
        <p:spPr>
          <a:xfrm>
            <a:off x="4892040" y="2011680"/>
            <a:ext cx="361188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Tested to 100 pills; 150–300 not yet</a:t>
            </a:r>
            <a:endParaRPr lang="en-US" sz="1300" dirty="0"/>
          </a:p>
          <a:p>
            <a:pPr marL="342900" indent="-342900">
              <a:spcAft>
                <a:spcPts val="600"/>
              </a:spcAft>
              <a:buSzPct val="100000"/>
              <a:buChar char="•"/>
            </a:pPr>
            <a:r>
              <a:rPr lang="en-US" sz="1300" dirty="0">
                <a:solidFill>
                  <a:schemeClr val="tx1"/>
                </a:solidFill>
              </a:rPr>
              <a:t>Other medicines: 58% exact so far</a:t>
            </a:r>
            <a:endParaRPr lang="en-US" sz="1300" dirty="0"/>
          </a:p>
          <a:p>
            <a:pPr marL="342900" indent="-342900">
              <a:spcAft>
                <a:spcPts val="600"/>
              </a:spcAft>
              <a:buSzPct val="100000"/>
              <a:buChar char="•"/>
            </a:pPr>
            <a:r>
              <a:rPr lang="en-US" sz="1300" dirty="0">
                <a:solidFill>
                  <a:schemeClr val="tx1"/>
                </a:solidFill>
              </a:rPr>
              <a:t>Few test sessions; test used twice</a:t>
            </a:r>
            <a:endParaRPr lang="en-US" sz="1300" dirty="0"/>
          </a:p>
          <a:p>
            <a:pPr marL="342900" indent="-342900">
              <a:spcAft>
                <a:spcPts val="600"/>
              </a:spcAft>
              <a:buSzPct val="100000"/>
              <a:buChar char="•"/>
            </a:pPr>
            <a:r>
              <a:rPr lang="en-US" sz="1300" dirty="0">
                <a:solidFill>
                  <a:schemeClr val="tx1"/>
                </a:solidFill>
              </a:rPr>
              <a:t>Crops lose real pill size; runs on a Mac</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Next steps</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From prototype to a pilot at one dispensing counter</a:t>
            </a:r>
            <a:endParaRPr lang="en-US" sz="1500" dirty="0"/>
          </a:p>
        </p:txBody>
      </p:sp>
      <p:sp>
        <p:nvSpPr>
          <p:cNvPr id="4" name="Shape 2"/>
          <p:cNvSpPr/>
          <p:nvPr/>
        </p:nvSpPr>
        <p:spPr>
          <a:xfrm>
            <a:off x="457200" y="1380744"/>
            <a:ext cx="438912" cy="438912"/>
          </a:xfrm>
          <a:prstGeom prst="ellipse">
            <a:avLst/>
          </a:prstGeom>
          <a:solidFill>
            <a:schemeClr val="accent1"/>
          </a:solidFill>
          <a:ln/>
        </p:spPr>
        <p:txBody>
          <a:bodyPr/>
          <a:p/>
        </p:txBody>
      </p:sp>
      <p:sp>
        <p:nvSpPr>
          <p:cNvPr id="5" name="Text 3"/>
          <p:cNvSpPr txBox="1"/>
          <p:nvPr/>
        </p:nvSpPr>
        <p:spPr>
          <a:xfrm>
            <a:off x="457200" y="138074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097280" y="1325880"/>
            <a:ext cx="1828800" cy="548640"/>
          </a:xfrm>
          <a:prstGeom prst="rect">
            <a:avLst/>
          </a:prstGeom>
          <a:noFill/>
          <a:ln/>
        </p:spPr>
        <p:txBody>
          <a:bodyPr wrap="square" lIns="0" tIns="0" rIns="0" bIns="0" rtlCol="0" anchor="ctr"/>
          <a:lstStyle/>
          <a:p>
            <a:pPr indent="0" marL="0">
              <a:buNone/>
            </a:pPr>
            <a:r>
              <a:rPr lang="en-US" sz="1500" b="1" dirty="0">
                <a:solidFill>
                  <a:schemeClr val="tx2"/>
                </a:solidFill>
              </a:rPr>
              <a:t>More data</a:t>
            </a:r>
            <a:endParaRPr lang="en-US" sz="1500" dirty="0"/>
          </a:p>
        </p:txBody>
      </p:sp>
      <p:sp>
        <p:nvSpPr>
          <p:cNvPr id="7" name="Text 5"/>
          <p:cNvSpPr txBox="1"/>
          <p:nvPr/>
        </p:nvSpPr>
        <p:spPr>
          <a:xfrm>
            <a:off x="2926080" y="1325880"/>
            <a:ext cx="5760720" cy="548640"/>
          </a:xfrm>
          <a:prstGeom prst="rect">
            <a:avLst/>
          </a:prstGeom>
          <a:noFill/>
          <a:ln/>
        </p:spPr>
        <p:txBody>
          <a:bodyPr wrap="square" lIns="0" tIns="0" rIns="0" bIns="0" rtlCol="0" anchor="ctr"/>
          <a:lstStyle/>
          <a:p>
            <a:pPr indent="0" marL="0">
              <a:buNone/>
            </a:pPr>
            <a:r>
              <a:rPr lang="en-US" sz="1300" dirty="0">
                <a:solidFill>
                  <a:schemeClr val="tx1"/>
                </a:solidFill>
              </a:rPr>
              <a:t>App photos and mistakes become training sessions; crowded trays on more surfaces</a:t>
            </a:r>
            <a:endParaRPr lang="en-US" sz="1300" dirty="0"/>
          </a:p>
        </p:txBody>
      </p:sp>
      <p:sp>
        <p:nvSpPr>
          <p:cNvPr id="8" name="Shape 6"/>
          <p:cNvSpPr/>
          <p:nvPr/>
        </p:nvSpPr>
        <p:spPr>
          <a:xfrm>
            <a:off x="457200" y="2039112"/>
            <a:ext cx="438912" cy="438912"/>
          </a:xfrm>
          <a:prstGeom prst="ellipse">
            <a:avLst/>
          </a:prstGeom>
          <a:solidFill>
            <a:schemeClr val="accent1"/>
          </a:solidFill>
          <a:ln/>
        </p:spPr>
        <p:txBody>
          <a:bodyPr/>
          <a:p/>
        </p:txBody>
      </p:sp>
      <p:sp>
        <p:nvSpPr>
          <p:cNvPr id="9" name="Text 7"/>
          <p:cNvSpPr txBox="1"/>
          <p:nvPr/>
        </p:nvSpPr>
        <p:spPr>
          <a:xfrm>
            <a:off x="457200" y="2039112"/>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1097280" y="1984248"/>
            <a:ext cx="1828800" cy="548640"/>
          </a:xfrm>
          <a:prstGeom prst="rect">
            <a:avLst/>
          </a:prstGeom>
          <a:noFill/>
          <a:ln/>
        </p:spPr>
        <p:txBody>
          <a:bodyPr wrap="square" lIns="0" tIns="0" rIns="0" bIns="0" rtlCol="0" anchor="ctr"/>
          <a:lstStyle/>
          <a:p>
            <a:pPr indent="0" marL="0">
              <a:buNone/>
            </a:pPr>
            <a:r>
              <a:rPr lang="en-US" sz="1500" b="1" dirty="0">
                <a:solidFill>
                  <a:schemeClr val="tx2"/>
                </a:solidFill>
              </a:rPr>
              <a:t>More medicines</a:t>
            </a:r>
            <a:endParaRPr lang="en-US" sz="1500" dirty="0"/>
          </a:p>
        </p:txBody>
      </p:sp>
      <p:sp>
        <p:nvSpPr>
          <p:cNvPr id="11" name="Text 9"/>
          <p:cNvSpPr txBox="1"/>
          <p:nvPr/>
        </p:nvSpPr>
        <p:spPr>
          <a:xfrm>
            <a:off x="2926080" y="1984248"/>
            <a:ext cx="5760720" cy="548640"/>
          </a:xfrm>
          <a:prstGeom prst="rect">
            <a:avLst/>
          </a:prstGeom>
          <a:noFill/>
          <a:ln/>
        </p:spPr>
        <p:txBody>
          <a:bodyPr wrap="square" lIns="0" tIns="0" rIns="0" bIns="0" rtlCol="0" anchor="ctr"/>
          <a:lstStyle/>
          <a:p>
            <a:pPr indent="0" marL="0">
              <a:buNone/>
            </a:pPr>
            <a:r>
              <a:rPr lang="en-US" sz="1300" dirty="0">
                <a:solidFill>
                  <a:schemeClr val="tx1"/>
                </a:solidFill>
              </a:rPr>
              <a:t>Capsules, colored and scored tablets: only the small classifier retrains</a:t>
            </a:r>
            <a:endParaRPr lang="en-US" sz="1300" dirty="0"/>
          </a:p>
        </p:txBody>
      </p:sp>
      <p:sp>
        <p:nvSpPr>
          <p:cNvPr id="12" name="Shape 10"/>
          <p:cNvSpPr/>
          <p:nvPr/>
        </p:nvSpPr>
        <p:spPr>
          <a:xfrm>
            <a:off x="457200" y="2697480"/>
            <a:ext cx="438912" cy="438912"/>
          </a:xfrm>
          <a:prstGeom prst="ellipse">
            <a:avLst/>
          </a:prstGeom>
          <a:solidFill>
            <a:schemeClr val="accent1"/>
          </a:solidFill>
          <a:ln/>
        </p:spPr>
        <p:txBody>
          <a:bodyPr/>
          <a:p/>
        </p:txBody>
      </p:sp>
      <p:sp>
        <p:nvSpPr>
          <p:cNvPr id="13" name="Text 11"/>
          <p:cNvSpPr txBox="1"/>
          <p:nvPr/>
        </p:nvSpPr>
        <p:spPr>
          <a:xfrm>
            <a:off x="457200" y="269748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2"/>
          <p:cNvSpPr txBox="1"/>
          <p:nvPr/>
        </p:nvSpPr>
        <p:spPr>
          <a:xfrm>
            <a:off x="1097280" y="2642616"/>
            <a:ext cx="1828800" cy="548640"/>
          </a:xfrm>
          <a:prstGeom prst="rect">
            <a:avLst/>
          </a:prstGeom>
          <a:noFill/>
          <a:ln/>
        </p:spPr>
        <p:txBody>
          <a:bodyPr wrap="square" lIns="0" tIns="0" rIns="0" bIns="0" rtlCol="0" anchor="ctr"/>
          <a:lstStyle/>
          <a:p>
            <a:pPr indent="0" marL="0">
              <a:buNone/>
            </a:pPr>
            <a:r>
              <a:rPr lang="en-US" sz="1500" b="1" dirty="0">
                <a:solidFill>
                  <a:schemeClr val="tx2"/>
                </a:solidFill>
              </a:rPr>
              <a:t>Size + barcode</a:t>
            </a:r>
            <a:endParaRPr lang="en-US" sz="1500" dirty="0"/>
          </a:p>
        </p:txBody>
      </p:sp>
      <p:sp>
        <p:nvSpPr>
          <p:cNvPr id="15" name="Text 13"/>
          <p:cNvSpPr txBox="1"/>
          <p:nvPr/>
        </p:nvSpPr>
        <p:spPr>
          <a:xfrm>
            <a:off x="2926080" y="2642616"/>
            <a:ext cx="5760720" cy="548640"/>
          </a:xfrm>
          <a:prstGeom prst="rect">
            <a:avLst/>
          </a:prstGeom>
          <a:noFill/>
          <a:ln/>
        </p:spPr>
        <p:txBody>
          <a:bodyPr wrap="square" lIns="0" tIns="0" rIns="0" bIns="0" rtlCol="0" anchor="ctr"/>
          <a:lstStyle/>
          <a:p>
            <a:pPr indent="0" marL="0">
              <a:buNone/>
            </a:pPr>
            <a:r>
              <a:rPr lang="en-US" sz="1300" dirty="0">
                <a:solidFill>
                  <a:schemeClr val="tx1"/>
                </a:solidFill>
              </a:rPr>
              <a:t>A reference card gives real pill size; scan the stock bottle for identical drugs</a:t>
            </a:r>
            <a:endParaRPr lang="en-US" sz="1300" dirty="0"/>
          </a:p>
        </p:txBody>
      </p:sp>
      <p:sp>
        <p:nvSpPr>
          <p:cNvPr id="16" name="Shape 14"/>
          <p:cNvSpPr/>
          <p:nvPr/>
        </p:nvSpPr>
        <p:spPr>
          <a:xfrm>
            <a:off x="457200" y="3355848"/>
            <a:ext cx="438912" cy="438912"/>
          </a:xfrm>
          <a:prstGeom prst="ellipse">
            <a:avLst/>
          </a:prstGeom>
          <a:solidFill>
            <a:schemeClr val="accent1"/>
          </a:solidFill>
          <a:ln/>
        </p:spPr>
        <p:txBody>
          <a:bodyPr/>
          <a:p/>
        </p:txBody>
      </p:sp>
      <p:sp>
        <p:nvSpPr>
          <p:cNvPr id="17" name="Text 15"/>
          <p:cNvSpPr txBox="1"/>
          <p:nvPr/>
        </p:nvSpPr>
        <p:spPr>
          <a:xfrm>
            <a:off x="457200" y="3355848"/>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6"/>
          <p:cNvSpPr txBox="1"/>
          <p:nvPr/>
        </p:nvSpPr>
        <p:spPr>
          <a:xfrm>
            <a:off x="1097280" y="3300984"/>
            <a:ext cx="1828800" cy="548640"/>
          </a:xfrm>
          <a:prstGeom prst="rect">
            <a:avLst/>
          </a:prstGeom>
          <a:noFill/>
          <a:ln/>
        </p:spPr>
        <p:txBody>
          <a:bodyPr wrap="square" lIns="0" tIns="0" rIns="0" bIns="0" rtlCol="0" anchor="ctr"/>
          <a:lstStyle/>
          <a:p>
            <a:pPr indent="0" marL="0">
              <a:buNone/>
            </a:pPr>
            <a:r>
              <a:rPr lang="en-US" sz="1500" b="1" dirty="0">
                <a:solidFill>
                  <a:schemeClr val="tx2"/>
                </a:solidFill>
              </a:rPr>
              <a:t>On the phone</a:t>
            </a:r>
            <a:endParaRPr lang="en-US" sz="1500" dirty="0"/>
          </a:p>
        </p:txBody>
      </p:sp>
      <p:sp>
        <p:nvSpPr>
          <p:cNvPr id="19" name="Text 17"/>
          <p:cNvSpPr txBox="1"/>
          <p:nvPr/>
        </p:nvSpPr>
        <p:spPr>
          <a:xfrm>
            <a:off x="2926080" y="3300984"/>
            <a:ext cx="5760720" cy="548640"/>
          </a:xfrm>
          <a:prstGeom prst="rect">
            <a:avLst/>
          </a:prstGeom>
          <a:noFill/>
          <a:ln/>
        </p:spPr>
        <p:txBody>
          <a:bodyPr wrap="square" lIns="0" tIns="0" rIns="0" bIns="0" rtlCol="0" anchor="ctr"/>
          <a:lstStyle/>
          <a:p>
            <a:pPr indent="0" marL="0">
              <a:buNone/>
            </a:pPr>
            <a:r>
              <a:rPr lang="en-US" sz="1300" dirty="0">
                <a:solidFill>
                  <a:schemeClr val="tx1"/>
                </a:solidFill>
              </a:rPr>
              <a:t>Export to ONNX / Core ML so it runs offline, no server needed</a:t>
            </a:r>
            <a:endParaRPr lang="en-US" sz="1300" dirty="0"/>
          </a:p>
        </p:txBody>
      </p:sp>
      <p:sp>
        <p:nvSpPr>
          <p:cNvPr id="20" name="Shape 18"/>
          <p:cNvSpPr/>
          <p:nvPr/>
        </p:nvSpPr>
        <p:spPr>
          <a:xfrm>
            <a:off x="457200" y="4014216"/>
            <a:ext cx="438912" cy="438912"/>
          </a:xfrm>
          <a:prstGeom prst="ellipse">
            <a:avLst/>
          </a:prstGeom>
          <a:solidFill>
            <a:schemeClr val="accent2"/>
          </a:solidFill>
          <a:ln/>
        </p:spPr>
        <p:txBody>
          <a:bodyPr/>
          <a:p/>
        </p:txBody>
      </p:sp>
      <p:sp>
        <p:nvSpPr>
          <p:cNvPr id="21" name="Text 19"/>
          <p:cNvSpPr txBox="1"/>
          <p:nvPr/>
        </p:nvSpPr>
        <p:spPr>
          <a:xfrm>
            <a:off x="457200" y="4014216"/>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20"/>
          <p:cNvSpPr txBox="1"/>
          <p:nvPr/>
        </p:nvSpPr>
        <p:spPr>
          <a:xfrm>
            <a:off x="1097280" y="3959352"/>
            <a:ext cx="1828800" cy="548640"/>
          </a:xfrm>
          <a:prstGeom prst="rect">
            <a:avLst/>
          </a:prstGeom>
          <a:noFill/>
          <a:ln/>
        </p:spPr>
        <p:txBody>
          <a:bodyPr wrap="square" lIns="0" tIns="0" rIns="0" bIns="0" rtlCol="0" anchor="ctr"/>
          <a:lstStyle/>
          <a:p>
            <a:pPr indent="0" marL="0">
              <a:buNone/>
            </a:pPr>
            <a:r>
              <a:rPr lang="en-US" sz="1500" b="1" dirty="0">
                <a:solidFill>
                  <a:schemeClr val="tx2"/>
                </a:solidFill>
              </a:rPr>
              <a:t>Pharmacy pilot</a:t>
            </a:r>
            <a:endParaRPr lang="en-US" sz="1500" dirty="0"/>
          </a:p>
        </p:txBody>
      </p:sp>
      <p:sp>
        <p:nvSpPr>
          <p:cNvPr id="23" name="Text 21"/>
          <p:cNvSpPr txBox="1"/>
          <p:nvPr/>
        </p:nvSpPr>
        <p:spPr>
          <a:xfrm>
            <a:off x="2926080" y="3959352"/>
            <a:ext cx="5760720" cy="548640"/>
          </a:xfrm>
          <a:prstGeom prst="rect">
            <a:avLst/>
          </a:prstGeom>
          <a:noFill/>
          <a:ln/>
        </p:spPr>
        <p:txBody>
          <a:bodyPr wrap="square" lIns="0" tIns="0" rIns="0" bIns="0" rtlCol="0" anchor="ctr"/>
          <a:lstStyle/>
          <a:p>
            <a:pPr indent="0" marL="0">
              <a:buNone/>
            </a:pPr>
            <a:r>
              <a:rPr lang="en-US" sz="1300" dirty="0">
                <a:solidFill>
                  <a:schemeClr val="tx1"/>
                </a:solidFill>
              </a:rPr>
              <a:t>One dispensing counter: time and miscounts vs today's hand count</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Appendix: code map</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Where each part of the pipeline lives, in the order data flows</a:t>
            </a:r>
            <a:endParaRPr lang="en-US" sz="1500" dirty="0"/>
          </a:p>
        </p:txBody>
      </p:sp>
      <p:sp>
        <p:nvSpPr>
          <p:cNvPr id="4" name="Shape 2"/>
          <p:cNvSpPr/>
          <p:nvPr/>
        </p:nvSpPr>
        <p:spPr>
          <a:xfrm>
            <a:off x="457200" y="1371600"/>
            <a:ext cx="4023360" cy="685800"/>
          </a:xfrm>
          <a:prstGeom prst="roundRect">
            <a:avLst>
              <a:gd name="adj" fmla="val 16000"/>
            </a:avLst>
          </a:prstGeom>
          <a:solidFill>
            <a:schemeClr val="bg2"/>
          </a:solidFill>
          <a:ln/>
        </p:spPr>
        <p:txBody>
          <a:bodyPr/>
          <a:p/>
        </p:txBody>
      </p:sp>
      <p:sp>
        <p:nvSpPr>
          <p:cNvPr id="5" name="Text 3"/>
          <p:cNvSpPr txBox="1"/>
          <p:nvPr/>
        </p:nvSpPr>
        <p:spPr>
          <a:xfrm>
            <a:off x="594360" y="1444752"/>
            <a:ext cx="3749040" cy="274320"/>
          </a:xfrm>
          <a:prstGeom prst="rect">
            <a:avLst/>
          </a:prstGeom>
          <a:noFill/>
          <a:ln/>
        </p:spPr>
        <p:txBody>
          <a:bodyPr wrap="square" lIns="0" tIns="0" rIns="0" bIns="0" rtlCol="0" anchor="t"/>
          <a:lstStyle/>
          <a:p>
            <a:pPr indent="0" marL="0">
              <a:buNone/>
            </a:pPr>
            <a:r>
              <a:rPr lang="en-US" sz="1300" b="1" dirty="0">
                <a:solidFill>
                  <a:schemeClr val="accent1"/>
                </a:solidFill>
              </a:rPr>
              <a:t>notebooks/*_colab.ipynb</a:t>
            </a:r>
            <a:endParaRPr lang="en-US" sz="1300" dirty="0"/>
          </a:p>
        </p:txBody>
      </p:sp>
      <p:sp>
        <p:nvSpPr>
          <p:cNvPr id="6" name="Text 4"/>
          <p:cNvSpPr txBox="1"/>
          <p:nvPr/>
        </p:nvSpPr>
        <p:spPr>
          <a:xfrm>
            <a:off x="594360" y="1719072"/>
            <a:ext cx="3749040" cy="274320"/>
          </a:xfrm>
          <a:prstGeom prst="rect">
            <a:avLst/>
          </a:prstGeom>
          <a:noFill/>
          <a:ln/>
        </p:spPr>
        <p:txBody>
          <a:bodyPr wrap="square" lIns="0" tIns="0" rIns="0" bIns="0" rtlCol="0" anchor="t"/>
          <a:lstStyle/>
          <a:p>
            <a:pPr indent="0" marL="0">
              <a:buNone/>
            </a:pPr>
            <a:r>
              <a:rPr lang="en-US" sz="1200" dirty="0">
                <a:solidFill>
                  <a:schemeClr val="tx1"/>
                </a:solidFill>
              </a:rPr>
              <a:t>v4 model, counters v2 + v3, form classifier</a:t>
            </a:r>
            <a:endParaRPr lang="en-US" sz="1200" dirty="0"/>
          </a:p>
        </p:txBody>
      </p:sp>
      <p:sp>
        <p:nvSpPr>
          <p:cNvPr id="7" name="Shape 5"/>
          <p:cNvSpPr/>
          <p:nvPr/>
        </p:nvSpPr>
        <p:spPr>
          <a:xfrm>
            <a:off x="457200" y="2176272"/>
            <a:ext cx="4023360" cy="685800"/>
          </a:xfrm>
          <a:prstGeom prst="roundRect">
            <a:avLst>
              <a:gd name="adj" fmla="val 16000"/>
            </a:avLst>
          </a:prstGeom>
          <a:solidFill>
            <a:schemeClr val="bg2"/>
          </a:solidFill>
          <a:ln/>
        </p:spPr>
        <p:txBody>
          <a:bodyPr/>
          <a:p/>
        </p:txBody>
      </p:sp>
      <p:sp>
        <p:nvSpPr>
          <p:cNvPr id="8" name="Text 6"/>
          <p:cNvSpPr txBox="1"/>
          <p:nvPr/>
        </p:nvSpPr>
        <p:spPr>
          <a:xfrm>
            <a:off x="594360" y="2249424"/>
            <a:ext cx="3749040" cy="274320"/>
          </a:xfrm>
          <a:prstGeom prst="rect">
            <a:avLst/>
          </a:prstGeom>
          <a:noFill/>
          <a:ln/>
        </p:spPr>
        <p:txBody>
          <a:bodyPr wrap="square" lIns="0" tIns="0" rIns="0" bIns="0" rtlCol="0" anchor="t"/>
          <a:lstStyle/>
          <a:p>
            <a:pPr indent="0" marL="0">
              <a:buNone/>
            </a:pPr>
            <a:r>
              <a:rPr lang="en-US" sz="1300" b="1" dirty="0">
                <a:solidFill>
                  <a:schemeClr val="accent1"/>
                </a:solidFill>
              </a:rPr>
              <a:t>src/prelabel.py · split.py</a:t>
            </a:r>
            <a:endParaRPr lang="en-US" sz="1300" dirty="0"/>
          </a:p>
        </p:txBody>
      </p:sp>
      <p:sp>
        <p:nvSpPr>
          <p:cNvPr id="9" name="Text 7"/>
          <p:cNvSpPr txBox="1"/>
          <p:nvPr/>
        </p:nvSpPr>
        <p:spPr>
          <a:xfrm>
            <a:off x="594360" y="2523744"/>
            <a:ext cx="3749040" cy="274320"/>
          </a:xfrm>
          <a:prstGeom prst="rect">
            <a:avLst/>
          </a:prstGeom>
          <a:noFill/>
          <a:ln/>
        </p:spPr>
        <p:txBody>
          <a:bodyPr wrap="square" lIns="0" tIns="0" rIns="0" bIns="0" rtlCol="0" anchor="t"/>
          <a:lstStyle/>
          <a:p>
            <a:pPr indent="0" marL="0">
              <a:buNone/>
            </a:pPr>
            <a:r>
              <a:rPr lang="en-US" sz="1200" dirty="0">
                <a:solidFill>
                  <a:schemeClr val="tx1"/>
                </a:solidFill>
              </a:rPr>
              <a:t>Pre-label with the counter; split by session</a:t>
            </a:r>
            <a:endParaRPr lang="en-US" sz="1200" dirty="0"/>
          </a:p>
        </p:txBody>
      </p:sp>
      <p:sp>
        <p:nvSpPr>
          <p:cNvPr id="10" name="Shape 8"/>
          <p:cNvSpPr/>
          <p:nvPr/>
        </p:nvSpPr>
        <p:spPr>
          <a:xfrm>
            <a:off x="457200" y="2980944"/>
            <a:ext cx="4023360" cy="685800"/>
          </a:xfrm>
          <a:prstGeom prst="roundRect">
            <a:avLst>
              <a:gd name="adj" fmla="val 16000"/>
            </a:avLst>
          </a:prstGeom>
          <a:solidFill>
            <a:schemeClr val="bg2"/>
          </a:solidFill>
          <a:ln/>
        </p:spPr>
        <p:txBody>
          <a:bodyPr/>
          <a:p/>
        </p:txBody>
      </p:sp>
      <p:sp>
        <p:nvSpPr>
          <p:cNvPr id="11" name="Text 9"/>
          <p:cNvSpPr txBox="1"/>
          <p:nvPr/>
        </p:nvSpPr>
        <p:spPr>
          <a:xfrm>
            <a:off x="594360" y="3054096"/>
            <a:ext cx="3749040" cy="274320"/>
          </a:xfrm>
          <a:prstGeom prst="rect">
            <a:avLst/>
          </a:prstGeom>
          <a:noFill/>
          <a:ln/>
        </p:spPr>
        <p:txBody>
          <a:bodyPr wrap="square" lIns="0" tIns="0" rIns="0" bIns="0" rtlCol="0" anchor="t"/>
          <a:lstStyle/>
          <a:p>
            <a:pPr indent="0" marL="0">
              <a:buNone/>
            </a:pPr>
            <a:r>
              <a:rPr lang="en-US" sz="1300" b="1" dirty="0">
                <a:solidFill>
                  <a:schemeClr val="accent1"/>
                </a:solidFill>
              </a:rPr>
              <a:t>src/finetune.py</a:t>
            </a:r>
            <a:endParaRPr lang="en-US" sz="1300" dirty="0"/>
          </a:p>
        </p:txBody>
      </p:sp>
      <p:sp>
        <p:nvSpPr>
          <p:cNvPr id="12" name="Text 10"/>
          <p:cNvSpPr txBox="1"/>
          <p:nvPr/>
        </p:nvSpPr>
        <p:spPr>
          <a:xfrm>
            <a:off x="594360" y="3328416"/>
            <a:ext cx="3749040" cy="274320"/>
          </a:xfrm>
          <a:prstGeom prst="rect">
            <a:avLst/>
          </a:prstGeom>
          <a:noFill/>
          <a:ln/>
        </p:spPr>
        <p:txBody>
          <a:bodyPr wrap="square" lIns="0" tIns="0" rIns="0" bIns="0" rtlCol="0" anchor="t"/>
          <a:lstStyle/>
          <a:p>
            <a:pPr indent="0" marL="0">
              <a:buNone/>
            </a:pPr>
            <a:r>
              <a:rPr lang="en-US" sz="1200" dirty="0">
                <a:solidFill>
                  <a:schemeClr val="tx1"/>
                </a:solidFill>
              </a:rPr>
              <a:t>Counter: two-stage fine-tune, frozen → unfrozen</a:t>
            </a:r>
            <a:endParaRPr lang="en-US" sz="1200" dirty="0"/>
          </a:p>
        </p:txBody>
      </p:sp>
      <p:sp>
        <p:nvSpPr>
          <p:cNvPr id="13" name="Shape 11"/>
          <p:cNvSpPr/>
          <p:nvPr/>
        </p:nvSpPr>
        <p:spPr>
          <a:xfrm>
            <a:off x="457200" y="3785616"/>
            <a:ext cx="4023360" cy="685800"/>
          </a:xfrm>
          <a:prstGeom prst="roundRect">
            <a:avLst>
              <a:gd name="adj" fmla="val 16000"/>
            </a:avLst>
          </a:prstGeom>
          <a:solidFill>
            <a:schemeClr val="bg2"/>
          </a:solidFill>
          <a:ln/>
        </p:spPr>
        <p:txBody>
          <a:bodyPr/>
          <a:p/>
        </p:txBody>
      </p:sp>
      <p:sp>
        <p:nvSpPr>
          <p:cNvPr id="14" name="Text 12"/>
          <p:cNvSpPr txBox="1"/>
          <p:nvPr/>
        </p:nvSpPr>
        <p:spPr>
          <a:xfrm>
            <a:off x="594360" y="3858768"/>
            <a:ext cx="3749040" cy="274320"/>
          </a:xfrm>
          <a:prstGeom prst="rect">
            <a:avLst/>
          </a:prstGeom>
          <a:noFill/>
          <a:ln/>
        </p:spPr>
        <p:txBody>
          <a:bodyPr wrap="square" lIns="0" tIns="0" rIns="0" bIns="0" rtlCol="0" anchor="t"/>
          <a:lstStyle/>
          <a:p>
            <a:pPr indent="0" marL="0">
              <a:buNone/>
            </a:pPr>
            <a:r>
              <a:rPr lang="en-US" sz="1300" b="1" dirty="0">
                <a:solidFill>
                  <a:schemeClr val="accent1"/>
                </a:solidFill>
              </a:rPr>
              <a:t>src/crops.py · train_classifier.py</a:t>
            </a:r>
            <a:endParaRPr lang="en-US" sz="1300" dirty="0"/>
          </a:p>
        </p:txBody>
      </p:sp>
      <p:sp>
        <p:nvSpPr>
          <p:cNvPr id="15" name="Text 13"/>
          <p:cNvSpPr txBox="1"/>
          <p:nvPr/>
        </p:nvSpPr>
        <p:spPr>
          <a:xfrm>
            <a:off x="594360" y="4133088"/>
            <a:ext cx="3749040" cy="274320"/>
          </a:xfrm>
          <a:prstGeom prst="rect">
            <a:avLst/>
          </a:prstGeom>
          <a:noFill/>
          <a:ln/>
        </p:spPr>
        <p:txBody>
          <a:bodyPr wrap="square" lIns="0" tIns="0" rIns="0" bIns="0" rtlCol="0" anchor="t"/>
          <a:lstStyle/>
          <a:p>
            <a:pPr indent="0" marL="0">
              <a:buNone/>
            </a:pPr>
            <a:r>
              <a:rPr lang="en-US" sz="1200" dirty="0">
                <a:solidFill>
                  <a:schemeClr val="tx1"/>
                </a:solidFill>
              </a:rPr>
              <a:t>Masked crops + box jitter; form classifier</a:t>
            </a:r>
            <a:endParaRPr lang="en-US" sz="1200" dirty="0"/>
          </a:p>
        </p:txBody>
      </p:sp>
      <p:sp>
        <p:nvSpPr>
          <p:cNvPr id="16" name="Shape 14"/>
          <p:cNvSpPr/>
          <p:nvPr/>
        </p:nvSpPr>
        <p:spPr>
          <a:xfrm>
            <a:off x="4663440" y="1371600"/>
            <a:ext cx="4023360" cy="685800"/>
          </a:xfrm>
          <a:prstGeom prst="roundRect">
            <a:avLst>
              <a:gd name="adj" fmla="val 16000"/>
            </a:avLst>
          </a:prstGeom>
          <a:solidFill>
            <a:schemeClr val="bg2"/>
          </a:solidFill>
          <a:ln/>
        </p:spPr>
        <p:txBody>
          <a:bodyPr/>
          <a:p/>
        </p:txBody>
      </p:sp>
      <p:sp>
        <p:nvSpPr>
          <p:cNvPr id="17" name="Text 15"/>
          <p:cNvSpPr txBox="1"/>
          <p:nvPr/>
        </p:nvSpPr>
        <p:spPr>
          <a:xfrm>
            <a:off x="4800600" y="1444752"/>
            <a:ext cx="3749040" cy="274320"/>
          </a:xfrm>
          <a:prstGeom prst="rect">
            <a:avLst/>
          </a:prstGeom>
          <a:noFill/>
          <a:ln/>
        </p:spPr>
        <p:txBody>
          <a:bodyPr wrap="square" lIns="0" tIns="0" rIns="0" bIns="0" rtlCol="0" anchor="t"/>
          <a:lstStyle/>
          <a:p>
            <a:pPr indent="0" marL="0">
              <a:buNone/>
            </a:pPr>
            <a:r>
              <a:rPr lang="en-US" sz="1300" b="1" dirty="0">
                <a:solidFill>
                  <a:schemeClr val="accent1"/>
                </a:solidFill>
              </a:rPr>
              <a:t>src/classical.py</a:t>
            </a:r>
            <a:endParaRPr lang="en-US" sz="1300" dirty="0"/>
          </a:p>
        </p:txBody>
      </p:sp>
      <p:sp>
        <p:nvSpPr>
          <p:cNvPr id="18" name="Text 16"/>
          <p:cNvSpPr txBox="1"/>
          <p:nvPr/>
        </p:nvSpPr>
        <p:spPr>
          <a:xfrm>
            <a:off x="4800600" y="1719072"/>
            <a:ext cx="3749040" cy="274320"/>
          </a:xfrm>
          <a:prstGeom prst="rect">
            <a:avLst/>
          </a:prstGeom>
          <a:noFill/>
          <a:ln/>
        </p:spPr>
        <p:txBody>
          <a:bodyPr wrap="square" lIns="0" tIns="0" rIns="0" bIns="0" rtlCol="0" anchor="t"/>
          <a:lstStyle/>
          <a:p>
            <a:pPr indent="0" marL="0">
              <a:buNone/>
            </a:pPr>
            <a:r>
              <a:rPr lang="en-US" sz="1200" dirty="0">
                <a:solidFill>
                  <a:schemeClr val="tx1"/>
                </a:solidFill>
              </a:rPr>
              <a:t>Level 2: LAB threshold → distances → watershed</a:t>
            </a:r>
            <a:endParaRPr lang="en-US" sz="1200" dirty="0"/>
          </a:p>
        </p:txBody>
      </p:sp>
      <p:sp>
        <p:nvSpPr>
          <p:cNvPr id="19" name="Shape 17"/>
          <p:cNvSpPr/>
          <p:nvPr/>
        </p:nvSpPr>
        <p:spPr>
          <a:xfrm>
            <a:off x="4663440" y="2176272"/>
            <a:ext cx="4023360" cy="685800"/>
          </a:xfrm>
          <a:prstGeom prst="roundRect">
            <a:avLst>
              <a:gd name="adj" fmla="val 16000"/>
            </a:avLst>
          </a:prstGeom>
          <a:solidFill>
            <a:schemeClr val="bg2"/>
          </a:solidFill>
          <a:ln/>
        </p:spPr>
        <p:txBody>
          <a:bodyPr/>
          <a:p/>
        </p:txBody>
      </p:sp>
      <p:sp>
        <p:nvSpPr>
          <p:cNvPr id="20" name="Text 18"/>
          <p:cNvSpPr txBox="1"/>
          <p:nvPr/>
        </p:nvSpPr>
        <p:spPr>
          <a:xfrm>
            <a:off x="4800600" y="2249424"/>
            <a:ext cx="3749040" cy="274320"/>
          </a:xfrm>
          <a:prstGeom prst="rect">
            <a:avLst/>
          </a:prstGeom>
          <a:noFill/>
          <a:ln/>
        </p:spPr>
        <p:txBody>
          <a:bodyPr wrap="square" lIns="0" tIns="0" rIns="0" bIns="0" rtlCol="0" anchor="t"/>
          <a:lstStyle/>
          <a:p>
            <a:pPr indent="0" marL="0">
              <a:buNone/>
            </a:pPr>
            <a:r>
              <a:rPr lang="en-US" sz="1300" b="1" dirty="0">
                <a:solidFill>
                  <a:schemeClr val="accent1"/>
                </a:solidFill>
              </a:rPr>
              <a:t>src/evaluate.py · eval_mixed.py</a:t>
            </a:r>
            <a:endParaRPr lang="en-US" sz="1300" dirty="0"/>
          </a:p>
        </p:txBody>
      </p:sp>
      <p:sp>
        <p:nvSpPr>
          <p:cNvPr id="21" name="Text 19"/>
          <p:cNvSpPr txBox="1"/>
          <p:nvPr/>
        </p:nvSpPr>
        <p:spPr>
          <a:xfrm>
            <a:off x="4800600" y="2523744"/>
            <a:ext cx="3749040" cy="274320"/>
          </a:xfrm>
          <a:prstGeom prst="rect">
            <a:avLst/>
          </a:prstGeom>
          <a:noFill/>
          <a:ln/>
        </p:spPr>
        <p:txBody>
          <a:bodyPr wrap="square" lIns="0" tIns="0" rIns="0" bIns="0" rtlCol="0" anchor="t"/>
          <a:lstStyle/>
          <a:p>
            <a:pPr indent="0" marL="0">
              <a:buNone/>
            </a:pPr>
            <a:r>
              <a:rPr lang="en-US" sz="1200" dirty="0">
                <a:solidFill>
                  <a:schemeClr val="tx1"/>
                </a:solidFill>
              </a:rPr>
              <a:t>Thresholds, Levels 1–5; mixed-tray score</a:t>
            </a:r>
            <a:endParaRPr lang="en-US" sz="1200" dirty="0"/>
          </a:p>
        </p:txBody>
      </p:sp>
      <p:sp>
        <p:nvSpPr>
          <p:cNvPr id="22" name="Shape 20"/>
          <p:cNvSpPr/>
          <p:nvPr/>
        </p:nvSpPr>
        <p:spPr>
          <a:xfrm>
            <a:off x="4663440" y="2980944"/>
            <a:ext cx="4023360" cy="685800"/>
          </a:xfrm>
          <a:prstGeom prst="roundRect">
            <a:avLst>
              <a:gd name="adj" fmla="val 16000"/>
            </a:avLst>
          </a:prstGeom>
          <a:solidFill>
            <a:schemeClr val="bg2"/>
          </a:solidFill>
          <a:ln/>
        </p:spPr>
        <p:txBody>
          <a:bodyPr/>
          <a:p/>
        </p:txBody>
      </p:sp>
      <p:sp>
        <p:nvSpPr>
          <p:cNvPr id="23" name="Text 21"/>
          <p:cNvSpPr txBox="1"/>
          <p:nvPr/>
        </p:nvSpPr>
        <p:spPr>
          <a:xfrm>
            <a:off x="4800600" y="3054096"/>
            <a:ext cx="3749040" cy="274320"/>
          </a:xfrm>
          <a:prstGeom prst="rect">
            <a:avLst/>
          </a:prstGeom>
          <a:noFill/>
          <a:ln/>
        </p:spPr>
        <p:txBody>
          <a:bodyPr wrap="square" lIns="0" tIns="0" rIns="0" bIns="0" rtlCol="0" anchor="t"/>
          <a:lstStyle/>
          <a:p>
            <a:pPr indent="0" marL="0">
              <a:buNone/>
            </a:pPr>
            <a:r>
              <a:rPr lang="en-US" sz="1300" b="1" dirty="0">
                <a:solidFill>
                  <a:schemeClr val="accent1"/>
                </a:solidFill>
              </a:rPr>
              <a:t>src/api.py</a:t>
            </a:r>
            <a:endParaRPr lang="en-US" sz="1300" dirty="0"/>
          </a:p>
        </p:txBody>
      </p:sp>
      <p:sp>
        <p:nvSpPr>
          <p:cNvPr id="24" name="Text 22"/>
          <p:cNvSpPr txBox="1"/>
          <p:nvPr/>
        </p:nvSpPr>
        <p:spPr>
          <a:xfrm>
            <a:off x="4800600" y="3328416"/>
            <a:ext cx="3749040" cy="274320"/>
          </a:xfrm>
          <a:prstGeom prst="rect">
            <a:avLst/>
          </a:prstGeom>
          <a:noFill/>
          <a:ln/>
        </p:spPr>
        <p:txBody>
          <a:bodyPr wrap="square" lIns="0" tIns="0" rIns="0" bIns="0" rtlCol="0" anchor="t"/>
          <a:lstStyle/>
          <a:p>
            <a:pPr indent="0" marL="0">
              <a:buNone/>
            </a:pPr>
            <a:r>
              <a:rPr lang="en-US" sz="1200" dirty="0">
                <a:solidFill>
                  <a:schemeClr val="tx1"/>
                </a:solidFill>
              </a:rPr>
              <a:t>FastAPI: count + forms + classical; upload log</a:t>
            </a:r>
            <a:endParaRPr lang="en-US" sz="1200" dirty="0"/>
          </a:p>
        </p:txBody>
      </p:sp>
      <p:sp>
        <p:nvSpPr>
          <p:cNvPr id="25" name="Shape 23"/>
          <p:cNvSpPr/>
          <p:nvPr/>
        </p:nvSpPr>
        <p:spPr>
          <a:xfrm>
            <a:off x="4663440" y="3785616"/>
            <a:ext cx="4023360" cy="685800"/>
          </a:xfrm>
          <a:prstGeom prst="roundRect">
            <a:avLst>
              <a:gd name="adj" fmla="val 16000"/>
            </a:avLst>
          </a:prstGeom>
          <a:solidFill>
            <a:schemeClr val="bg2"/>
          </a:solidFill>
          <a:ln/>
        </p:spPr>
        <p:txBody>
          <a:bodyPr/>
          <a:p/>
        </p:txBody>
      </p:sp>
      <p:sp>
        <p:nvSpPr>
          <p:cNvPr id="26" name="Text 24"/>
          <p:cNvSpPr txBox="1"/>
          <p:nvPr/>
        </p:nvSpPr>
        <p:spPr>
          <a:xfrm>
            <a:off x="4800600" y="3858768"/>
            <a:ext cx="3749040" cy="274320"/>
          </a:xfrm>
          <a:prstGeom prst="rect">
            <a:avLst/>
          </a:prstGeom>
          <a:noFill/>
          <a:ln/>
        </p:spPr>
        <p:txBody>
          <a:bodyPr wrap="square" lIns="0" tIns="0" rIns="0" bIns="0" rtlCol="0" anchor="t"/>
          <a:lstStyle/>
          <a:p>
            <a:pPr indent="0" marL="0">
              <a:buNone/>
            </a:pPr>
            <a:r>
              <a:rPr lang="en-US" sz="1300" b="1" dirty="0">
                <a:solidFill>
                  <a:schemeClr val="accent1"/>
                </a:solidFill>
              </a:rPr>
              <a:t>web/app/page.tsx · dev.sh</a:t>
            </a:r>
            <a:endParaRPr lang="en-US" sz="1300" dirty="0"/>
          </a:p>
        </p:txBody>
      </p:sp>
      <p:sp>
        <p:nvSpPr>
          <p:cNvPr id="27" name="Text 25"/>
          <p:cNvSpPr txBox="1"/>
          <p:nvPr/>
        </p:nvSpPr>
        <p:spPr>
          <a:xfrm>
            <a:off x="4800600" y="4133088"/>
            <a:ext cx="3749040" cy="274320"/>
          </a:xfrm>
          <a:prstGeom prst="rect">
            <a:avLst/>
          </a:prstGeom>
          <a:noFill/>
          <a:ln/>
        </p:spPr>
        <p:txBody>
          <a:bodyPr wrap="square" lIns="0" tIns="0" rIns="0" bIns="0" rtlCol="0" anchor="t"/>
          <a:lstStyle/>
          <a:p>
            <a:pPr indent="0" marL="0">
              <a:buNone/>
            </a:pPr>
            <a:r>
              <a:rPr lang="en-US" sz="1200" dirty="0">
                <a:solidFill>
                  <a:schemeClr val="tx1"/>
                </a:solidFill>
              </a:rPr>
              <a:t>Phone page; one-command start, auto-reload</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Appendix: course concepts used</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Where each Applied AI lecture shows up in PillTally</a:t>
            </a:r>
            <a:endParaRPr lang="en-US" sz="1500" dirty="0"/>
          </a:p>
        </p:txBody>
      </p:sp>
      <p:sp>
        <p:nvSpPr>
          <p:cNvPr id="4" name="Text 2"/>
          <p:cNvSpPr txBox="1"/>
          <p:nvPr/>
        </p:nvSpPr>
        <p:spPr>
          <a:xfrm>
            <a:off x="457200" y="1417320"/>
            <a:ext cx="19202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L2 Fundamentals</a:t>
            </a:r>
            <a:endParaRPr lang="en-US" sz="1100" dirty="0"/>
          </a:p>
        </p:txBody>
      </p:sp>
      <p:sp>
        <p:nvSpPr>
          <p:cNvPr id="5" name="Text 3"/>
          <p:cNvSpPr txBox="1"/>
          <p:nvPr/>
        </p:nvSpPr>
        <p:spPr>
          <a:xfrm>
            <a:off x="2560320" y="1325880"/>
            <a:ext cx="6126480" cy="475488"/>
          </a:xfrm>
          <a:prstGeom prst="rect">
            <a:avLst/>
          </a:prstGeom>
          <a:noFill/>
          <a:ln/>
        </p:spPr>
        <p:txBody>
          <a:bodyPr wrap="square" lIns="0" tIns="0" rIns="0" bIns="0" rtlCol="0" anchor="ctr"/>
          <a:lstStyle/>
          <a:p>
            <a:pPr indent="0" marL="0">
              <a:buNone/>
            </a:pPr>
            <a:r>
              <a:rPr lang="en-US" sz="1200" dirty="0">
                <a:solidFill>
                  <a:schemeClr val="tx1"/>
                </a:solidFill>
              </a:rPr>
              <a:t>Loss functions, gradient descent (SGD), overfitting, early stopping, bias-variance (model size choice)</a:t>
            </a:r>
            <a:endParaRPr lang="en-US" sz="1200" dirty="0"/>
          </a:p>
        </p:txBody>
      </p:sp>
      <p:sp>
        <p:nvSpPr>
          <p:cNvPr id="6" name="Text 4"/>
          <p:cNvSpPr txBox="1"/>
          <p:nvPr/>
        </p:nvSpPr>
        <p:spPr>
          <a:xfrm>
            <a:off x="457200" y="1965960"/>
            <a:ext cx="19202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L3 Computer vision</a:t>
            </a:r>
            <a:endParaRPr lang="en-US" sz="1100" dirty="0"/>
          </a:p>
        </p:txBody>
      </p:sp>
      <p:sp>
        <p:nvSpPr>
          <p:cNvPr id="7" name="Text 5"/>
          <p:cNvSpPr txBox="1"/>
          <p:nvPr/>
        </p:nvSpPr>
        <p:spPr>
          <a:xfrm>
            <a:off x="2560320" y="1874520"/>
            <a:ext cx="6126480" cy="475488"/>
          </a:xfrm>
          <a:prstGeom prst="rect">
            <a:avLst/>
          </a:prstGeom>
          <a:noFill/>
          <a:ln/>
        </p:spPr>
        <p:txBody>
          <a:bodyPr wrap="square" lIns="0" tIns="0" rIns="0" bIns="0" rtlCol="0" anchor="ctr"/>
          <a:lstStyle/>
          <a:p>
            <a:pPr indent="0" marL="0">
              <a:buNone/>
            </a:pPr>
            <a:r>
              <a:rPr lang="en-US" sz="1200" dirty="0">
                <a:solidFill>
                  <a:schemeClr val="tx1"/>
                </a:solidFill>
              </a:rPr>
              <a:t>CNNs: local connectivity, weight sharing, stride, max pooling (SPPF), residual blocks; object detection (YOLO family)</a:t>
            </a:r>
            <a:endParaRPr lang="en-US" sz="1200" dirty="0"/>
          </a:p>
        </p:txBody>
      </p:sp>
      <p:sp>
        <p:nvSpPr>
          <p:cNvPr id="8" name="Text 6"/>
          <p:cNvSpPr txBox="1"/>
          <p:nvPr/>
        </p:nvSpPr>
        <p:spPr>
          <a:xfrm>
            <a:off x="457200" y="2514600"/>
            <a:ext cx="19202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L3 Transfer learning</a:t>
            </a:r>
            <a:endParaRPr lang="en-US" sz="1100" dirty="0"/>
          </a:p>
        </p:txBody>
      </p:sp>
      <p:sp>
        <p:nvSpPr>
          <p:cNvPr id="9" name="Text 7"/>
          <p:cNvSpPr txBox="1"/>
          <p:nvPr/>
        </p:nvSpPr>
        <p:spPr>
          <a:xfrm>
            <a:off x="2560320" y="2423160"/>
            <a:ext cx="6126480" cy="475488"/>
          </a:xfrm>
          <a:prstGeom prst="rect">
            <a:avLst/>
          </a:prstGeom>
          <a:noFill/>
          <a:ln/>
        </p:spPr>
        <p:txBody>
          <a:bodyPr wrap="square" lIns="0" tIns="0" rIns="0" bIns="0" rtlCol="0" anchor="ctr"/>
          <a:lstStyle/>
          <a:p>
            <a:pPr indent="0" marL="0">
              <a:buNone/>
            </a:pPr>
            <a:r>
              <a:rPr lang="en-US" sz="1200" dirty="0">
                <a:solidFill>
                  <a:schemeClr val="tx1"/>
                </a:solidFill>
              </a:rPr>
              <a:t>COCO → v4 → my photos (counter); ImageNet → crops (classifier); less data → freeze more</a:t>
            </a:r>
            <a:endParaRPr lang="en-US" sz="1200" dirty="0"/>
          </a:p>
        </p:txBody>
      </p:sp>
      <p:sp>
        <p:nvSpPr>
          <p:cNvPr id="10" name="Text 8"/>
          <p:cNvSpPr txBox="1"/>
          <p:nvPr/>
        </p:nvSpPr>
        <p:spPr>
          <a:xfrm>
            <a:off x="457200" y="3063240"/>
            <a:ext cx="19202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L3 Data</a:t>
            </a:r>
            <a:endParaRPr lang="en-US" sz="1100" dirty="0"/>
          </a:p>
        </p:txBody>
      </p:sp>
      <p:sp>
        <p:nvSpPr>
          <p:cNvPr id="11" name="Text 9"/>
          <p:cNvSpPr txBox="1"/>
          <p:nvPr/>
        </p:nvSpPr>
        <p:spPr>
          <a:xfrm>
            <a:off x="2560320" y="2971800"/>
            <a:ext cx="6126480" cy="475488"/>
          </a:xfrm>
          <a:prstGeom prst="rect">
            <a:avLst/>
          </a:prstGeom>
          <a:noFill/>
          <a:ln/>
        </p:spPr>
        <p:txBody>
          <a:bodyPr wrap="square" lIns="0" tIns="0" rIns="0" bIns="0" rtlCol="0" anchor="ctr"/>
          <a:lstStyle/>
          <a:p>
            <a:pPr indent="0" marL="0">
              <a:buNone/>
            </a:pPr>
            <a:r>
              <a:rPr lang="en-US" sz="1200" dirty="0">
                <a:solidFill>
                  <a:schemeClr val="tx1"/>
                </a:solidFill>
              </a:rPr>
              <a:t>Augmentation; small data; same-session leakage; the lighting shortcut = distribution shift</a:t>
            </a:r>
            <a:endParaRPr lang="en-US" sz="1200" dirty="0"/>
          </a:p>
        </p:txBody>
      </p:sp>
      <p:sp>
        <p:nvSpPr>
          <p:cNvPr id="12" name="Text 10"/>
          <p:cNvSpPr txBox="1"/>
          <p:nvPr/>
        </p:nvSpPr>
        <p:spPr>
          <a:xfrm>
            <a:off x="457200" y="3611880"/>
            <a:ext cx="19202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L5 Evaluation</a:t>
            </a:r>
            <a:endParaRPr lang="en-US" sz="1100" dirty="0"/>
          </a:p>
        </p:txBody>
      </p:sp>
      <p:sp>
        <p:nvSpPr>
          <p:cNvPr id="13" name="Text 11"/>
          <p:cNvSpPr txBox="1"/>
          <p:nvPr/>
        </p:nvSpPr>
        <p:spPr>
          <a:xfrm>
            <a:off x="2560320" y="3520440"/>
            <a:ext cx="6126480" cy="475488"/>
          </a:xfrm>
          <a:prstGeom prst="rect">
            <a:avLst/>
          </a:prstGeom>
          <a:noFill/>
          <a:ln/>
        </p:spPr>
        <p:txBody>
          <a:bodyPr wrap="square" lIns="0" tIns="0" rIns="0" bIns="0" rtlCol="0" anchor="ctr"/>
          <a:lstStyle/>
          <a:p>
            <a:pPr indent="0" marL="0">
              <a:buNone/>
            </a:pPr>
            <a:r>
              <a:rPr lang="en-US" sz="1200" dirty="0">
                <a:solidFill>
                  <a:schemeClr val="tx1"/>
                </a:solidFill>
              </a:rPr>
              <a:t>Product metric (exact count) + MAE; train/val/test (test runs logged, disclosed); baselines; ablations (planned); session bootstrap CIs</a:t>
            </a:r>
            <a:endParaRPr lang="en-US" sz="1200" dirty="0"/>
          </a:p>
        </p:txBody>
      </p:sp>
      <p:sp>
        <p:nvSpPr>
          <p:cNvPr id="14" name="Text 12"/>
          <p:cNvSpPr txBox="1"/>
          <p:nvPr/>
        </p:nvSpPr>
        <p:spPr>
          <a:xfrm>
            <a:off x="457200" y="4160520"/>
            <a:ext cx="19202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L5 Experiments</a:t>
            </a:r>
            <a:endParaRPr lang="en-US" sz="1100" dirty="0"/>
          </a:p>
        </p:txBody>
      </p:sp>
      <p:sp>
        <p:nvSpPr>
          <p:cNvPr id="15" name="Text 13"/>
          <p:cNvSpPr txBox="1"/>
          <p:nvPr/>
        </p:nvSpPr>
        <p:spPr>
          <a:xfrm>
            <a:off x="2560320" y="4069080"/>
            <a:ext cx="6126480" cy="475488"/>
          </a:xfrm>
          <a:prstGeom prst="rect">
            <a:avLst/>
          </a:prstGeom>
          <a:noFill/>
          <a:ln/>
        </p:spPr>
        <p:txBody>
          <a:bodyPr wrap="square" lIns="0" tIns="0" rIns="0" bIns="0" rtlCol="0" anchor="ctr"/>
          <a:lstStyle/>
          <a:p>
            <a:pPr indent="0" marL="0">
              <a:buNone/>
            </a:pPr>
            <a:r>
              <a:rPr lang="en-US" sz="1200" dirty="0">
                <a:solidFill>
                  <a:schemeClr val="tx1"/>
                </a:solidFill>
              </a:rPr>
              <a:t>A/B pilot design for the next step; runs, thresholds and test runs logged in results/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Appendix: likely questions</a:t>
            </a:r>
            <a:endParaRPr lang="en-US" sz="32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Short answers to have ready</a:t>
            </a:r>
            <a:endParaRPr lang="en-US" sz="1500" dirty="0"/>
          </a:p>
        </p:txBody>
      </p:sp>
      <p:sp>
        <p:nvSpPr>
          <p:cNvPr id="4" name="Shape 2"/>
          <p:cNvSpPr/>
          <p:nvPr/>
        </p:nvSpPr>
        <p:spPr>
          <a:xfrm>
            <a:off x="457200" y="1371600"/>
            <a:ext cx="4023360" cy="960120"/>
          </a:xfrm>
          <a:prstGeom prst="roundRect">
            <a:avLst>
              <a:gd name="adj" fmla="val 11429"/>
            </a:avLst>
          </a:prstGeom>
          <a:solidFill>
            <a:schemeClr val="bg2"/>
          </a:solidFill>
          <a:ln/>
        </p:spPr>
        <p:txBody>
          <a:bodyPr/>
          <a:p/>
        </p:txBody>
      </p:sp>
      <p:sp>
        <p:nvSpPr>
          <p:cNvPr id="5" name="Text 3"/>
          <p:cNvSpPr txBox="1"/>
          <p:nvPr/>
        </p:nvSpPr>
        <p:spPr>
          <a:xfrm>
            <a:off x="594360" y="1463040"/>
            <a:ext cx="3749040" cy="292608"/>
          </a:xfrm>
          <a:prstGeom prst="rect">
            <a:avLst/>
          </a:prstGeom>
          <a:noFill/>
          <a:ln/>
        </p:spPr>
        <p:txBody>
          <a:bodyPr wrap="square" lIns="0" tIns="0" rIns="0" bIns="0" rtlCol="0" anchor="t"/>
          <a:lstStyle/>
          <a:p>
            <a:pPr indent="0" marL="0">
              <a:buNone/>
            </a:pPr>
            <a:r>
              <a:rPr lang="en-US" sz="1300" b="1" dirty="0">
                <a:solidFill>
                  <a:schemeClr val="tx2"/>
                </a:solidFill>
              </a:rPr>
              <a:t>Why YOLO11s, not a bigger model?</a:t>
            </a:r>
            <a:endParaRPr lang="en-US" sz="1300" dirty="0"/>
          </a:p>
        </p:txBody>
      </p:sp>
      <p:sp>
        <p:nvSpPr>
          <p:cNvPr id="6" name="Text 4"/>
          <p:cNvSpPr txBox="1"/>
          <p:nvPr/>
        </p:nvSpPr>
        <p:spPr>
          <a:xfrm>
            <a:off x="594360" y="1783080"/>
            <a:ext cx="3749040" cy="502920"/>
          </a:xfrm>
          <a:prstGeom prst="rect">
            <a:avLst/>
          </a:prstGeom>
          <a:noFill/>
          <a:ln/>
        </p:spPr>
        <p:txBody>
          <a:bodyPr wrap="square" lIns="0" tIns="0" rIns="0" bIns="0" rtlCol="0" anchor="t"/>
          <a:lstStyle/>
          <a:p>
            <a:pPr indent="0" marL="0">
              <a:buNone/>
            </a:pPr>
            <a:r>
              <a:rPr lang="en-US" sz="1200" dirty="0">
                <a:solidFill>
                  <a:schemeClr val="tx1"/>
                </a:solidFill>
              </a:rPr>
              <a:t>The mixed-data s beat every m model on val, the mixed tray and other medicines, at half the time.</a:t>
            </a:r>
            <a:endParaRPr lang="en-US" sz="1200" dirty="0"/>
          </a:p>
        </p:txBody>
      </p:sp>
      <p:sp>
        <p:nvSpPr>
          <p:cNvPr id="7" name="Shape 5"/>
          <p:cNvSpPr/>
          <p:nvPr/>
        </p:nvSpPr>
        <p:spPr>
          <a:xfrm>
            <a:off x="4663440" y="1371600"/>
            <a:ext cx="4023360" cy="960120"/>
          </a:xfrm>
          <a:prstGeom prst="roundRect">
            <a:avLst>
              <a:gd name="adj" fmla="val 11429"/>
            </a:avLst>
          </a:prstGeom>
          <a:solidFill>
            <a:schemeClr val="bg2"/>
          </a:solidFill>
          <a:ln/>
        </p:spPr>
        <p:txBody>
          <a:bodyPr/>
          <a:p/>
        </p:txBody>
      </p:sp>
      <p:sp>
        <p:nvSpPr>
          <p:cNvPr id="8" name="Text 6"/>
          <p:cNvSpPr txBox="1"/>
          <p:nvPr/>
        </p:nvSpPr>
        <p:spPr>
          <a:xfrm>
            <a:off x="4800600" y="1463040"/>
            <a:ext cx="3749040" cy="292608"/>
          </a:xfrm>
          <a:prstGeom prst="rect">
            <a:avLst/>
          </a:prstGeom>
          <a:noFill/>
          <a:ln/>
        </p:spPr>
        <p:txBody>
          <a:bodyPr wrap="square" lIns="0" tIns="0" rIns="0" bIns="0" rtlCol="0" anchor="t"/>
          <a:lstStyle/>
          <a:p>
            <a:pPr indent="0" marL="0">
              <a:buNone/>
            </a:pPr>
            <a:r>
              <a:rPr lang="en-US" sz="1300" b="1" dirty="0">
                <a:solidFill>
                  <a:schemeClr val="tx2"/>
                </a:solidFill>
              </a:rPr>
              <a:t>Why not a density/regression model?</a:t>
            </a:r>
            <a:endParaRPr lang="en-US" sz="1300" dirty="0"/>
          </a:p>
        </p:txBody>
      </p:sp>
      <p:sp>
        <p:nvSpPr>
          <p:cNvPr id="9" name="Text 7"/>
          <p:cNvSpPr txBox="1"/>
          <p:nvPr/>
        </p:nvSpPr>
        <p:spPr>
          <a:xfrm>
            <a:off x="4800600" y="1783080"/>
            <a:ext cx="3749040" cy="502920"/>
          </a:xfrm>
          <a:prstGeom prst="rect">
            <a:avLst/>
          </a:prstGeom>
          <a:noFill/>
          <a:ln/>
        </p:spPr>
        <p:txBody>
          <a:bodyPr wrap="square" lIns="0" tIns="0" rIns="0" bIns="0" rtlCol="0" anchor="t"/>
          <a:lstStyle/>
          <a:p>
            <a:pPr indent="0" marL="0">
              <a:buNone/>
            </a:pPr>
            <a:r>
              <a:rPr lang="en-US" sz="1200" dirty="0">
                <a:solidFill>
                  <a:schemeClr val="tx1"/>
                </a:solidFill>
              </a:rPr>
              <a:t>Boxes are verifiable by the pharmacist; a number alone is not.</a:t>
            </a:r>
            <a:endParaRPr lang="en-US" sz="1200" dirty="0"/>
          </a:p>
        </p:txBody>
      </p:sp>
      <p:sp>
        <p:nvSpPr>
          <p:cNvPr id="10" name="Shape 8"/>
          <p:cNvSpPr/>
          <p:nvPr/>
        </p:nvSpPr>
        <p:spPr>
          <a:xfrm>
            <a:off x="457200" y="2450592"/>
            <a:ext cx="4023360" cy="960120"/>
          </a:xfrm>
          <a:prstGeom prst="roundRect">
            <a:avLst>
              <a:gd name="adj" fmla="val 11429"/>
            </a:avLst>
          </a:prstGeom>
          <a:solidFill>
            <a:schemeClr val="bg2"/>
          </a:solidFill>
          <a:ln/>
        </p:spPr>
        <p:txBody>
          <a:bodyPr/>
          <a:p/>
        </p:txBody>
      </p:sp>
      <p:sp>
        <p:nvSpPr>
          <p:cNvPr id="11" name="Text 9"/>
          <p:cNvSpPr txBox="1"/>
          <p:nvPr/>
        </p:nvSpPr>
        <p:spPr>
          <a:xfrm>
            <a:off x="594360" y="2542032"/>
            <a:ext cx="3749040" cy="292608"/>
          </a:xfrm>
          <a:prstGeom prst="rect">
            <a:avLst/>
          </a:prstGeom>
          <a:noFill/>
          <a:ln/>
        </p:spPr>
        <p:txBody>
          <a:bodyPr wrap="square" lIns="0" tIns="0" rIns="0" bIns="0" rtlCol="0" anchor="t"/>
          <a:lstStyle/>
          <a:p>
            <a:pPr indent="0" marL="0">
              <a:buNone/>
            </a:pPr>
            <a:r>
              <a:rPr lang="en-US" sz="1300" b="1" dirty="0">
                <a:solidFill>
                  <a:schemeClr val="tx2"/>
                </a:solidFill>
              </a:rPr>
              <a:t>How did you avoid leakage?</a:t>
            </a:r>
            <a:endParaRPr lang="en-US" sz="1300" dirty="0"/>
          </a:p>
        </p:txBody>
      </p:sp>
      <p:sp>
        <p:nvSpPr>
          <p:cNvPr id="12" name="Text 10"/>
          <p:cNvSpPr txBox="1"/>
          <p:nvPr/>
        </p:nvSpPr>
        <p:spPr>
          <a:xfrm>
            <a:off x="594360" y="2862072"/>
            <a:ext cx="3749040" cy="502920"/>
          </a:xfrm>
          <a:prstGeom prst="rect">
            <a:avLst/>
          </a:prstGeom>
          <a:noFill/>
          <a:ln/>
        </p:spPr>
        <p:txBody>
          <a:bodyPr wrap="square" lIns="0" tIns="0" rIns="0" bIns="0" rtlCol="0" anchor="t"/>
          <a:lstStyle/>
          <a:p>
            <a:pPr indent="0" marL="0">
              <a:buNone/>
            </a:pPr>
            <a:r>
              <a:rPr lang="en-US" sz="1200" dirty="0">
                <a:solidFill>
                  <a:schemeClr val="tx1"/>
                </a:solidFill>
              </a:rPr>
              <a:t>Split by session; thresholds tuned on val only; test runs logged and both reported.</a:t>
            </a:r>
            <a:endParaRPr lang="en-US" sz="1200" dirty="0"/>
          </a:p>
        </p:txBody>
      </p:sp>
      <p:sp>
        <p:nvSpPr>
          <p:cNvPr id="13" name="Shape 11"/>
          <p:cNvSpPr/>
          <p:nvPr/>
        </p:nvSpPr>
        <p:spPr>
          <a:xfrm>
            <a:off x="4663440" y="2450592"/>
            <a:ext cx="4023360" cy="960120"/>
          </a:xfrm>
          <a:prstGeom prst="roundRect">
            <a:avLst>
              <a:gd name="adj" fmla="val 11429"/>
            </a:avLst>
          </a:prstGeom>
          <a:solidFill>
            <a:schemeClr val="bg2"/>
          </a:solidFill>
          <a:ln/>
        </p:spPr>
        <p:txBody>
          <a:bodyPr/>
          <a:p/>
        </p:txBody>
      </p:sp>
      <p:sp>
        <p:nvSpPr>
          <p:cNvPr id="14" name="Text 12"/>
          <p:cNvSpPr txBox="1"/>
          <p:nvPr/>
        </p:nvSpPr>
        <p:spPr>
          <a:xfrm>
            <a:off x="4800600" y="2542032"/>
            <a:ext cx="3749040" cy="292608"/>
          </a:xfrm>
          <a:prstGeom prst="rect">
            <a:avLst/>
          </a:prstGeom>
          <a:noFill/>
          <a:ln/>
        </p:spPr>
        <p:txBody>
          <a:bodyPr wrap="square" lIns="0" tIns="0" rIns="0" bIns="0" rtlCol="0" anchor="t"/>
          <a:lstStyle/>
          <a:p>
            <a:pPr indent="0" marL="0">
              <a:buNone/>
            </a:pPr>
            <a:r>
              <a:rPr lang="en-US" sz="1300" b="1" dirty="0">
                <a:solidFill>
                  <a:schemeClr val="tx2"/>
                </a:solidFill>
              </a:rPr>
              <a:t>Can a 100% score be trusted?</a:t>
            </a:r>
            <a:endParaRPr lang="en-US" sz="1300" dirty="0"/>
          </a:p>
        </p:txBody>
      </p:sp>
      <p:sp>
        <p:nvSpPr>
          <p:cNvPr id="15" name="Text 13"/>
          <p:cNvSpPr txBox="1"/>
          <p:nvPr/>
        </p:nvSpPr>
        <p:spPr>
          <a:xfrm>
            <a:off x="4800600" y="2862072"/>
            <a:ext cx="3749040" cy="502920"/>
          </a:xfrm>
          <a:prstGeom prst="rect">
            <a:avLst/>
          </a:prstGeom>
          <a:noFill/>
          <a:ln/>
        </p:spPr>
        <p:txBody>
          <a:bodyPr wrap="square" lIns="0" tIns="0" rIns="0" bIns="0" rtlCol="0" anchor="t"/>
          <a:lstStyle/>
          <a:p>
            <a:pPr indent="0" marL="0">
              <a:buNone/>
            </a:pPr>
            <a:r>
              <a:rPr lang="en-US" sz="1200" dirty="0">
                <a:solidFill>
                  <a:schemeClr val="tx1"/>
                </a:solidFill>
              </a:rPr>
              <a:t>Three times it hid a shortcut (background, light, box size); real mixed trays caught them.</a:t>
            </a:r>
            <a:endParaRPr lang="en-US" sz="1200" dirty="0"/>
          </a:p>
        </p:txBody>
      </p:sp>
      <p:sp>
        <p:nvSpPr>
          <p:cNvPr id="16" name="Shape 14"/>
          <p:cNvSpPr/>
          <p:nvPr/>
        </p:nvSpPr>
        <p:spPr>
          <a:xfrm>
            <a:off x="457200" y="3529584"/>
            <a:ext cx="4023360" cy="960120"/>
          </a:xfrm>
          <a:prstGeom prst="roundRect">
            <a:avLst>
              <a:gd name="adj" fmla="val 11429"/>
            </a:avLst>
          </a:prstGeom>
          <a:solidFill>
            <a:schemeClr val="bg2"/>
          </a:solidFill>
          <a:ln/>
        </p:spPr>
        <p:txBody>
          <a:bodyPr/>
          <a:p/>
        </p:txBody>
      </p:sp>
      <p:sp>
        <p:nvSpPr>
          <p:cNvPr id="17" name="Text 15"/>
          <p:cNvSpPr txBox="1"/>
          <p:nvPr/>
        </p:nvSpPr>
        <p:spPr>
          <a:xfrm>
            <a:off x="594360" y="3621024"/>
            <a:ext cx="3749040" cy="292608"/>
          </a:xfrm>
          <a:prstGeom prst="rect">
            <a:avLst/>
          </a:prstGeom>
          <a:noFill/>
          <a:ln/>
        </p:spPr>
        <p:txBody>
          <a:bodyPr wrap="square" lIns="0" tIns="0" rIns="0" bIns="0" rtlCol="0" anchor="t"/>
          <a:lstStyle/>
          <a:p>
            <a:pPr indent="0" marL="0">
              <a:buNone/>
            </a:pPr>
            <a:r>
              <a:rPr lang="en-US" sz="1300" b="1" dirty="0">
                <a:solidFill>
                  <a:schemeClr val="tx2"/>
                </a:solidFill>
              </a:rPr>
              <a:t>Why two models, not one?</a:t>
            </a:r>
            <a:endParaRPr lang="en-US" sz="1300" dirty="0"/>
          </a:p>
        </p:txBody>
      </p:sp>
      <p:sp>
        <p:nvSpPr>
          <p:cNvPr id="18" name="Text 16"/>
          <p:cNvSpPr txBox="1"/>
          <p:nvPr/>
        </p:nvSpPr>
        <p:spPr>
          <a:xfrm>
            <a:off x="594360" y="3941064"/>
            <a:ext cx="3749040" cy="502920"/>
          </a:xfrm>
          <a:prstGeom prst="rect">
            <a:avLst/>
          </a:prstGeom>
          <a:noFill/>
          <a:ln/>
        </p:spPr>
        <p:txBody>
          <a:bodyPr wrap="square" lIns="0" tIns="0" rIns="0" bIns="0" rtlCol="0" anchor="t"/>
          <a:lstStyle/>
          <a:p>
            <a:pPr indent="0" marL="0">
              <a:buNone/>
            </a:pPr>
            <a:r>
              <a:rPr lang="en-US" sz="1200" dirty="0">
                <a:solidFill>
                  <a:schemeClr val="tx1"/>
                </a:solidFill>
              </a:rPr>
              <a:t>Counting learns from every pill; forms get full-resolution crops; a new form only retrains the classifier.</a:t>
            </a:r>
            <a:endParaRPr lang="en-US" sz="1200" dirty="0"/>
          </a:p>
        </p:txBody>
      </p:sp>
      <p:sp>
        <p:nvSpPr>
          <p:cNvPr id="19" name="Shape 17"/>
          <p:cNvSpPr/>
          <p:nvPr/>
        </p:nvSpPr>
        <p:spPr>
          <a:xfrm>
            <a:off x="4663440" y="3529584"/>
            <a:ext cx="4023360" cy="960120"/>
          </a:xfrm>
          <a:prstGeom prst="roundRect">
            <a:avLst>
              <a:gd name="adj" fmla="val 11429"/>
            </a:avLst>
          </a:prstGeom>
          <a:solidFill>
            <a:schemeClr val="bg2"/>
          </a:solidFill>
          <a:ln/>
        </p:spPr>
        <p:txBody>
          <a:bodyPr/>
          <a:p/>
        </p:txBody>
      </p:sp>
      <p:sp>
        <p:nvSpPr>
          <p:cNvPr id="20" name="Text 18"/>
          <p:cNvSpPr txBox="1"/>
          <p:nvPr/>
        </p:nvSpPr>
        <p:spPr>
          <a:xfrm>
            <a:off x="4800600" y="3621024"/>
            <a:ext cx="3749040" cy="292608"/>
          </a:xfrm>
          <a:prstGeom prst="rect">
            <a:avLst/>
          </a:prstGeom>
          <a:noFill/>
          <a:ln/>
        </p:spPr>
        <p:txBody>
          <a:bodyPr wrap="square" lIns="0" tIns="0" rIns="0" bIns="0" rtlCol="0" anchor="t"/>
          <a:lstStyle/>
          <a:p>
            <a:pPr indent="0" marL="0">
              <a:buNone/>
            </a:pPr>
            <a:r>
              <a:rPr lang="en-US" sz="1300" b="1" dirty="0">
                <a:solidFill>
                  <a:schemeClr val="tx2"/>
                </a:solidFill>
              </a:rPr>
              <a:t>How would it scale?</a:t>
            </a:r>
            <a:endParaRPr lang="en-US" sz="1300" dirty="0"/>
          </a:p>
        </p:txBody>
      </p:sp>
      <p:sp>
        <p:nvSpPr>
          <p:cNvPr id="21" name="Text 19"/>
          <p:cNvSpPr txBox="1"/>
          <p:nvPr/>
        </p:nvSpPr>
        <p:spPr>
          <a:xfrm>
            <a:off x="4800600" y="3941064"/>
            <a:ext cx="3749040" cy="502920"/>
          </a:xfrm>
          <a:prstGeom prst="rect">
            <a:avLst/>
          </a:prstGeom>
          <a:noFill/>
          <a:ln/>
        </p:spPr>
        <p:txBody>
          <a:bodyPr wrap="square" lIns="0" tIns="0" rIns="0" bIns="0" rtlCol="0" anchor="t"/>
          <a:lstStyle/>
          <a:p>
            <a:pPr indent="0" marL="0">
              <a:buNone/>
            </a:pPr>
            <a:r>
              <a:rPr lang="en-US" sz="1200" dirty="0">
                <a:solidFill>
                  <a:schemeClr val="tx1"/>
                </a:solidFill>
              </a:rPr>
              <a:t>Model server on a GPU/cloud; or export to ONNX to run on the phone.</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3200" b="1" dirty="0">
                <a:solidFill>
                  <a:schemeClr val="tx2"/>
                </a:solidFill>
              </a:rPr>
              <a:t>Other medicines: 23% → 58% exact</a:t>
            </a:r>
            <a:endParaRPr lang="en-US" sz="3200" dirty="0"/>
          </a:p>
        </p:txBody>
      </p:sp>
      <p:sp>
        <p:nvSpPr>
          <p:cNvPr id="4"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accent6"/>
                </a:solidFill>
              </a:rPr>
              <a:t>187 held-out photos of drugs I never photographed, counted with each model's app settings</a:t>
            </a:r>
            <a:endParaRPr lang="en-US" sz="1500" dirty="0"/>
          </a:p>
        </p:txBody>
      </p:sp>
      <p:sp>
        <p:nvSpPr>
          <p:cNvPr id="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graphicFrame>
        <p:nvGraphicFramePr>
          <p:cNvPr id="6" name="Chart 25"/>
          <p:cNvGraphicFramePr>
            <a:graphicFrameLocks noGrp="1"/>
          </p:cNvGraphicFramePr>
          <p:nvPr/>
        </p:nvGraphicFramePr>
        <p:xfrm>
          <a:off x="457200" y="1325880"/>
          <a:ext cx="5486400" cy="3017520"/>
        </p:xfrm>
        <a:graphic>
          <a:graphicData uri="http://schemas.openxmlformats.org/drawingml/2006/chart">
            <c:chart xmlns:c="http://schemas.openxmlformats.org/drawingml/2006/chart" r:id="rId2"/>
          </a:graphicData>
        </a:graphic>
      </p:graphicFrame>
      <p:sp>
        <p:nvSpPr>
          <p:cNvPr id="7" name="Text 7"/>
          <p:cNvSpPr txBox="1"/>
          <p:nvPr/>
        </p:nvSpPr>
        <p:spPr>
          <a:xfrm>
            <a:off x="457200" y="4407408"/>
            <a:ext cx="5486400" cy="274320"/>
          </a:xfrm>
          <a:prstGeom prst="rect">
            <a:avLst/>
          </a:prstGeom>
          <a:noFill/>
          <a:ln/>
        </p:spPr>
        <p:txBody>
          <a:bodyPr wrap="square" lIns="0" tIns="0" rIns="0" bIns="0" rtlCol="0" anchor="t"/>
          <a:lstStyle/>
          <a:p>
            <a:pPr indent="0" marL="0">
              <a:buNone/>
            </a:pPr>
            <a:r>
              <a:rPr lang="en-US" sz="1000" dirty="0">
                <a:solidFill>
                  <a:schemeClr val="tx1"/>
                </a:solidFill>
              </a:rPr>
              <a:t>Unseen photos, but from the same public source as part of the app counter's training data.</a:t>
            </a:r>
            <a:endParaRPr lang="en-US" sz="1100" dirty="0"/>
          </a:p>
        </p:txBody>
      </p:sp>
      <p:sp>
        <p:nvSpPr>
          <p:cNvPr id="8" name="Shape 2"/>
          <p:cNvSpPr/>
          <p:nvPr/>
        </p:nvSpPr>
        <p:spPr>
          <a:xfrm>
            <a:off x="6217920" y="1371600"/>
            <a:ext cx="2468880" cy="914400"/>
          </a:xfrm>
          <a:prstGeom prst="roundRect">
            <a:avLst>
              <a:gd name="adj" fmla="val 12000"/>
            </a:avLst>
          </a:prstGeom>
          <a:solidFill>
            <a:schemeClr val="accent1"/>
          </a:solidFill>
          <a:ln/>
        </p:spPr>
        <p:txBody>
          <a:bodyPr/>
          <a:p/>
        </p:txBody>
      </p:sp>
      <p:sp>
        <p:nvSpPr>
          <p:cNvPr id="9" name="Text 3"/>
          <p:cNvSpPr txBox="1"/>
          <p:nvPr/>
        </p:nvSpPr>
        <p:spPr>
          <a:xfrm>
            <a:off x="6355080" y="1444752"/>
            <a:ext cx="2194560" cy="411480"/>
          </a:xfrm>
          <a:prstGeom prst="rect">
            <a:avLst/>
          </a:prstGeom>
          <a:noFill/>
          <a:ln/>
        </p:spPr>
        <p:txBody>
          <a:bodyPr wrap="square" lIns="0" tIns="0" rIns="0" bIns="0" rtlCol="0" anchor="t"/>
          <a:lstStyle/>
          <a:p>
            <a:pPr indent="0" marL="0">
              <a:buNone/>
            </a:pPr>
            <a:r>
              <a:rPr lang="en-US" sz="2000" b="1" dirty="0">
                <a:solidFill>
                  <a:schemeClr val="bg1"/>
                </a:solidFill>
              </a:rPr>
              <a:t>0.7 vs 1.9</a:t>
            </a:r>
            <a:endParaRPr lang="en-US" sz="2000" dirty="0"/>
          </a:p>
        </p:txBody>
      </p:sp>
      <p:sp>
        <p:nvSpPr>
          <p:cNvPr id="10" name="Text 4"/>
          <p:cNvSpPr txBox="1"/>
          <p:nvPr/>
        </p:nvSpPr>
        <p:spPr>
          <a:xfrm>
            <a:off x="6355080" y="1847088"/>
            <a:ext cx="2194560" cy="384048"/>
          </a:xfrm>
          <a:prstGeom prst="rect">
            <a:avLst/>
          </a:prstGeom>
          <a:noFill/>
          <a:ln/>
        </p:spPr>
        <p:txBody>
          <a:bodyPr wrap="square" lIns="0" tIns="0" rIns="0" bIns="0" rtlCol="0" anchor="t"/>
          <a:lstStyle/>
          <a:p>
            <a:pPr indent="0" marL="0">
              <a:buNone/>
            </a:pPr>
            <a:r>
              <a:rPr lang="en-US" sz="1100" dirty="0">
                <a:solidFill>
                  <a:schemeClr val="bg1"/>
                </a:solidFill>
              </a:rPr>
              <a:t>average miss: app counter vs thai_v2</a:t>
            </a:r>
            <a:endParaRPr lang="en-US" sz="1100" dirty="0"/>
          </a:p>
        </p:txBody>
      </p:sp>
      <p:sp>
        <p:nvSpPr>
          <p:cNvPr id="11" name="Shape 5"/>
          <p:cNvSpPr/>
          <p:nvPr/>
        </p:nvSpPr>
        <p:spPr>
          <a:xfrm>
            <a:off x="6217920" y="2450591"/>
            <a:ext cx="2468880" cy="914400"/>
          </a:xfrm>
          <a:prstGeom prst="roundRect">
            <a:avLst>
              <a:gd name="adj" fmla="val 12000"/>
            </a:avLst>
          </a:prstGeom>
          <a:solidFill>
            <a:schemeClr val="bg2"/>
          </a:solidFill>
          <a:ln/>
        </p:spPr>
        <p:txBody>
          <a:bodyPr/>
          <a:p/>
        </p:txBody>
      </p:sp>
      <p:sp>
        <p:nvSpPr>
          <p:cNvPr id="12" name="Text 6"/>
          <p:cNvSpPr txBox="1"/>
          <p:nvPr/>
        </p:nvSpPr>
        <p:spPr>
          <a:xfrm>
            <a:off x="6355080" y="2523744"/>
            <a:ext cx="2194560" cy="411480"/>
          </a:xfrm>
          <a:prstGeom prst="rect">
            <a:avLst/>
          </a:prstGeom>
          <a:noFill/>
          <a:ln/>
        </p:spPr>
        <p:txBody>
          <a:bodyPr wrap="square" lIns="0" tIns="0" rIns="0" bIns="0" rtlCol="0" anchor="t"/>
          <a:lstStyle/>
          <a:p>
            <a:pPr indent="0" marL="0">
              <a:buNone/>
            </a:pPr>
            <a:r>
              <a:rPr lang="en-US" sz="2000" b="1" dirty="0">
                <a:solidFill>
                  <a:schemeClr val="tx2"/>
                </a:solidFill>
              </a:rPr>
              <a:t>IoU 0.4 → 0.6</a:t>
            </a:r>
            <a:endParaRPr lang="en-US" sz="2000" dirty="0"/>
          </a:p>
        </p:txBody>
      </p:sp>
      <p:sp>
        <p:nvSpPr>
          <p:cNvPr id="13" name="Text 7"/>
          <p:cNvSpPr txBox="1"/>
          <p:nvPr/>
        </p:nvSpPr>
        <p:spPr>
          <a:xfrm>
            <a:off x="6355080" y="2926079"/>
            <a:ext cx="2194560" cy="384048"/>
          </a:xfrm>
          <a:prstGeom prst="rect">
            <a:avLst/>
          </a:prstGeom>
          <a:noFill/>
          <a:ln/>
        </p:spPr>
        <p:txBody>
          <a:bodyPr wrap="square" lIns="0" tIns="0" rIns="0" bIns="0" rtlCol="0" anchor="t"/>
          <a:lstStyle/>
          <a:p>
            <a:pPr indent="0" marL="0">
              <a:buNone/>
            </a:pPr>
            <a:r>
              <a:rPr lang="en-US" sz="1100" dirty="0">
                <a:solidFill>
                  <a:schemeClr val="tx1"/>
                </a:solidFill>
              </a:rPr>
              <a:t>scoring photos like the app fixed heaped caplets</a:t>
            </a:r>
            <a:endParaRPr lang="en-US" sz="1100" dirty="0"/>
          </a:p>
        </p:txBody>
      </p:sp>
      <p:sp>
        <p:nvSpPr>
          <p:cNvPr id="14" name="Shape 5"/>
          <p:cNvSpPr/>
          <p:nvPr/>
        </p:nvSpPr>
        <p:spPr>
          <a:xfrm>
            <a:off x="6217920" y="3529584"/>
            <a:ext cx="2468880" cy="914400"/>
          </a:xfrm>
          <a:prstGeom prst="roundRect">
            <a:avLst>
              <a:gd name="adj" fmla="val 12000"/>
            </a:avLst>
          </a:prstGeom>
          <a:solidFill>
            <a:schemeClr val="bg2"/>
          </a:solidFill>
          <a:ln/>
        </p:spPr>
        <p:txBody>
          <a:bodyPr/>
          <a:p/>
        </p:txBody>
      </p:sp>
      <p:sp>
        <p:nvSpPr>
          <p:cNvPr id="15" name="Text 6"/>
          <p:cNvSpPr txBox="1"/>
          <p:nvPr/>
        </p:nvSpPr>
        <p:spPr>
          <a:xfrm>
            <a:off x="6355080" y="3602736"/>
            <a:ext cx="2194560" cy="411480"/>
          </a:xfrm>
          <a:prstGeom prst="rect">
            <a:avLst/>
          </a:prstGeom>
          <a:noFill/>
          <a:ln/>
        </p:spPr>
        <p:txBody>
          <a:bodyPr wrap="square" lIns="0" tIns="0" rIns="0" bIns="0" rtlCol="0" anchor="t"/>
          <a:lstStyle/>
          <a:p>
            <a:pPr indent="0" marL="0">
              <a:buNone/>
            </a:pPr>
            <a:r>
              <a:rPr lang="en-US" sz="2000" b="1" dirty="0">
                <a:solidFill>
                  <a:schemeClr val="tx2"/>
                </a:solidFill>
              </a:rPr>
              <a:t>Lesson</a:t>
            </a:r>
            <a:endParaRPr lang="en-US" sz="2000" dirty="0"/>
          </a:p>
        </p:txBody>
      </p:sp>
      <p:sp>
        <p:nvSpPr>
          <p:cNvPr id="16" name="Text 7"/>
          <p:cNvSpPr txBox="1"/>
          <p:nvPr/>
        </p:nvSpPr>
        <p:spPr>
          <a:xfrm>
            <a:off x="6355080" y="4005072"/>
            <a:ext cx="2194560" cy="384048"/>
          </a:xfrm>
          <a:prstGeom prst="rect">
            <a:avLst/>
          </a:prstGeom>
          <a:noFill/>
          <a:ln/>
        </p:spPr>
        <p:txBody>
          <a:bodyPr wrap="square" lIns="0" tIns="0" rIns="0" bIns="0" rtlCol="0" anchor="t"/>
          <a:lstStyle/>
          <a:p>
            <a:pPr indent="0" marL="0">
              <a:buNone/>
            </a:pPr>
            <a:r>
              <a:rPr lang="en-US" sz="1100" dirty="0">
                <a:solidFill>
                  <a:schemeClr val="tx1"/>
                </a:solidFill>
              </a:rPr>
              <a:t>evaluate the way you deploy</a:t>
            </a:r>
            <a:endParaRPr lang="en-US" sz="1100" dirty="0"/>
          </a:p>
        </p:txBody>
      </p:sp>
    </p:spTree>
  </p:cSld>
  <p:clrMapOvr>
    <a:masterClrMapping/>
  </p:clrMapOvr>
</p:sld>
</file>

<file path=ppt/theme/theme1.xml><?xml version="1.0" encoding="utf-8"?>
<a:theme xmlns:a="http://schemas.openxmlformats.org/drawingml/2006/main" name="PillTally">
  <a:themeElements>
    <a:clrScheme name="PillTally">
      <a:dk1>
        <a:srgbClr val="1B2A33"/>
      </a:dk1>
      <a:lt1>
        <a:srgbClr val="FFFFFF"/>
      </a:lt1>
      <a:dk2>
        <a:srgbClr val="0E3B43"/>
      </a:dk2>
      <a:lt2>
        <a:srgbClr val="EEF4F3"/>
      </a:lt2>
      <a:accent1>
        <a:srgbClr val="138A7E"/>
      </a:accent1>
      <a:accent2>
        <a:srgbClr val="E8890C"/>
      </a:accent2>
      <a:accent3>
        <a:srgbClr val="B82FD6"/>
      </a:accent3>
      <a:accent4>
        <a:srgbClr val="2E9E5B"/>
      </a:accent4>
      <a:accent5>
        <a:srgbClr val="C8412B"/>
      </a:accent5>
      <a:accent6>
        <a:srgbClr val="5E6F78"/>
      </a:accent6>
      <a:hlink>
        <a:srgbClr val="138A7E"/>
      </a:hlink>
      <a:folHlink>
        <a:srgbClr val="5E6F78"/>
      </a:folHlink>
    </a:clrScheme>
    <a:fontScheme name="PillTall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PillTally: counting pills from a phone photo</dc:title>
  <dc:subject>PptxGenJS Presentation</dc:subject>
  <dc:creator>Peeranat Patarakittisopol</dc:creator>
  <cp:lastModifiedBy>Peeranat Patarakittisopol</cp:lastModifiedBy>
  <cp:revision>1</cp:revision>
  <dcterms:created xsi:type="dcterms:W3CDTF">2026-10-09T19:25:16Z</dcterms:created>
  <dcterms:modified xsi:type="dcterms:W3CDTF">2026-10-09T19:25:16Z</dcterms:modified>
</cp:coreProperties>
</file>